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BASED ON ANTHROPIC'S ENGINEERING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Building Effective
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What agents are, when to use them, and the patterns that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Source: anthropic.com/engineering/building-effective-agents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62456"/>
            <a:ext cx="11247120" cy="58521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56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43560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Agents vs Workflows — the core 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7568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When to use each — and when to use neither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42616"/>
            <a:ext cx="11247120" cy="58521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1576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157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Five workflow patterns Anthropic recommends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5584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3558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How agents actually work — the autonomous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22776"/>
            <a:ext cx="11247120" cy="58521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9592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99592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Core principles for building reliable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3600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63600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Common pitfalls and what to do instead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Before You Build an Agent —
Ask if You Actually Need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0058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Anthropic's first guidance: start simple.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Optimize a single LLM call with retrieval and in-context examples first.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Add complexity only when simpler solutions fall short.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Agents trade latency and cost for flexibility — make sure that trade is worth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7A21"/>
                </a:solidFill>
              </a:rPr>
              <a:t>"For many applications, a single optimized LLM call is enough."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Agents vs Workflows — Anthropic's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57784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Predefined code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LLMs and tools are orchestrated through code you write. You decide the steps. The model fills in the blanks.
Best for: well-defined tasks where predictability and consistency matter more than flexibility.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57784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Model-directed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The LLM dynamically directs its own steps and tool use. It maintains control over how to accomplish the task.
Best for: open-ended problems where you can't predict the number of steps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Choose the Pattern That Fits the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Use a Single LLM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Task is well-scoped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One round of reasoning is enough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Latency and cost matter most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You can hand-craft the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9664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Use a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Steps are knowable in advance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You need consistency across runs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Quality gates between steps help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Predictability beats flexibility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Use an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Open-ended, exploratory task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Step count can't be predicted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Model needs to react to tool output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CCCCCC"/>
                </a:solidFill>
              </a:rPr>
              <a:t>  Flexibility justifies the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Five Workflow Patterns Anthropic Recommends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Prompt Chaining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105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Decompose a task into sequential steps with quality gates between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97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249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Classify inputs and direct each one to a specialized downstream handler.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11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Parallelization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393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Run multiple LLM calls simultaneously via sectioning or voting.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11064240" cy="77724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1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26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Orchestrator-Workers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537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A central LLM breaks tasks down and delegates to worker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1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Evaluator-Optimizer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4681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One LLM generates output; another evaluates and gives iterative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Pattern 1 — Prompt Chaining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Break the task into a sequence of LLM calls.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Each step's output becomes the next step's input.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Add programmatic checks (gates) between steps to catch errors early.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Trades a little latency for much higher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Outline →
   Gate: outline valid?
Draft →
   Gate: covers all sections?
Polish →
   Final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Good for: writing, translation, multi-step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Pattern 2 —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A classifier LLM reads the input and decides where to send it.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Each downstream handler is specialized for one input type.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Lets you use the right model and prompt for each case.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Separates concerns — easier to optimize each branch independently.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Customer query →
   Classify intent
  • Refund → refund agent
  • Bug    → support agent
  • Sales  → sales agent
Right handler, every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Good for: support triage, query classification, mixed-intent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Pattern 3 — Parallelization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Run multiple LLM calls at the same time, then combine results.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Two flavors: sectioning (split work) and voting (consensus).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Sectioning cuts latency on independent subtasks.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Voting improves reliability by aggregating multiple attempts.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TWO FLAVORS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Sectioning
Split a doc into chunks,
summarize each in parallel.
Voting
Generate 5 answers,
pick the most common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Good for: speed-up on independent work, higher-confidence answers.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Pattern 4 — Orchestrator-Workers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A central LLM (the orchestrator) plans and delegates work.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Worker LLMs do focused sub-tasks and report back.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The orchestrator decides what to do next based on results.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More flexible than parallelization — the plan adapts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Orchestrator: 'Refactor
this codebase.'
  → Worker 1: rename vars
  → Worker 2: extract funcs
  → Worker 3: update tests
Orchestrator plans next 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Good for: coding tasks, research, anything where the plan emerges.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Pattern 5 — Evaluator-Optimizer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One LLM generates a response. Another evaluates and gives feedback.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The generator revises. The loop continues until the evaluator is satisfied.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Mimics how humans iterate on drafts.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Best when you can articulate clear evaluation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91640"/>
            <a:ext cx="3931920" cy="40233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37744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Generator: write a story.
Evaluator: 'Tone is off.
Make it darker.'
Generator: revise.
Evaluator: 'Approved.'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Good for: writing, code review, translation, anything with clear quality criteria.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an Agent Actually Works —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830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196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Receive the task and any starting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5603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968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Plan the next step based on the 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741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Call a tool — run code, search, read a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41148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5137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Observe the result and update its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8920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286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Repeat until the task is done or a stop condition is hit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The model owns the loop. You own the tools and the stop condition.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Three Principles for Reliable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SIMPLICITY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Maintain Simple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Add complexity only when measurable accuracy demands it. Most production systems don't need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9664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2544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Show the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Surface the agent's reasoning and intermediate steps. You can't debug what you can't see.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783080"/>
            <a:ext cx="365760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377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Engineer the ACI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291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Agent-Computer Interface matters as much as UX. Tool docs, error messages, schemas — all part of the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Common Agent Pitfalls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</a:rPr>
              <a:t>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760720" cy="77724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X  Reach for an agent on day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5303520" cy="77724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591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&gt;  Try a single LLM call, then a workflow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5760720" cy="77724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1927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X  Hide the agent's reasoning from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54680"/>
            <a:ext cx="5303520" cy="77724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3192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&gt;  Stream and log every step the agent takes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760720" cy="77724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X  Hand the agent vague tool descriptions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5303520" cy="77724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79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&gt;  Treat tool docs like API docs — be precise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5760720" cy="77724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395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X  Skip the stop condition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074920"/>
            <a:ext cx="5303520" cy="77724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2395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&gt;  Cap iterations, time, or budget explicitly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Agents Are a Tool.
Use Them When the Task Demands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Start with the simplest thing that could work.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Workflows for predictable tasks. Agents for open-ended ones.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Pick a known pattern before inventing a new architecture.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Make the agent's steps visible. Cap the loop. Invest in tool docs.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CCCCCC"/>
                </a:solidFill>
              </a:rPr>
              <a:t>  Source: anthropic.com/engineering/building-effective-agents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