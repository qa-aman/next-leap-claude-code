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Welcome to Session 2. Session 1 gave you the brain (CLAUDE.md). Today is about skills, the habit layer. A skill is a reusable workflow you write once and use forever. No coding required to use one.</a:t>
            </a:r>
          </a:p>
          <a:p>
            <a:r>
              <a:t>WATCH FOR: 'What is the difference between a skill and CLAUDE.md?'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Eight parts, about 90 minutes total. Heavier on concept in the first half, then three concrete examples back to back. End with what not to build.</a:t>
            </a:r>
          </a:p>
          <a:p>
            <a:r>
              <a:t>WATCH FOR: 'How long does it take to write a skill?'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A skill is just a text file with a specific structure. Think of it as an SOP for Claude. Anthropic's own docs say: 'Create a skill when you keep pasting the same instructions, checklist, or multi-step procedure into chat.' That is the signal.</a:t>
            </a:r>
          </a:p>
          <a:p>
            <a:r>
              <a:t>The key difference from CLAUDE.md: CLAUDE.md is always in context. Skills load on demand.</a:t>
            </a:r>
          </a:p>
          <a:p>
            <a:r>
              <a:t>SOURCE: code.claude.com/docs/en/skills, fetched 17-03-2026</a:t>
            </a:r>
          </a:p>
          <a:p>
            <a:r>
              <a:t>WATCH FOR: 'Can I have too many skills?'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Four tools, four different jobs. Skills are your bread and butter. Subagents keep exploratory work out of your main thread. MCP connects to live systems. Slash commands still work but are now just simplified skills - same file format, fewer features.</a:t>
            </a:r>
          </a:p>
          <a:p>
            <a:r>
              <a:t>SOURCE: code.claude.com/docs/en/skills + code.claude.com/docs/en/sub-agents + code.claude.com/docs/en/mcp</a:t>
            </a:r>
          </a:p>
          <a:p>
            <a:r>
              <a:t>WATCH FOR: 'When does a skill become a subagent?'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The file has two zones. Everything between the triple-dashes at the top is YAML frontmatter - that is the metadata zone. Everything below is plain markdown. YAML stands for 'YAML Ain't Markup Language' - it is just indented key-value pairs. You have already seen it in pull request templates, GitHub Actions. Same format.</a:t>
            </a:r>
          </a:p>
          <a:p>
            <a:r>
              <a:t>SOURCE: code.claude.com/docs/en/skills, fetched 17-03-2026</a:t>
            </a:r>
          </a:p>
          <a:p>
            <a:r>
              <a:t>WATCH FOR: 'What happens if I skip the frontmatter entirely?'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This is the core insight of the whole session. The description field is not documentation. It is the matching logic. Claude reads descriptions every turn and asks: does what the user just said match this? If yes, load the body. The body costs tokens when loaded. The description is always there. So put your keywords, trigger phrases, use-case signals - all of it - in the description.</a:t>
            </a:r>
          </a:p>
          <a:p>
            <a:r>
              <a:t>SOURCE: code.claude.com/docs/en/skills, fetched 17-03-2026</a:t>
            </a:r>
          </a:p>
          <a:p>
            <a:r>
              <a:t>WATCH FOR: 'What if I have too many skills and descriptions conflict?'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Think of it like a web page that lazy-loads images. The page frame loads immediately. Images load when you scroll to them. Skills work the same way. Metadata is always there. Body loads when triggered. Supporting files load on demand. This design keeps Claude fast and context-efficient even when you have dozens of skills.</a:t>
            </a:r>
          </a:p>
          <a:p>
            <a:r>
              <a:t>SOURCE: code.claude.com/docs/en/skills, fetched 17-03-2026</a:t>
            </a:r>
          </a:p>
          <a:p>
            <a:r>
              <a:t>WATCH FOR: 'What is a context window and why does it matter?'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Two locations. Personal at ~/.claude/skills/ means every project you ever open will have that skill available. Project at .claude/skills/ means it lives in the repo alongside the product code and everyone on the team can use it. This workshop uses the second pattern. All skills in .claude/skills/ are checked into the repo.</a:t>
            </a:r>
          </a:p>
          <a:p>
            <a:r>
              <a:t>SOURCE: code.claude.com/docs/en/skills, fetched 17-03-2026</a:t>
            </a:r>
          </a:p>
          <a:p>
            <a:r>
              <a:t>WATCH FOR: 'Can the same skill exist in both places?'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The 500-line limit is a practical context-budget rule. Every line in the skill body costs tokens every time the skill loads and stays in session. Anthropic's own docs say: 'Keep SKILL.md under 500 lines. Move detailed reference material to separate files.' Once you hit that limit, move detailed content to references/ and link to it from SKILL.md.</a:t>
            </a:r>
          </a:p>
          <a:p>
            <a:r>
              <a:t>SOURCE: code.claude.com/docs/en/skills, fetched 17-03-2026</a:t>
            </a:r>
          </a:p>
          <a:p>
            <a:r>
              <a:t>WATCH FOR: 'What happens if my SKILL.md is 600 lines? Does it break?'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Anthropic's own docs state the signal clearly: 'Create a skill when you keep pasting the same instructions, checklist, or multi-step procedure into chat.' Three repetitions is a reasonable heuristic. The first time you're figuring it out. The second time you're refining. The third time you should be asking: why am I typing this again?</a:t>
            </a:r>
          </a:p>
          <a:p>
            <a:r>
              <a:t>SOURCE: code.claude.com/docs/en/skills, fetched 17-03-2026</a:t>
            </a:r>
          </a:p>
          <a:p>
            <a:r>
              <a:t>WATCH FOR: 'What is the difference between a skill and a CLAUDE.md rule?'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Two invocation paths. Auto-trigger relies entirely on the description field matching what you said. Direct invocation bypasses matching - you type the /command and Claude loads it immediately. The choice between them is a control question: do you want Claude to decide when to run this, or do you? For anything with side effects, keep control yourself.</a:t>
            </a:r>
          </a:p>
          <a:p>
            <a:r>
              <a:t>SOURCE: code.claude.com/docs/en/skills, fetched 17-03-2026</a:t>
            </a:r>
          </a:p>
          <a:p>
            <a:r>
              <a:t>WATCH FOR: 'What if Claude triggers the wrong skill?'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This is the skill that generated this presentation. The description contains 'create a PPT', 'build slides', 'make a deck'. Those are the trigger phrases Claude matches. The body tells Claude to read the bundled Python script first, then map your content to slide patterns. The script handles all the python-pptx rendering.</a:t>
            </a:r>
          </a:p>
          <a:p>
            <a:r>
              <a:t>SOURCE: .claude/skills/ppt-builder/SKILL.md in this repo</a:t>
            </a:r>
          </a:p>
          <a:p>
            <a:r>
              <a:t>WATCH FOR: 'Does Claude write the Python code itself or does the script do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This skill applies a framework: Minto's Pyramid Principle. BLUF means Bottom Line Up Front. SCQA is Situation, Complication, Question, Answer. MECE means Mutually Exclusive, Collectively Exhaustive - no overlap, no gaps. The skill description lists every phrasing that should trigger it, including indirect ones like 'tell my VP we are slipping the launch'. Claude matches the intent, not just keywords.</a:t>
            </a:r>
          </a:p>
          <a:p>
            <a:r>
              <a:t>SOURCE: .claude/skills/email-drafter/SKILL.md in this repo</a:t>
            </a:r>
          </a:p>
          <a:p>
            <a:r>
              <a:t>WATCH FOR: 'What if I want a different email style?'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The standup summary skill shows what a well-structured body looks like. It enforces rules: every action item needs an owner AND a date. If the notes say 'by EOD', the skill resolves that against the standup date from the filename. This is the skill with the most concrete output contract. You know exactly what you get.</a:t>
            </a:r>
          </a:p>
          <a:p>
            <a:r>
              <a:t>SOURCE: .claude/skills/standup-summary/SKILL.md in this repo</a:t>
            </a:r>
          </a:p>
          <a:p>
            <a:r>
              <a:t>WATCH FOR: 'Does Claude always get the action item owners right?'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The hardest call is 'is this stable enough?' A skill whose instructions you are still editing loads its old version into context and then you get confused output. The rule: CLAUDE.md for facts and preferences, skill for stable multi-step procedures, chat for one-offs. If you are not sure, keep it in CLAUDE.md until you are.</a:t>
            </a:r>
          </a:p>
          <a:p>
            <a:r>
              <a:t>SOURCE: original framing + code.claude.com/docs/en/skills, fetched 17-03-2026</a:t>
            </a:r>
          </a:p>
          <a:p>
            <a:r>
              <a:t>WATCH FOR: 'Can I update a skill mid-session?'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Five steps. The real work is in step 3 and step 5. Step 3 is where most people underinvest - they write the instructions well but forget to load the description with trigger phrases. Step 5 is the feedback loop. If Claude is not loading the skill, the description is the problem, not the instructions. Add more phrases that match how you actually talk to Claude.</a:t>
            </a:r>
          </a:p>
          <a:p>
            <a:r>
              <a:t>SOURCE: original framing + code.claude.com/docs/en/skills, fetched 17-03-2026</a:t>
            </a:r>
          </a:p>
          <a:p>
            <a:r>
              <a:t>WATCH FOR: 'What is Antigravity IDE?' (it is the IDE used in this workshop, not a coding tool)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The single question is: fact, preference, or procedure? Facts and preferences always belong in CLAUDE.md. Procedures belong in skills. One-offs go directly in chat. If you are unsure, CLAUDE.md is safer because it is always visible and you can always refactor later.</a:t>
            </a:r>
          </a:p>
          <a:p>
            <a:r>
              <a:t>WATCH FOR: 'What if I have a preference that is also part of a procedure?'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Five points. The most important is number two. If you forget everything else, remember this: the description field is the only reason Claude loads a skill. Write it like a list of trigger phrases. The instructions are secondary.</a:t>
            </a:r>
          </a:p>
          <a:p>
            <a:r>
              <a:t>WATCH FOR: 'Can I share skills with people outside my company?'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Leave this slide up while participants explore the repo. Point back to it when terminology questions come up in the next session.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Session 2 ends here. You now have the full Claude Code stack: CLAUDE.md for context, skills for habits. Session 4 combines all of that and points it at a real product problem. The goal is to walk out with something you can show, not just describe.</a:t>
            </a:r>
          </a:p>
          <a:p>
            <a:r>
              <a:t>WATCH FOR: 'Do I need to know how to code to follow Session 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All five questions have come up in prior cohorts. Answers grounded in official docs.</a:t>
            </a:r>
          </a:p>
          <a:p>
            <a:r>
              <a:t>SOURCE:</a:t>
            </a:r>
          </a:p>
          <a:p>
            <a:r>
              <a:t>Q1, Q2, Q3, Q4, Q5: code.claude.com/docs/en/skills (Where skills live, Skill content lifecycle, Skill descriptions are cut short), fetched 16-05-2026</a:t>
            </a:r>
          </a:p>
          <a:p>
            <a:r>
              <a:t>Q1 (Subagent half): code.claude.com/docs/en/sub-agents, fetched 16-05-2026</a:t>
            </a:r>
          </a:p>
          <a:p>
            <a:r>
              <a:t>Q1 (MCP half): code.claude.com/docs/en/mcp, fetched 16-05-2026</a:t>
            </a:r>
          </a:p>
          <a:p>
            <a:r>
              <a:t>Q5 (Agent Skills standard): agentskills.io, referenced from skills doc</a:t>
            </a:r>
          </a:p>
          <a:p>
            <a:r>
              <a:t>WATCH FOR: 'Are skill descriptions case-sensitive?' Per docs they are matched on natural-language keywords, so include phrasing users would actually say.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(60-90 sec): Open floor. Most common questions: 'where do I start?' Answer: take one workflow you repeat every sprint, write the SKILL.md tonight. Do not over-engineer it. Ship the rough version. Iterate the description next week.</a:t>
            </a:r>
          </a:p>
          <a:p>
            <a:r>
              <a:t>WATCH FOR: 'What is the best first skill to build?'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10972800" cy="457200"/>
          </a:xfrm>
          <a:prstGeom prst="rect">
            <a:avLst/>
          </a:prstGeom>
          <a:noFill/>
        </p:spPr>
        <p:txBody>
          <a:bodyPr wrap="square">
            <a:spAutoFit/>
          </a:bodyPr>
          <a:lstStyle/>
          <a:p>
            <a:pPr algn="l"/>
            <a:r>
              <a:rPr sz="1300" b="0">
                <a:solidFill>
                  <a:srgbClr val="888888"/>
                </a:solidFill>
              </a:rPr>
              <a:t>CLAUDE CODE WORKSHOP</a:t>
            </a:r>
          </a:p>
        </p:txBody>
      </p:sp>
      <p:sp>
        <p:nvSpPr>
          <p:cNvPr id="4" name="TextBox 3"/>
          <p:cNvSpPr txBox="1"/>
          <p:nvPr/>
        </p:nvSpPr>
        <p:spPr>
          <a:xfrm>
            <a:off x="548640" y="1280160"/>
            <a:ext cx="10972800" cy="1371600"/>
          </a:xfrm>
          <a:prstGeom prst="rect">
            <a:avLst/>
          </a:prstGeom>
          <a:noFill/>
        </p:spPr>
        <p:txBody>
          <a:bodyPr wrap="square">
            <a:spAutoFit/>
          </a:bodyPr>
          <a:lstStyle/>
          <a:p>
            <a:pPr algn="l"/>
            <a:r>
              <a:rPr sz="6400" b="1">
                <a:solidFill>
                  <a:srgbClr val="FFFFFF"/>
                </a:solidFill>
              </a:rPr>
              <a:t>Claude Code Skills</a:t>
            </a:r>
          </a:p>
        </p:txBody>
      </p:sp>
      <p:sp>
        <p:nvSpPr>
          <p:cNvPr id="5" name="TextBox 4"/>
          <p:cNvSpPr txBox="1"/>
          <p:nvPr/>
        </p:nvSpPr>
        <p:spPr>
          <a:xfrm>
            <a:off x="548640" y="2834640"/>
            <a:ext cx="11430000" cy="640080"/>
          </a:xfrm>
          <a:prstGeom prst="rect">
            <a:avLst/>
          </a:prstGeom>
          <a:noFill/>
        </p:spPr>
        <p:txBody>
          <a:bodyPr wrap="square">
            <a:spAutoFit/>
          </a:bodyPr>
          <a:lstStyle/>
          <a:p>
            <a:pPr algn="l"/>
            <a:r>
              <a:rPr sz="2400" b="0">
                <a:solidFill>
                  <a:srgbClr val="D47A21"/>
                </a:solidFill>
              </a:rPr>
              <a:t>Teach Claude a habit. Use it forever.</a:t>
            </a:r>
          </a:p>
        </p:txBody>
      </p:sp>
      <p:sp>
        <p:nvSpPr>
          <p:cNvPr id="6" name="Rectangle 5"/>
          <p:cNvSpPr/>
          <p:nvPr/>
        </p:nvSpPr>
        <p:spPr>
          <a:xfrm>
            <a:off x="548640" y="3749039"/>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023360"/>
            <a:ext cx="10972800" cy="1645920"/>
          </a:xfrm>
          <a:prstGeom prst="rect">
            <a:avLst/>
          </a:prstGeom>
          <a:noFill/>
        </p:spPr>
        <p:txBody>
          <a:bodyPr wrap="square">
            <a:spAutoFit/>
          </a:bodyPr>
          <a:lstStyle/>
          <a:p>
            <a:pPr algn="l"/>
            <a:r>
              <a:rPr sz="1800" b="0">
                <a:solidFill>
                  <a:srgbClr val="CCCCCC"/>
                </a:solidFill>
              </a:rPr>
              <a:t>By the end of this session you will know:
how a skill is structured, why the description field is the trigger mechanism,
and how to build and invoke skills that stick.</a:t>
            </a:r>
          </a:p>
        </p:txBody>
      </p:sp>
      <p:sp>
        <p:nvSpPr>
          <p:cNvPr id="8" name="TextBox 7"/>
          <p:cNvSpPr txBox="1"/>
          <p:nvPr/>
        </p:nvSpPr>
        <p:spPr>
          <a:xfrm>
            <a:off x="548640" y="6126480"/>
            <a:ext cx="11430000" cy="365760"/>
          </a:xfrm>
          <a:prstGeom prst="rect">
            <a:avLst/>
          </a:prstGeom>
          <a:noFill/>
        </p:spPr>
        <p:txBody>
          <a:bodyPr wrap="square">
            <a:spAutoFit/>
          </a:bodyPr>
          <a:lstStyle/>
          <a:p>
            <a:pPr algn="l"/>
            <a:r>
              <a:rPr sz="1200" b="0">
                <a:solidFill>
                  <a:srgbClr val="888888"/>
                </a:solidFill>
              </a:rPr>
              <a:t>Aman Parmar  ·  Senior Product Manager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972800" cy="685800"/>
          </a:xfrm>
          <a:prstGeom prst="rect">
            <a:avLst/>
          </a:prstGeom>
          <a:noFill/>
        </p:spPr>
        <p:txBody>
          <a:bodyPr wrap="square">
            <a:spAutoFit/>
          </a:bodyPr>
          <a:lstStyle/>
          <a:p>
            <a:pPr algn="l"/>
            <a:r>
              <a:rPr sz="3200" b="1">
                <a:solidFill>
                  <a:srgbClr val="FFFFFF"/>
                </a:solidFill>
              </a:rPr>
              <a:t>What We Cover Today</a:t>
            </a:r>
          </a:p>
        </p:txBody>
      </p:sp>
      <p:sp>
        <p:nvSpPr>
          <p:cNvPr id="4" name="Rectangle 3"/>
          <p:cNvSpPr/>
          <p:nvPr/>
        </p:nvSpPr>
        <p:spPr>
          <a:xfrm>
            <a:off x="457200" y="1353312"/>
            <a:ext cx="11247120" cy="51206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53896"/>
            <a:ext cx="1463040" cy="566928"/>
          </a:xfrm>
          <a:prstGeom prst="rect">
            <a:avLst/>
          </a:prstGeom>
          <a:noFill/>
        </p:spPr>
        <p:txBody>
          <a:bodyPr wrap="square">
            <a:spAutoFit/>
          </a:bodyPr>
          <a:lstStyle/>
          <a:p>
            <a:pPr algn="l"/>
            <a:r>
              <a:rPr sz="1400" b="1">
                <a:solidFill>
                  <a:srgbClr val="D47A21"/>
                </a:solidFill>
              </a:rPr>
              <a:t>Part 1</a:t>
            </a:r>
          </a:p>
        </p:txBody>
      </p:sp>
      <p:sp>
        <p:nvSpPr>
          <p:cNvPr id="6" name="TextBox 5"/>
          <p:cNvSpPr txBox="1"/>
          <p:nvPr/>
        </p:nvSpPr>
        <p:spPr>
          <a:xfrm>
            <a:off x="2286000" y="1453896"/>
            <a:ext cx="9235440" cy="566928"/>
          </a:xfrm>
          <a:prstGeom prst="rect">
            <a:avLst/>
          </a:prstGeom>
          <a:noFill/>
        </p:spPr>
        <p:txBody>
          <a:bodyPr wrap="square">
            <a:spAutoFit/>
          </a:bodyPr>
          <a:lstStyle/>
          <a:p>
            <a:pPr algn="l"/>
            <a:r>
              <a:rPr sz="1600" b="0">
                <a:solidFill>
                  <a:srgbClr val="FFFFFF"/>
                </a:solidFill>
              </a:rPr>
              <a:t>What a skill is, and why it is different from CLAUDE.md</a:t>
            </a:r>
          </a:p>
        </p:txBody>
      </p:sp>
      <p:sp>
        <p:nvSpPr>
          <p:cNvPr id="7" name="TextBox 6"/>
          <p:cNvSpPr txBox="1"/>
          <p:nvPr/>
        </p:nvSpPr>
        <p:spPr>
          <a:xfrm>
            <a:off x="640080" y="2020824"/>
            <a:ext cx="1463040" cy="566928"/>
          </a:xfrm>
          <a:prstGeom prst="rect">
            <a:avLst/>
          </a:prstGeom>
          <a:noFill/>
        </p:spPr>
        <p:txBody>
          <a:bodyPr wrap="square">
            <a:spAutoFit/>
          </a:bodyPr>
          <a:lstStyle/>
          <a:p>
            <a:pPr algn="l"/>
            <a:r>
              <a:rPr sz="1400" b="1">
                <a:solidFill>
                  <a:srgbClr val="D47A21"/>
                </a:solidFill>
              </a:rPr>
              <a:t>Part 2</a:t>
            </a:r>
          </a:p>
        </p:txBody>
      </p:sp>
      <p:sp>
        <p:nvSpPr>
          <p:cNvPr id="8" name="TextBox 7"/>
          <p:cNvSpPr txBox="1"/>
          <p:nvPr/>
        </p:nvSpPr>
        <p:spPr>
          <a:xfrm>
            <a:off x="2286000" y="2020824"/>
            <a:ext cx="9235440" cy="566928"/>
          </a:xfrm>
          <a:prstGeom prst="rect">
            <a:avLst/>
          </a:prstGeom>
          <a:noFill/>
        </p:spPr>
        <p:txBody>
          <a:bodyPr wrap="square">
            <a:spAutoFit/>
          </a:bodyPr>
          <a:lstStyle/>
          <a:p>
            <a:pPr algn="l"/>
            <a:r>
              <a:rPr sz="1600" b="0">
                <a:solidFill>
                  <a:srgbClr val="FFFFFF"/>
                </a:solidFill>
              </a:rPr>
              <a:t>The four Claude Code primitives, side by side</a:t>
            </a:r>
          </a:p>
        </p:txBody>
      </p:sp>
      <p:sp>
        <p:nvSpPr>
          <p:cNvPr id="9" name="Rectangle 8"/>
          <p:cNvSpPr/>
          <p:nvPr/>
        </p:nvSpPr>
        <p:spPr>
          <a:xfrm>
            <a:off x="457200" y="2487168"/>
            <a:ext cx="11247120" cy="51206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87752"/>
            <a:ext cx="1463040" cy="566928"/>
          </a:xfrm>
          <a:prstGeom prst="rect">
            <a:avLst/>
          </a:prstGeom>
          <a:noFill/>
        </p:spPr>
        <p:txBody>
          <a:bodyPr wrap="square">
            <a:spAutoFit/>
          </a:bodyPr>
          <a:lstStyle/>
          <a:p>
            <a:pPr algn="l"/>
            <a:r>
              <a:rPr sz="1400" b="1">
                <a:solidFill>
                  <a:srgbClr val="D47A21"/>
                </a:solidFill>
              </a:rPr>
              <a:t>Part 3</a:t>
            </a:r>
          </a:p>
        </p:txBody>
      </p:sp>
      <p:sp>
        <p:nvSpPr>
          <p:cNvPr id="11" name="TextBox 10"/>
          <p:cNvSpPr txBox="1"/>
          <p:nvPr/>
        </p:nvSpPr>
        <p:spPr>
          <a:xfrm>
            <a:off x="2286000" y="2587752"/>
            <a:ext cx="9235440" cy="566928"/>
          </a:xfrm>
          <a:prstGeom prst="rect">
            <a:avLst/>
          </a:prstGeom>
          <a:noFill/>
        </p:spPr>
        <p:txBody>
          <a:bodyPr wrap="square">
            <a:spAutoFit/>
          </a:bodyPr>
          <a:lstStyle/>
          <a:p>
            <a:pPr algn="l"/>
            <a:r>
              <a:rPr sz="1600" b="0">
                <a:solidFill>
                  <a:srgbClr val="FFFFFF"/>
                </a:solidFill>
              </a:rPr>
              <a:t>Anatomy of SKILL.md, field by field</a:t>
            </a:r>
          </a:p>
        </p:txBody>
      </p:sp>
      <p:sp>
        <p:nvSpPr>
          <p:cNvPr id="12" name="TextBox 11"/>
          <p:cNvSpPr txBox="1"/>
          <p:nvPr/>
        </p:nvSpPr>
        <p:spPr>
          <a:xfrm>
            <a:off x="640080" y="3154680"/>
            <a:ext cx="1463040" cy="566928"/>
          </a:xfrm>
          <a:prstGeom prst="rect">
            <a:avLst/>
          </a:prstGeom>
          <a:noFill/>
        </p:spPr>
        <p:txBody>
          <a:bodyPr wrap="square">
            <a:spAutoFit/>
          </a:bodyPr>
          <a:lstStyle/>
          <a:p>
            <a:pPr algn="l"/>
            <a:r>
              <a:rPr sz="1400" b="1">
                <a:solidFill>
                  <a:srgbClr val="D47A21"/>
                </a:solidFill>
              </a:rPr>
              <a:t>Part 4</a:t>
            </a:r>
          </a:p>
        </p:txBody>
      </p:sp>
      <p:sp>
        <p:nvSpPr>
          <p:cNvPr id="13" name="TextBox 12"/>
          <p:cNvSpPr txBox="1"/>
          <p:nvPr/>
        </p:nvSpPr>
        <p:spPr>
          <a:xfrm>
            <a:off x="2286000" y="3154680"/>
            <a:ext cx="9235440" cy="566928"/>
          </a:xfrm>
          <a:prstGeom prst="rect">
            <a:avLst/>
          </a:prstGeom>
          <a:noFill/>
        </p:spPr>
        <p:txBody>
          <a:bodyPr wrap="square">
            <a:spAutoFit/>
          </a:bodyPr>
          <a:lstStyle/>
          <a:p>
            <a:pPr algn="l"/>
            <a:r>
              <a:rPr sz="1600" b="0">
                <a:solidFill>
                  <a:srgbClr val="FFFFFF"/>
                </a:solidFill>
              </a:rPr>
              <a:t>The description field is the trigger</a:t>
            </a:r>
          </a:p>
        </p:txBody>
      </p:sp>
      <p:sp>
        <p:nvSpPr>
          <p:cNvPr id="14" name="Rectangle 13"/>
          <p:cNvSpPr/>
          <p:nvPr/>
        </p:nvSpPr>
        <p:spPr>
          <a:xfrm>
            <a:off x="457200" y="3621024"/>
            <a:ext cx="11247120" cy="51206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721608"/>
            <a:ext cx="1463040" cy="566928"/>
          </a:xfrm>
          <a:prstGeom prst="rect">
            <a:avLst/>
          </a:prstGeom>
          <a:noFill/>
        </p:spPr>
        <p:txBody>
          <a:bodyPr wrap="square">
            <a:spAutoFit/>
          </a:bodyPr>
          <a:lstStyle/>
          <a:p>
            <a:pPr algn="l"/>
            <a:r>
              <a:rPr sz="1400" b="1">
                <a:solidFill>
                  <a:srgbClr val="D47A21"/>
                </a:solidFill>
              </a:rPr>
              <a:t>Part 5</a:t>
            </a:r>
          </a:p>
        </p:txBody>
      </p:sp>
      <p:sp>
        <p:nvSpPr>
          <p:cNvPr id="16" name="TextBox 15"/>
          <p:cNvSpPr txBox="1"/>
          <p:nvPr/>
        </p:nvSpPr>
        <p:spPr>
          <a:xfrm>
            <a:off x="2286000" y="3721608"/>
            <a:ext cx="9235440" cy="566928"/>
          </a:xfrm>
          <a:prstGeom prst="rect">
            <a:avLst/>
          </a:prstGeom>
          <a:noFill/>
        </p:spPr>
        <p:txBody>
          <a:bodyPr wrap="square">
            <a:spAutoFit/>
          </a:bodyPr>
          <a:lstStyle/>
          <a:p>
            <a:pPr algn="l"/>
            <a:r>
              <a:rPr sz="1600" b="0">
                <a:solidFill>
                  <a:srgbClr val="FFFFFF"/>
                </a:solidFill>
              </a:rPr>
              <a:t>Progressive disclosure, folder structure, the 500-line rule</a:t>
            </a:r>
          </a:p>
        </p:txBody>
      </p:sp>
      <p:sp>
        <p:nvSpPr>
          <p:cNvPr id="17" name="TextBox 16"/>
          <p:cNvSpPr txBox="1"/>
          <p:nvPr/>
        </p:nvSpPr>
        <p:spPr>
          <a:xfrm>
            <a:off x="640080" y="4288536"/>
            <a:ext cx="1463040" cy="566928"/>
          </a:xfrm>
          <a:prstGeom prst="rect">
            <a:avLst/>
          </a:prstGeom>
          <a:noFill/>
        </p:spPr>
        <p:txBody>
          <a:bodyPr wrap="square">
            <a:spAutoFit/>
          </a:bodyPr>
          <a:lstStyle/>
          <a:p>
            <a:pPr algn="l"/>
            <a:r>
              <a:rPr sz="1400" b="1">
                <a:solidFill>
                  <a:srgbClr val="D47A21"/>
                </a:solidFill>
              </a:rPr>
              <a:t>Part 6</a:t>
            </a:r>
          </a:p>
        </p:txBody>
      </p:sp>
      <p:sp>
        <p:nvSpPr>
          <p:cNvPr id="18" name="TextBox 17"/>
          <p:cNvSpPr txBox="1"/>
          <p:nvPr/>
        </p:nvSpPr>
        <p:spPr>
          <a:xfrm>
            <a:off x="2286000" y="4288536"/>
            <a:ext cx="9235440" cy="566928"/>
          </a:xfrm>
          <a:prstGeom prst="rect">
            <a:avLst/>
          </a:prstGeom>
          <a:noFill/>
        </p:spPr>
        <p:txBody>
          <a:bodyPr wrap="square">
            <a:spAutoFit/>
          </a:bodyPr>
          <a:lstStyle/>
          <a:p>
            <a:pPr algn="l"/>
            <a:r>
              <a:rPr sz="1600" b="0">
                <a:solidFill>
                  <a:srgbClr val="FFFFFF"/>
                </a:solidFill>
              </a:rPr>
              <a:t>Three real skills from this repo, live</a:t>
            </a:r>
          </a:p>
        </p:txBody>
      </p:sp>
      <p:sp>
        <p:nvSpPr>
          <p:cNvPr id="19" name="Rectangle 18"/>
          <p:cNvSpPr/>
          <p:nvPr/>
        </p:nvSpPr>
        <p:spPr>
          <a:xfrm>
            <a:off x="457200" y="4754880"/>
            <a:ext cx="11247120" cy="51206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855464"/>
            <a:ext cx="1463040" cy="566928"/>
          </a:xfrm>
          <a:prstGeom prst="rect">
            <a:avLst/>
          </a:prstGeom>
          <a:noFill/>
        </p:spPr>
        <p:txBody>
          <a:bodyPr wrap="square">
            <a:spAutoFit/>
          </a:bodyPr>
          <a:lstStyle/>
          <a:p>
            <a:pPr algn="l"/>
            <a:r>
              <a:rPr sz="1400" b="1">
                <a:solidFill>
                  <a:srgbClr val="D47A21"/>
                </a:solidFill>
              </a:rPr>
              <a:t>Part 7</a:t>
            </a:r>
          </a:p>
        </p:txBody>
      </p:sp>
      <p:sp>
        <p:nvSpPr>
          <p:cNvPr id="21" name="TextBox 20"/>
          <p:cNvSpPr txBox="1"/>
          <p:nvPr/>
        </p:nvSpPr>
        <p:spPr>
          <a:xfrm>
            <a:off x="2286000" y="4855464"/>
            <a:ext cx="9235440" cy="566928"/>
          </a:xfrm>
          <a:prstGeom prst="rect">
            <a:avLst/>
          </a:prstGeom>
          <a:noFill/>
        </p:spPr>
        <p:txBody>
          <a:bodyPr wrap="square">
            <a:spAutoFit/>
          </a:bodyPr>
          <a:lstStyle/>
          <a:p>
            <a:pPr algn="l"/>
            <a:r>
              <a:rPr sz="1600" b="0">
                <a:solidFill>
                  <a:srgbClr val="FFFFFF"/>
                </a:solidFill>
              </a:rPr>
              <a:t>When NOT to make a skill</a:t>
            </a:r>
          </a:p>
        </p:txBody>
      </p:sp>
      <p:sp>
        <p:nvSpPr>
          <p:cNvPr id="22" name="TextBox 21"/>
          <p:cNvSpPr txBox="1"/>
          <p:nvPr/>
        </p:nvSpPr>
        <p:spPr>
          <a:xfrm>
            <a:off x="640080" y="5422392"/>
            <a:ext cx="1463040" cy="566928"/>
          </a:xfrm>
          <a:prstGeom prst="rect">
            <a:avLst/>
          </a:prstGeom>
          <a:noFill/>
        </p:spPr>
        <p:txBody>
          <a:bodyPr wrap="square">
            <a:spAutoFit/>
          </a:bodyPr>
          <a:lstStyle/>
          <a:p>
            <a:pPr algn="l"/>
            <a:r>
              <a:rPr sz="1400" b="1">
                <a:solidFill>
                  <a:srgbClr val="D47A21"/>
                </a:solidFill>
              </a:rPr>
              <a:t>Part 8</a:t>
            </a:r>
          </a:p>
        </p:txBody>
      </p:sp>
      <p:sp>
        <p:nvSpPr>
          <p:cNvPr id="23" name="TextBox 22"/>
          <p:cNvSpPr txBox="1"/>
          <p:nvPr/>
        </p:nvSpPr>
        <p:spPr>
          <a:xfrm>
            <a:off x="2286000" y="5422392"/>
            <a:ext cx="9235440" cy="566928"/>
          </a:xfrm>
          <a:prstGeom prst="rect">
            <a:avLst/>
          </a:prstGeom>
          <a:noFill/>
        </p:spPr>
        <p:txBody>
          <a:bodyPr wrap="square">
            <a:spAutoFit/>
          </a:bodyPr>
          <a:lstStyle/>
          <a:p>
            <a:pPr algn="l"/>
            <a:r>
              <a:rPr sz="1600" b="0">
                <a:solidFill>
                  <a:srgbClr val="FFFFFF"/>
                </a:solidFill>
              </a:rPr>
              <a:t>What's next - prototypes with Claude Code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1  ·  WHAT A SKILL IS</a:t>
            </a:r>
          </a:p>
        </p:txBody>
      </p:sp>
      <p:sp>
        <p:nvSpPr>
          <p:cNvPr id="4" name="TextBox 3"/>
          <p:cNvSpPr txBox="1"/>
          <p:nvPr/>
        </p:nvSpPr>
        <p:spPr>
          <a:xfrm>
            <a:off x="548640" y="868680"/>
            <a:ext cx="11430000" cy="1188720"/>
          </a:xfrm>
          <a:prstGeom prst="rect">
            <a:avLst/>
          </a:prstGeom>
          <a:noFill/>
        </p:spPr>
        <p:txBody>
          <a:bodyPr wrap="square">
            <a:spAutoFit/>
          </a:bodyPr>
          <a:lstStyle/>
          <a:p>
            <a:pPr algn="l"/>
            <a:r>
              <a:rPr sz="3400" b="1">
                <a:solidFill>
                  <a:srgbClr val="FFFFFF"/>
                </a:solidFill>
              </a:rPr>
              <a:t>A Skill Is a Reusable Workflow
You Write Once and Invoke Forever</a:t>
            </a:r>
          </a:p>
        </p:txBody>
      </p:sp>
      <p:sp>
        <p:nvSpPr>
          <p:cNvPr id="5" name="Rectangle 4"/>
          <p:cNvSpPr/>
          <p:nvPr/>
        </p:nvSpPr>
        <p:spPr>
          <a:xfrm>
            <a:off x="548640" y="205740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286000"/>
            <a:ext cx="10972800" cy="3474720"/>
          </a:xfrm>
          <a:prstGeom prst="rect">
            <a:avLst/>
          </a:prstGeom>
          <a:noFill/>
        </p:spPr>
        <p:txBody>
          <a:bodyPr wrap="square">
            <a:spAutoFit/>
          </a:bodyPr>
          <a:lstStyle/>
          <a:p>
            <a:pPr algn="l">
              <a:spcAft>
                <a:spcPts val="1000"/>
              </a:spcAft>
            </a:pPr>
            <a:r>
              <a:rPr sz="2000">
                <a:solidFill>
                  <a:srgbClr val="CCCCCC"/>
                </a:solidFill>
              </a:rPr>
              <a:t>  A skill is a markdown file that gives Claude a named, repeatable procedure.</a:t>
            </a:r>
          </a:p>
          <a:p>
            <a:pPr algn="l">
              <a:spcAft>
                <a:spcPts val="1000"/>
              </a:spcAft>
            </a:pPr>
            <a:r>
              <a:rPr sz="2000">
                <a:solidFill>
                  <a:srgbClr val="CCCCCC"/>
                </a:solidFill>
              </a:rPr>
              <a:t>  You keep pasting the same instructions? That belongs in a skill.</a:t>
            </a:r>
          </a:p>
          <a:p>
            <a:pPr algn="l">
              <a:spcAft>
                <a:spcPts val="1000"/>
              </a:spcAft>
            </a:pPr>
            <a:r>
              <a:rPr sz="2000">
                <a:solidFill>
                  <a:srgbClr val="CCCCCC"/>
                </a:solidFill>
              </a:rPr>
              <a:t>  Unlike CLAUDE.md, the skill body only loads when you call it, saving context budget.</a:t>
            </a:r>
          </a:p>
          <a:p>
            <a:pPr algn="l">
              <a:spcAft>
                <a:spcPts val="1000"/>
              </a:spcAft>
            </a:pPr>
            <a:r>
              <a:rPr sz="2000">
                <a:solidFill>
                  <a:srgbClr val="CCCCCC"/>
                </a:solidFill>
              </a:rPr>
              <a:t>  You can invoke it yourself (/skill-name) or let Claude recognize the pattern and load it.</a:t>
            </a:r>
          </a:p>
          <a:p>
            <a:pPr algn="l">
              <a:spcAft>
                <a:spcPts val="1000"/>
              </a:spcAft>
            </a:pPr>
            <a:r>
              <a:rPr sz="2000">
                <a:solidFill>
                  <a:srgbClr val="CCCCCC"/>
                </a:solidFill>
              </a:rPr>
              <a:t>  No coding required. If you can write a checklist, you can write a skill.</a:t>
            </a:r>
          </a:p>
        </p:txBody>
      </p:sp>
      <p:sp>
        <p:nvSpPr>
          <p:cNvPr id="7" name="TextBox 6"/>
          <p:cNvSpPr txBox="1"/>
          <p:nvPr/>
        </p:nvSpPr>
        <p:spPr>
          <a:xfrm>
            <a:off x="548640" y="5989320"/>
            <a:ext cx="11430000" cy="502920"/>
          </a:xfrm>
          <a:prstGeom prst="rect">
            <a:avLst/>
          </a:prstGeom>
          <a:noFill/>
        </p:spPr>
        <p:txBody>
          <a:bodyPr wrap="square">
            <a:spAutoFit/>
          </a:bodyPr>
          <a:lstStyle/>
          <a:p>
            <a:pPr algn="l"/>
            <a:r>
              <a:rPr sz="1600" b="1">
                <a:solidFill>
                  <a:srgbClr val="D47A21"/>
                </a:solidFill>
              </a:rPr>
              <a:t>a skill is your standard operating procedure, stored where Claude can find and run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2  ·  FOUR PRIMITIVES</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000" b="1">
                <a:solidFill>
                  <a:srgbClr val="FFFFFF"/>
                </a:solidFill>
              </a:rPr>
              <a:t>Four Primitives in Claude Code - Know Which to Reach For</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920240"/>
            <a:ext cx="2743200" cy="42062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084832"/>
            <a:ext cx="2468880" cy="411480"/>
          </a:xfrm>
          <a:prstGeom prst="rect">
            <a:avLst/>
          </a:prstGeom>
          <a:noFill/>
        </p:spPr>
        <p:txBody>
          <a:bodyPr wrap="square">
            <a:spAutoFit/>
          </a:bodyPr>
          <a:lstStyle/>
          <a:p>
            <a:pPr algn="l"/>
            <a:r>
              <a:rPr sz="1300" b="1">
                <a:solidFill>
                  <a:srgbClr val="D47A21"/>
                </a:solidFill>
              </a:rPr>
              <a:t>SKILL</a:t>
            </a:r>
          </a:p>
        </p:txBody>
      </p:sp>
      <p:sp>
        <p:nvSpPr>
          <p:cNvPr id="8" name="TextBox 7"/>
          <p:cNvSpPr txBox="1"/>
          <p:nvPr/>
        </p:nvSpPr>
        <p:spPr>
          <a:xfrm>
            <a:off x="457200" y="2578608"/>
            <a:ext cx="2468880" cy="502920"/>
          </a:xfrm>
          <a:prstGeom prst="rect">
            <a:avLst/>
          </a:prstGeom>
          <a:noFill/>
        </p:spPr>
        <p:txBody>
          <a:bodyPr wrap="square">
            <a:spAutoFit/>
          </a:bodyPr>
          <a:lstStyle/>
          <a:p>
            <a:pPr algn="l"/>
            <a:r>
              <a:rPr sz="1800" b="1">
                <a:solidFill>
                  <a:srgbClr val="FFFFFF"/>
                </a:solidFill>
              </a:rPr>
              <a:t>Reusable workflow</a:t>
            </a:r>
          </a:p>
        </p:txBody>
      </p:sp>
      <p:sp>
        <p:nvSpPr>
          <p:cNvPr id="9" name="TextBox 8"/>
          <p:cNvSpPr txBox="1"/>
          <p:nvPr/>
        </p:nvSpPr>
        <p:spPr>
          <a:xfrm>
            <a:off x="457200" y="3200400"/>
            <a:ext cx="2468880" cy="2560320"/>
          </a:xfrm>
          <a:prstGeom prst="rect">
            <a:avLst/>
          </a:prstGeom>
          <a:noFill/>
        </p:spPr>
        <p:txBody>
          <a:bodyPr wrap="square">
            <a:spAutoFit/>
          </a:bodyPr>
          <a:lstStyle/>
          <a:p>
            <a:pPr algn="l"/>
            <a:r>
              <a:rPr sz="1300" b="0">
                <a:solidFill>
                  <a:srgbClr val="CCCCCC"/>
                </a:solidFill>
              </a:rPr>
              <a:t>A markdown procedure Claude loads and follows. You or Claude can invoke it. Persistent across sessions.</a:t>
            </a:r>
          </a:p>
        </p:txBody>
      </p:sp>
      <p:sp>
        <p:nvSpPr>
          <p:cNvPr id="10" name="Rectangle 9"/>
          <p:cNvSpPr/>
          <p:nvPr/>
        </p:nvSpPr>
        <p:spPr>
          <a:xfrm>
            <a:off x="3264408" y="1920240"/>
            <a:ext cx="2743200" cy="42062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01568" y="2084832"/>
            <a:ext cx="2468880" cy="411480"/>
          </a:xfrm>
          <a:prstGeom prst="rect">
            <a:avLst/>
          </a:prstGeom>
          <a:noFill/>
        </p:spPr>
        <p:txBody>
          <a:bodyPr wrap="square">
            <a:spAutoFit/>
          </a:bodyPr>
          <a:lstStyle/>
          <a:p>
            <a:pPr algn="l"/>
            <a:r>
              <a:rPr sz="1300" b="1">
                <a:solidFill>
                  <a:srgbClr val="D47A21"/>
                </a:solidFill>
              </a:rPr>
              <a:t>SLASH COMMAND</a:t>
            </a:r>
          </a:p>
        </p:txBody>
      </p:sp>
      <p:sp>
        <p:nvSpPr>
          <p:cNvPr id="12" name="TextBox 11"/>
          <p:cNvSpPr txBox="1"/>
          <p:nvPr/>
        </p:nvSpPr>
        <p:spPr>
          <a:xfrm>
            <a:off x="3401568" y="2578608"/>
            <a:ext cx="2468880" cy="502920"/>
          </a:xfrm>
          <a:prstGeom prst="rect">
            <a:avLst/>
          </a:prstGeom>
          <a:noFill/>
        </p:spPr>
        <p:txBody>
          <a:bodyPr wrap="square">
            <a:spAutoFit/>
          </a:bodyPr>
          <a:lstStyle/>
          <a:p>
            <a:pPr algn="l"/>
            <a:r>
              <a:rPr sz="1800" b="1">
                <a:solidFill>
                  <a:srgbClr val="FFFFFF"/>
                </a:solidFill>
              </a:rPr>
              <a:t>One-off shortcut</a:t>
            </a:r>
          </a:p>
        </p:txBody>
      </p:sp>
      <p:sp>
        <p:nvSpPr>
          <p:cNvPr id="13" name="TextBox 12"/>
          <p:cNvSpPr txBox="1"/>
          <p:nvPr/>
        </p:nvSpPr>
        <p:spPr>
          <a:xfrm>
            <a:off x="3401568" y="3200400"/>
            <a:ext cx="2468880" cy="2560320"/>
          </a:xfrm>
          <a:prstGeom prst="rect">
            <a:avLst/>
          </a:prstGeom>
          <a:noFill/>
        </p:spPr>
        <p:txBody>
          <a:bodyPr wrap="square">
            <a:spAutoFit/>
          </a:bodyPr>
          <a:lstStyle/>
          <a:p>
            <a:pPr algn="l"/>
            <a:r>
              <a:rPr sz="1300" b="0">
                <a:solidFill>
                  <a:srgbClr val="CCCCCC"/>
                </a:solidFill>
              </a:rPr>
              <a:t>A simple prompt shortcut, no supporting files. Skills have replaced custom commands - they work identically but skills are more powerful.</a:t>
            </a:r>
          </a:p>
        </p:txBody>
      </p:sp>
      <p:sp>
        <p:nvSpPr>
          <p:cNvPr id="14" name="Rectangle 13"/>
          <p:cNvSpPr/>
          <p:nvPr/>
        </p:nvSpPr>
        <p:spPr>
          <a:xfrm>
            <a:off x="6208776" y="1920240"/>
            <a:ext cx="2743200" cy="42062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5936" y="2084832"/>
            <a:ext cx="2468880" cy="411480"/>
          </a:xfrm>
          <a:prstGeom prst="rect">
            <a:avLst/>
          </a:prstGeom>
          <a:noFill/>
        </p:spPr>
        <p:txBody>
          <a:bodyPr wrap="square">
            <a:spAutoFit/>
          </a:bodyPr>
          <a:lstStyle/>
          <a:p>
            <a:pPr algn="l"/>
            <a:r>
              <a:rPr sz="1300" b="1">
                <a:solidFill>
                  <a:srgbClr val="D47A21"/>
                </a:solidFill>
              </a:rPr>
              <a:t>SUBAGENT</a:t>
            </a:r>
          </a:p>
        </p:txBody>
      </p:sp>
      <p:sp>
        <p:nvSpPr>
          <p:cNvPr id="16" name="TextBox 15"/>
          <p:cNvSpPr txBox="1"/>
          <p:nvPr/>
        </p:nvSpPr>
        <p:spPr>
          <a:xfrm>
            <a:off x="6345936" y="2578608"/>
            <a:ext cx="2468880" cy="502920"/>
          </a:xfrm>
          <a:prstGeom prst="rect">
            <a:avLst/>
          </a:prstGeom>
          <a:noFill/>
        </p:spPr>
        <p:txBody>
          <a:bodyPr wrap="square">
            <a:spAutoFit/>
          </a:bodyPr>
          <a:lstStyle/>
          <a:p>
            <a:pPr algn="l"/>
            <a:r>
              <a:rPr sz="1800" b="1">
                <a:solidFill>
                  <a:srgbClr val="FFFFFF"/>
                </a:solidFill>
              </a:rPr>
              <a:t>Isolated specialist</a:t>
            </a:r>
          </a:p>
        </p:txBody>
      </p:sp>
      <p:sp>
        <p:nvSpPr>
          <p:cNvPr id="17" name="TextBox 16"/>
          <p:cNvSpPr txBox="1"/>
          <p:nvPr/>
        </p:nvSpPr>
        <p:spPr>
          <a:xfrm>
            <a:off x="6345936" y="3200400"/>
            <a:ext cx="2468880" cy="2560320"/>
          </a:xfrm>
          <a:prstGeom prst="rect">
            <a:avLst/>
          </a:prstGeom>
          <a:noFill/>
        </p:spPr>
        <p:txBody>
          <a:bodyPr wrap="square">
            <a:spAutoFit/>
          </a:bodyPr>
          <a:lstStyle/>
          <a:p>
            <a:pPr algn="l"/>
            <a:r>
              <a:rPr sz="1300" b="0">
                <a:solidFill>
                  <a:srgbClr val="CCCCCC"/>
                </a:solidFill>
              </a:rPr>
              <a:t>Runs in its own context window with its own tools. Keeps noisy exploration out of your main thread. Returns only a summary.</a:t>
            </a:r>
          </a:p>
        </p:txBody>
      </p:sp>
      <p:sp>
        <p:nvSpPr>
          <p:cNvPr id="18" name="Rectangle 17"/>
          <p:cNvSpPr/>
          <p:nvPr/>
        </p:nvSpPr>
        <p:spPr>
          <a:xfrm>
            <a:off x="9153144" y="1920240"/>
            <a:ext cx="2743200" cy="42062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0304" y="2084832"/>
            <a:ext cx="2468880" cy="411480"/>
          </a:xfrm>
          <a:prstGeom prst="rect">
            <a:avLst/>
          </a:prstGeom>
          <a:noFill/>
        </p:spPr>
        <p:txBody>
          <a:bodyPr wrap="square">
            <a:spAutoFit/>
          </a:bodyPr>
          <a:lstStyle/>
          <a:p>
            <a:pPr algn="l"/>
            <a:r>
              <a:rPr sz="1300" b="1">
                <a:solidFill>
                  <a:srgbClr val="D47A21"/>
                </a:solidFill>
              </a:rPr>
              <a:t>MCP SERVER</a:t>
            </a:r>
          </a:p>
        </p:txBody>
      </p:sp>
      <p:sp>
        <p:nvSpPr>
          <p:cNvPr id="20" name="TextBox 19"/>
          <p:cNvSpPr txBox="1"/>
          <p:nvPr/>
        </p:nvSpPr>
        <p:spPr>
          <a:xfrm>
            <a:off x="9290304" y="2578608"/>
            <a:ext cx="2468880" cy="502920"/>
          </a:xfrm>
          <a:prstGeom prst="rect">
            <a:avLst/>
          </a:prstGeom>
          <a:noFill/>
        </p:spPr>
        <p:txBody>
          <a:bodyPr wrap="square">
            <a:spAutoFit/>
          </a:bodyPr>
          <a:lstStyle/>
          <a:p>
            <a:pPr algn="l"/>
            <a:r>
              <a:rPr sz="1800" b="1">
                <a:solidFill>
                  <a:srgbClr val="FFFFFF"/>
                </a:solidFill>
              </a:rPr>
              <a:t>External tool bridge</a:t>
            </a:r>
          </a:p>
        </p:txBody>
      </p:sp>
      <p:sp>
        <p:nvSpPr>
          <p:cNvPr id="21" name="TextBox 20"/>
          <p:cNvSpPr txBox="1"/>
          <p:nvPr/>
        </p:nvSpPr>
        <p:spPr>
          <a:xfrm>
            <a:off x="9290304" y="3200400"/>
            <a:ext cx="2468880" cy="2560320"/>
          </a:xfrm>
          <a:prstGeom prst="rect">
            <a:avLst/>
          </a:prstGeom>
          <a:noFill/>
        </p:spPr>
        <p:txBody>
          <a:bodyPr wrap="square">
            <a:spAutoFit/>
          </a:bodyPr>
          <a:lstStyle/>
          <a:p>
            <a:pPr algn="l"/>
            <a:r>
              <a:rPr sz="1300" b="0">
                <a:solidFill>
                  <a:srgbClr val="CCCCCC"/>
                </a:solidFill>
              </a:rPr>
              <a:t>Connects Claude to live systems: databases, Jira, Slack, GitHub. Skills tell Claude how to think. MCP servers give Claude hands to act on outside data.</a:t>
            </a:r>
          </a:p>
        </p:txBody>
      </p:sp>
      <p:sp>
        <p:nvSpPr>
          <p:cNvPr id="22" name="TextBox 21"/>
          <p:cNvSpPr txBox="1"/>
          <p:nvPr/>
        </p:nvSpPr>
        <p:spPr>
          <a:xfrm>
            <a:off x="548640" y="6309360"/>
            <a:ext cx="11430000" cy="365760"/>
          </a:xfrm>
          <a:prstGeom prst="rect">
            <a:avLst/>
          </a:prstGeom>
          <a:noFill/>
        </p:spPr>
        <p:txBody>
          <a:bodyPr wrap="square">
            <a:spAutoFit/>
          </a:bodyPr>
          <a:lstStyle/>
          <a:p>
            <a:pPr algn="l"/>
            <a:r>
              <a:rPr sz="1400" b="1">
                <a:solidFill>
                  <a:srgbClr val="D47A21"/>
                </a:solidFill>
              </a:rPr>
              <a:t>start with a skill. Add a subagent when you need isolation. Add MCP when you need live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3  ·  ANATOMY OF SKILL.MD</a:t>
            </a:r>
          </a:p>
        </p:txBody>
      </p:sp>
      <p:sp>
        <p:nvSpPr>
          <p:cNvPr id="4" name="Rectangle 3"/>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
        <p:nvSpPr>
          <p:cNvPr id="5" name="TextBox 4"/>
          <p:cNvSpPr txBox="1"/>
          <p:nvPr/>
        </p:nvSpPr>
        <p:spPr>
          <a:xfrm>
            <a:off x="548640" y="868680"/>
            <a:ext cx="11430000" cy="777240"/>
          </a:xfrm>
          <a:prstGeom prst="rect">
            <a:avLst/>
          </a:prstGeom>
          <a:noFill/>
        </p:spPr>
        <p:txBody>
          <a:bodyPr wrap="square">
            <a:spAutoFit/>
          </a:bodyPr>
          <a:lstStyle/>
          <a:p>
            <a:pPr algn="l"/>
            <a:r>
              <a:rPr sz="3200" b="1">
                <a:solidFill>
                  <a:srgbClr val="FFFFFF"/>
                </a:solidFill>
              </a:rPr>
              <a:t>A SKILL.md Has Two Parts: Frontmatter and Body</a:t>
            </a:r>
          </a:p>
        </p:txBody>
      </p:sp>
      <p:sp>
        <p:nvSpPr>
          <p:cNvPr id="6" name="Rectangle 5"/>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217920" cy="3840480"/>
          </a:xfrm>
          <a:prstGeom prst="rect">
            <a:avLst/>
          </a:prstGeom>
          <a:noFill/>
        </p:spPr>
        <p:txBody>
          <a:bodyPr wrap="square">
            <a:spAutoFit/>
          </a:bodyPr>
          <a:lstStyle/>
          <a:p>
            <a:pPr algn="l">
              <a:spcAft>
                <a:spcPts val="1200"/>
              </a:spcAft>
            </a:pPr>
            <a:r>
              <a:rPr sz="1700">
                <a:solidFill>
                  <a:srgbClr val="CCCCCC"/>
                </a:solidFill>
              </a:rPr>
              <a:t>  YAML frontmatter (the --- block) tells Claude when and how to use the skill.</a:t>
            </a:r>
          </a:p>
          <a:p>
            <a:pPr algn="l">
              <a:spcAft>
                <a:spcPts val="1200"/>
              </a:spcAft>
            </a:pPr>
            <a:r>
              <a:rPr sz="1700">
                <a:solidFill>
                  <a:srgbClr val="CCCCCC"/>
                </a:solidFill>
              </a:rPr>
              <a:t>  name: the display name and the /command you type. Optional - defaults to folder name.</a:t>
            </a:r>
          </a:p>
          <a:p>
            <a:pPr algn="l">
              <a:spcAft>
                <a:spcPts val="1200"/>
              </a:spcAft>
            </a:pPr>
            <a:r>
              <a:rPr sz="1700">
                <a:solidFill>
                  <a:srgbClr val="CCCCCC"/>
                </a:solidFill>
              </a:rPr>
              <a:t>  description: the trigger. Claude reads this to decide whether to load the skill.</a:t>
            </a:r>
          </a:p>
          <a:p>
            <a:pPr algn="l">
              <a:spcAft>
                <a:spcPts val="1200"/>
              </a:spcAft>
            </a:pPr>
            <a:r>
              <a:rPr sz="1700">
                <a:solidFill>
                  <a:srgbClr val="CCCCCC"/>
                </a:solidFill>
              </a:rPr>
              <a:t>  The markdown body is the instructions Claude follows when the skill runs.</a:t>
            </a:r>
          </a:p>
          <a:p>
            <a:pPr algn="l">
              <a:spcAft>
                <a:spcPts val="1200"/>
              </a:spcAft>
            </a:pPr>
            <a:r>
              <a:rPr sz="1700">
                <a:solidFill>
                  <a:srgbClr val="CCCCCC"/>
                </a:solidFill>
              </a:rPr>
              <a:t>  Only description is recommended. All other frontmatter fields are optional.</a:t>
            </a:r>
          </a:p>
        </p:txBody>
      </p:sp>
      <p:sp>
        <p:nvSpPr>
          <p:cNvPr id="8" name="Rectangle 7"/>
          <p:cNvSpPr/>
          <p:nvPr/>
        </p:nvSpPr>
        <p:spPr>
          <a:xfrm>
            <a:off x="7132320" y="1783080"/>
            <a:ext cx="4663440" cy="438912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69480" y="1920240"/>
            <a:ext cx="4389120" cy="4114800"/>
          </a:xfrm>
          <a:prstGeom prst="rect">
            <a:avLst/>
          </a:prstGeom>
          <a:noFill/>
        </p:spPr>
        <p:txBody>
          <a:bodyPr wrap="square">
            <a:spAutoFit/>
          </a:bodyPr>
          <a:lstStyle/>
          <a:p>
            <a:pPr algn="l"/>
            <a:r>
              <a:rPr sz="1300" b="0">
                <a:solidFill>
                  <a:srgbClr val="D47A21"/>
                </a:solidFill>
              </a:rPr>
              <a:t>---
name: standup-summary
description: |
  Summarize daily standup notes
  into a structured digest.
  Trigger on 'summarize the
  standup' or standup-*.md files.
---
# Standup Summary
Turn raw standup notes into a
structured markdown summary.
## Output template
...</a:t>
            </a:r>
          </a:p>
        </p:txBody>
      </p:sp>
      <p:sp>
        <p:nvSpPr>
          <p:cNvPr id="10" name="TextBox 9"/>
          <p:cNvSpPr txBox="1"/>
          <p:nvPr/>
        </p:nvSpPr>
        <p:spPr>
          <a:xfrm>
            <a:off x="548640" y="5989320"/>
            <a:ext cx="11430000" cy="502920"/>
          </a:xfrm>
          <a:prstGeom prst="rect">
            <a:avLst/>
          </a:prstGeom>
          <a:noFill/>
        </p:spPr>
        <p:txBody>
          <a:bodyPr wrap="square">
            <a:spAutoFit/>
          </a:bodyPr>
          <a:lstStyle/>
          <a:p>
            <a:pPr algn="l"/>
            <a:r>
              <a:rPr sz="1600" b="1">
                <a:solidFill>
                  <a:srgbClr val="D47A21"/>
                </a:solidFill>
              </a:rPr>
              <a:t>YAML (pronounced 'yam-ul') is just structured text between --- markers. No code needed.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4  ·  THE TRIGGER MECHANISM</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400" b="1">
                <a:solidFill>
                  <a:srgbClr val="FFFFFF"/>
                </a:solidFill>
              </a:rPr>
              <a:t>Skills Load Only When Their Description Matches</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74519"/>
            <a:ext cx="11430000" cy="411480"/>
          </a:xfrm>
          <a:prstGeom prst="rect">
            <a:avLst/>
          </a:prstGeom>
          <a:noFill/>
        </p:spPr>
        <p:txBody>
          <a:bodyPr wrap="square">
            <a:spAutoFit/>
          </a:bodyPr>
          <a:lstStyle/>
          <a:p>
            <a:pPr algn="l"/>
            <a:r>
              <a:rPr sz="1600" b="0">
                <a:solidFill>
                  <a:srgbClr val="888888"/>
                </a:solidFill>
              </a:rPr>
              <a:t>Skill descriptions are always in Claude's context. The full body is not.</a:t>
            </a:r>
          </a:p>
        </p:txBody>
      </p:sp>
      <p:sp>
        <p:nvSpPr>
          <p:cNvPr id="7" name="Rectangle 6"/>
          <p:cNvSpPr/>
          <p:nvPr/>
        </p:nvSpPr>
        <p:spPr>
          <a:xfrm>
            <a:off x="548640" y="2423160"/>
            <a:ext cx="11064240" cy="10058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514600"/>
            <a:ext cx="2377440" cy="365760"/>
          </a:xfrm>
          <a:prstGeom prst="rect">
            <a:avLst/>
          </a:prstGeom>
          <a:noFill/>
        </p:spPr>
        <p:txBody>
          <a:bodyPr wrap="square">
            <a:spAutoFit/>
          </a:bodyPr>
          <a:lstStyle/>
          <a:p>
            <a:pPr algn="l"/>
            <a:r>
              <a:rPr sz="1200" b="1">
                <a:solidFill>
                  <a:srgbClr val="D47A21"/>
                </a:solidFill>
              </a:rPr>
              <a:t>ALWAYS IN CONTEXT</a:t>
            </a:r>
          </a:p>
        </p:txBody>
      </p:sp>
      <p:sp>
        <p:nvSpPr>
          <p:cNvPr id="9" name="TextBox 8"/>
          <p:cNvSpPr txBox="1"/>
          <p:nvPr/>
        </p:nvSpPr>
        <p:spPr>
          <a:xfrm>
            <a:off x="3291840" y="2514600"/>
            <a:ext cx="4754880" cy="365760"/>
          </a:xfrm>
          <a:prstGeom prst="rect">
            <a:avLst/>
          </a:prstGeom>
          <a:noFill/>
        </p:spPr>
        <p:txBody>
          <a:bodyPr wrap="square">
            <a:spAutoFit/>
          </a:bodyPr>
          <a:lstStyle/>
          <a:p>
            <a:pPr algn="l"/>
            <a:r>
              <a:rPr sz="1300" b="1">
                <a:solidFill>
                  <a:srgbClr val="FFFFFF"/>
                </a:solidFill>
              </a:rPr>
              <a:t>description field (truncated at 1,536 characters)</a:t>
            </a:r>
          </a:p>
        </p:txBody>
      </p:sp>
      <p:sp>
        <p:nvSpPr>
          <p:cNvPr id="10" name="TextBox 9"/>
          <p:cNvSpPr txBox="1"/>
          <p:nvPr/>
        </p:nvSpPr>
        <p:spPr>
          <a:xfrm>
            <a:off x="8229600" y="2514600"/>
            <a:ext cx="3200400" cy="822960"/>
          </a:xfrm>
          <a:prstGeom prst="rect">
            <a:avLst/>
          </a:prstGeom>
          <a:noFill/>
        </p:spPr>
        <p:txBody>
          <a:bodyPr wrap="square">
            <a:spAutoFit/>
          </a:bodyPr>
          <a:lstStyle/>
          <a:p>
            <a:pPr algn="l"/>
            <a:r>
              <a:rPr sz="1200" b="0">
                <a:solidFill>
                  <a:srgbClr val="CCCCCC"/>
                </a:solidFill>
              </a:rPr>
              <a:t>Claude scans this every turn to decide whether to load the skill.</a:t>
            </a:r>
          </a:p>
        </p:txBody>
      </p:sp>
      <p:sp>
        <p:nvSpPr>
          <p:cNvPr id="11" name="Rectangle 10"/>
          <p:cNvSpPr/>
          <p:nvPr/>
        </p:nvSpPr>
        <p:spPr>
          <a:xfrm>
            <a:off x="548640" y="3566160"/>
            <a:ext cx="11064240" cy="10058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657600"/>
            <a:ext cx="2377440" cy="365760"/>
          </a:xfrm>
          <a:prstGeom prst="rect">
            <a:avLst/>
          </a:prstGeom>
          <a:noFill/>
        </p:spPr>
        <p:txBody>
          <a:bodyPr wrap="square">
            <a:spAutoFit/>
          </a:bodyPr>
          <a:lstStyle/>
          <a:p>
            <a:pPr algn="l"/>
            <a:r>
              <a:rPr sz="1200" b="1">
                <a:solidFill>
                  <a:srgbClr val="D47A21"/>
                </a:solidFill>
              </a:rPr>
              <a:t>LOADS ON TRIGGER</a:t>
            </a:r>
          </a:p>
        </p:txBody>
      </p:sp>
      <p:sp>
        <p:nvSpPr>
          <p:cNvPr id="13" name="TextBox 12"/>
          <p:cNvSpPr txBox="1"/>
          <p:nvPr/>
        </p:nvSpPr>
        <p:spPr>
          <a:xfrm>
            <a:off x="3291840" y="3657600"/>
            <a:ext cx="4754880" cy="365760"/>
          </a:xfrm>
          <a:prstGeom prst="rect">
            <a:avLst/>
          </a:prstGeom>
          <a:noFill/>
        </p:spPr>
        <p:txBody>
          <a:bodyPr wrap="square">
            <a:spAutoFit/>
          </a:bodyPr>
          <a:lstStyle/>
          <a:p>
            <a:pPr algn="l"/>
            <a:r>
              <a:rPr sz="1300" b="1">
                <a:solidFill>
                  <a:srgbClr val="FFFFFF"/>
                </a:solidFill>
              </a:rPr>
              <a:t>full SKILL.md body + supporting files</a:t>
            </a:r>
          </a:p>
        </p:txBody>
      </p:sp>
      <p:sp>
        <p:nvSpPr>
          <p:cNvPr id="14" name="TextBox 13"/>
          <p:cNvSpPr txBox="1"/>
          <p:nvPr/>
        </p:nvSpPr>
        <p:spPr>
          <a:xfrm>
            <a:off x="8229600" y="3657600"/>
            <a:ext cx="3200400" cy="822960"/>
          </a:xfrm>
          <a:prstGeom prst="rect">
            <a:avLst/>
          </a:prstGeom>
          <a:noFill/>
        </p:spPr>
        <p:txBody>
          <a:bodyPr wrap="square">
            <a:spAutoFit/>
          </a:bodyPr>
          <a:lstStyle/>
          <a:p>
            <a:pPr algn="l"/>
            <a:r>
              <a:rPr sz="1200" b="0">
                <a:solidFill>
                  <a:srgbClr val="CCCCCC"/>
                </a:solidFill>
              </a:rPr>
              <a:t>Enters conversation when Claude matches the description or you type /skill-name.</a:t>
            </a:r>
          </a:p>
        </p:txBody>
      </p:sp>
      <p:sp>
        <p:nvSpPr>
          <p:cNvPr id="15" name="Rectangle 14"/>
          <p:cNvSpPr/>
          <p:nvPr/>
        </p:nvSpPr>
        <p:spPr>
          <a:xfrm>
            <a:off x="548640" y="4709160"/>
            <a:ext cx="11064240" cy="10058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800600"/>
            <a:ext cx="2377440" cy="365760"/>
          </a:xfrm>
          <a:prstGeom prst="rect">
            <a:avLst/>
          </a:prstGeom>
          <a:noFill/>
        </p:spPr>
        <p:txBody>
          <a:bodyPr wrap="square">
            <a:spAutoFit/>
          </a:bodyPr>
          <a:lstStyle/>
          <a:p>
            <a:pPr algn="l"/>
            <a:r>
              <a:rPr sz="1200" b="1">
                <a:solidFill>
                  <a:srgbClr val="D47A21"/>
                </a:solidFill>
              </a:rPr>
              <a:t>LOADS ON DEMAND</a:t>
            </a:r>
          </a:p>
        </p:txBody>
      </p:sp>
      <p:sp>
        <p:nvSpPr>
          <p:cNvPr id="17" name="TextBox 16"/>
          <p:cNvSpPr txBox="1"/>
          <p:nvPr/>
        </p:nvSpPr>
        <p:spPr>
          <a:xfrm>
            <a:off x="3291840" y="4800600"/>
            <a:ext cx="4754880" cy="365760"/>
          </a:xfrm>
          <a:prstGeom prst="rect">
            <a:avLst/>
          </a:prstGeom>
          <a:noFill/>
        </p:spPr>
        <p:txBody>
          <a:bodyPr wrap="square">
            <a:spAutoFit/>
          </a:bodyPr>
          <a:lstStyle/>
          <a:p>
            <a:pPr algn="l"/>
            <a:r>
              <a:rPr sz="1300" b="1">
                <a:solidFill>
                  <a:srgbClr val="FFFFFF"/>
                </a:solidFill>
              </a:rPr>
              <a:t>references/, scripts/, assets/ subdirectories</a:t>
            </a:r>
          </a:p>
        </p:txBody>
      </p:sp>
      <p:sp>
        <p:nvSpPr>
          <p:cNvPr id="18" name="TextBox 17"/>
          <p:cNvSpPr txBox="1"/>
          <p:nvPr/>
        </p:nvSpPr>
        <p:spPr>
          <a:xfrm>
            <a:off x="8229600" y="4800600"/>
            <a:ext cx="3200400" cy="822960"/>
          </a:xfrm>
          <a:prstGeom prst="rect">
            <a:avLst/>
          </a:prstGeom>
          <a:noFill/>
        </p:spPr>
        <p:txBody>
          <a:bodyPr wrap="square">
            <a:spAutoFit/>
          </a:bodyPr>
          <a:lstStyle/>
          <a:p>
            <a:pPr algn="l"/>
            <a:r>
              <a:rPr sz="1200" b="0">
                <a:solidFill>
                  <a:srgbClr val="CCCCCC"/>
                </a:solidFill>
              </a:rPr>
              <a:t>Claude reads these only when the skill body explicitly points to them.</a:t>
            </a:r>
          </a:p>
        </p:txBody>
      </p:sp>
      <p:sp>
        <p:nvSpPr>
          <p:cNvPr id="19" name="TextBox 18"/>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put trigger phrases like 'summarize the standup' or 'draft an email' directly in description. That is the whole mechanism.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PROGRESSIVE DISCLOSURE</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400" b="1">
                <a:solidFill>
                  <a:srgbClr val="FFFFFF"/>
                </a:solidFill>
              </a:rPr>
              <a:t>Three Layers Load in Order, Not All at Once</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1430000" cy="411480"/>
          </a:xfrm>
          <a:prstGeom prst="rect">
            <a:avLst/>
          </a:prstGeom>
          <a:noFill/>
        </p:spPr>
        <p:txBody>
          <a:bodyPr wrap="square">
            <a:spAutoFit/>
          </a:bodyPr>
          <a:lstStyle/>
          <a:p>
            <a:pPr algn="l"/>
            <a:r>
              <a:rPr sz="1500" b="0">
                <a:solidFill>
                  <a:srgbClr val="888888"/>
                </a:solidFill>
              </a:rPr>
              <a:t>Progressive disclosure means Claude pays only for what it actually needs.</a:t>
            </a:r>
          </a:p>
        </p:txBody>
      </p:sp>
      <p:sp>
        <p:nvSpPr>
          <p:cNvPr id="7" name="Rectangle 6"/>
          <p:cNvSpPr/>
          <p:nvPr/>
        </p:nvSpPr>
        <p:spPr>
          <a:xfrm>
            <a:off x="457200" y="2377440"/>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2395728"/>
            <a:ext cx="493776" cy="594360"/>
          </a:xfrm>
          <a:prstGeom prst="rect">
            <a:avLst/>
          </a:prstGeom>
          <a:noFill/>
        </p:spPr>
        <p:txBody>
          <a:bodyPr wrap="square">
            <a:spAutoFit/>
          </a:bodyPr>
          <a:lstStyle/>
          <a:p>
            <a:pPr algn="ctr"/>
            <a:r>
              <a:rPr sz="2000" b="1">
                <a:solidFill>
                  <a:srgbClr val="0D0D0D"/>
                </a:solidFill>
              </a:rPr>
              <a:t>1</a:t>
            </a:r>
          </a:p>
        </p:txBody>
      </p:sp>
      <p:sp>
        <p:nvSpPr>
          <p:cNvPr id="9" name="TextBox 8"/>
          <p:cNvSpPr txBox="1"/>
          <p:nvPr/>
        </p:nvSpPr>
        <p:spPr>
          <a:xfrm>
            <a:off x="1143000" y="2414016"/>
            <a:ext cx="3200400" cy="384048"/>
          </a:xfrm>
          <a:prstGeom prst="rect">
            <a:avLst/>
          </a:prstGeom>
          <a:noFill/>
        </p:spPr>
        <p:txBody>
          <a:bodyPr wrap="square">
            <a:spAutoFit/>
          </a:bodyPr>
          <a:lstStyle/>
          <a:p>
            <a:pPr algn="l"/>
            <a:r>
              <a:rPr sz="1800" b="1">
                <a:solidFill>
                  <a:srgbClr val="FFFFFF"/>
                </a:solidFill>
              </a:rPr>
              <a:t>Metadata layer</a:t>
            </a:r>
          </a:p>
        </p:txBody>
      </p:sp>
      <p:sp>
        <p:nvSpPr>
          <p:cNvPr id="10" name="TextBox 9"/>
          <p:cNvSpPr txBox="1"/>
          <p:nvPr/>
        </p:nvSpPr>
        <p:spPr>
          <a:xfrm>
            <a:off x="1143000" y="2834640"/>
            <a:ext cx="10058400" cy="502920"/>
          </a:xfrm>
          <a:prstGeom prst="rect">
            <a:avLst/>
          </a:prstGeom>
          <a:noFill/>
        </p:spPr>
        <p:txBody>
          <a:bodyPr wrap="square">
            <a:spAutoFit/>
          </a:bodyPr>
          <a:lstStyle/>
          <a:p>
            <a:pPr algn="l"/>
            <a:r>
              <a:rPr sz="1400" b="0">
                <a:solidFill>
                  <a:srgbClr val="CCCCCC"/>
                </a:solidFill>
              </a:rPr>
              <a:t>Name + description. Always in context, zero extra cost. Claude uses this to decide.</a:t>
            </a:r>
          </a:p>
        </p:txBody>
      </p:sp>
      <p:sp>
        <p:nvSpPr>
          <p:cNvPr id="11" name="Rectangle 10"/>
          <p:cNvSpPr/>
          <p:nvPr/>
        </p:nvSpPr>
        <p:spPr>
          <a:xfrm>
            <a:off x="548640" y="3364992"/>
            <a:ext cx="11064240" cy="1905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474720"/>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3493008"/>
            <a:ext cx="493776" cy="594360"/>
          </a:xfrm>
          <a:prstGeom prst="rect">
            <a:avLst/>
          </a:prstGeom>
          <a:noFill/>
        </p:spPr>
        <p:txBody>
          <a:bodyPr wrap="square">
            <a:spAutoFit/>
          </a:bodyPr>
          <a:lstStyle/>
          <a:p>
            <a:pPr algn="ctr"/>
            <a:r>
              <a:rPr sz="2000" b="1">
                <a:solidFill>
                  <a:srgbClr val="0D0D0D"/>
                </a:solidFill>
              </a:rPr>
              <a:t>2</a:t>
            </a:r>
          </a:p>
        </p:txBody>
      </p:sp>
      <p:sp>
        <p:nvSpPr>
          <p:cNvPr id="14" name="TextBox 13"/>
          <p:cNvSpPr txBox="1"/>
          <p:nvPr/>
        </p:nvSpPr>
        <p:spPr>
          <a:xfrm>
            <a:off x="1143000" y="3511296"/>
            <a:ext cx="3200400" cy="384048"/>
          </a:xfrm>
          <a:prstGeom prst="rect">
            <a:avLst/>
          </a:prstGeom>
          <a:noFill/>
        </p:spPr>
        <p:txBody>
          <a:bodyPr wrap="square">
            <a:spAutoFit/>
          </a:bodyPr>
          <a:lstStyle/>
          <a:p>
            <a:pPr algn="l"/>
            <a:r>
              <a:rPr sz="1800" b="1">
                <a:solidFill>
                  <a:srgbClr val="FFFFFF"/>
                </a:solidFill>
              </a:rPr>
              <a:t>Body layer</a:t>
            </a:r>
          </a:p>
        </p:txBody>
      </p:sp>
      <p:sp>
        <p:nvSpPr>
          <p:cNvPr id="15" name="TextBox 14"/>
          <p:cNvSpPr txBox="1"/>
          <p:nvPr/>
        </p:nvSpPr>
        <p:spPr>
          <a:xfrm>
            <a:off x="1143000" y="3931920"/>
            <a:ext cx="10058400" cy="502920"/>
          </a:xfrm>
          <a:prstGeom prst="rect">
            <a:avLst/>
          </a:prstGeom>
          <a:noFill/>
        </p:spPr>
        <p:txBody>
          <a:bodyPr wrap="square">
            <a:spAutoFit/>
          </a:bodyPr>
          <a:lstStyle/>
          <a:p>
            <a:pPr algn="l"/>
            <a:r>
              <a:rPr sz="1400" b="0">
                <a:solidFill>
                  <a:srgbClr val="CCCCCC"/>
                </a:solidFill>
              </a:rPr>
              <a:t>SKILL.md instructions. Loads the moment the skill triggers. Stays for the rest of the session.</a:t>
            </a:r>
          </a:p>
        </p:txBody>
      </p:sp>
      <p:sp>
        <p:nvSpPr>
          <p:cNvPr id="16" name="Rectangle 15"/>
          <p:cNvSpPr/>
          <p:nvPr/>
        </p:nvSpPr>
        <p:spPr>
          <a:xfrm>
            <a:off x="548640" y="4462272"/>
            <a:ext cx="11064240" cy="1905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572000"/>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4590288"/>
            <a:ext cx="493776" cy="594360"/>
          </a:xfrm>
          <a:prstGeom prst="rect">
            <a:avLst/>
          </a:prstGeom>
          <a:noFill/>
        </p:spPr>
        <p:txBody>
          <a:bodyPr wrap="square">
            <a:spAutoFit/>
          </a:bodyPr>
          <a:lstStyle/>
          <a:p>
            <a:pPr algn="ctr"/>
            <a:r>
              <a:rPr sz="2000" b="1">
                <a:solidFill>
                  <a:srgbClr val="0D0D0D"/>
                </a:solidFill>
              </a:rPr>
              <a:t>3</a:t>
            </a:r>
          </a:p>
        </p:txBody>
      </p:sp>
      <p:sp>
        <p:nvSpPr>
          <p:cNvPr id="19" name="TextBox 18"/>
          <p:cNvSpPr txBox="1"/>
          <p:nvPr/>
        </p:nvSpPr>
        <p:spPr>
          <a:xfrm>
            <a:off x="1143000" y="4608576"/>
            <a:ext cx="3200400" cy="384048"/>
          </a:xfrm>
          <a:prstGeom prst="rect">
            <a:avLst/>
          </a:prstGeom>
          <a:noFill/>
        </p:spPr>
        <p:txBody>
          <a:bodyPr wrap="square">
            <a:spAutoFit/>
          </a:bodyPr>
          <a:lstStyle/>
          <a:p>
            <a:pPr algn="l"/>
            <a:r>
              <a:rPr sz="1800" b="1">
                <a:solidFill>
                  <a:srgbClr val="FFFFFF"/>
                </a:solidFill>
              </a:rPr>
              <a:t>Resource layer</a:t>
            </a:r>
          </a:p>
        </p:txBody>
      </p:sp>
      <p:sp>
        <p:nvSpPr>
          <p:cNvPr id="20" name="TextBox 19"/>
          <p:cNvSpPr txBox="1"/>
          <p:nvPr/>
        </p:nvSpPr>
        <p:spPr>
          <a:xfrm>
            <a:off x="1143000" y="5029200"/>
            <a:ext cx="10058400" cy="502920"/>
          </a:xfrm>
          <a:prstGeom prst="rect">
            <a:avLst/>
          </a:prstGeom>
          <a:noFill/>
        </p:spPr>
        <p:txBody>
          <a:bodyPr wrap="square">
            <a:spAutoFit/>
          </a:bodyPr>
          <a:lstStyle/>
          <a:p>
            <a:pPr algn="l"/>
            <a:r>
              <a:rPr sz="1400" b="0">
                <a:solidFill>
                  <a:srgbClr val="CCCCCC"/>
                </a:solidFill>
              </a:rPr>
              <a:t>references/, scripts/, assets/ files. Claude reads these only when the body explicitly points to them.</a:t>
            </a:r>
          </a:p>
        </p:txBody>
      </p:sp>
      <p:sp>
        <p:nvSpPr>
          <p:cNvPr id="21" name="TextBox 20"/>
          <p:cNvSpPr txBox="1"/>
          <p:nvPr/>
        </p:nvSpPr>
        <p:spPr>
          <a:xfrm>
            <a:off x="548640" y="5989320"/>
            <a:ext cx="11430000" cy="502920"/>
          </a:xfrm>
          <a:prstGeom prst="rect">
            <a:avLst/>
          </a:prstGeom>
          <a:noFill/>
        </p:spPr>
        <p:txBody>
          <a:bodyPr wrap="square">
            <a:spAutoFit/>
          </a:bodyPr>
          <a:lstStyle/>
          <a:p>
            <a:pPr algn="l"/>
            <a:r>
              <a:rPr sz="1600" b="1">
                <a:solidFill>
                  <a:srgbClr val="D47A21"/>
                </a:solidFill>
              </a:rPr>
              <a:t>keep the description sharp, keep the body focused, park heavy reference docs in subfolders.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WHERE SKILLS LIVE</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200" b="1">
                <a:solidFill>
                  <a:srgbClr val="FFFFFF"/>
                </a:solidFill>
              </a:rPr>
              <a:t>Personal Skills Follow You. Project Skills Stay in the Repo.</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20240"/>
            <a:ext cx="5577840" cy="36576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03120"/>
            <a:ext cx="5120640" cy="365760"/>
          </a:xfrm>
          <a:prstGeom prst="rect">
            <a:avLst/>
          </a:prstGeom>
          <a:noFill/>
        </p:spPr>
        <p:txBody>
          <a:bodyPr wrap="square">
            <a:spAutoFit/>
          </a:bodyPr>
          <a:lstStyle/>
          <a:p>
            <a:pPr algn="l"/>
            <a:r>
              <a:rPr sz="1300" b="1">
                <a:solidFill>
                  <a:srgbClr val="D47A21"/>
                </a:solidFill>
              </a:rPr>
              <a:t>PERSONAL</a:t>
            </a:r>
          </a:p>
        </p:txBody>
      </p:sp>
      <p:sp>
        <p:nvSpPr>
          <p:cNvPr id="8" name="TextBox 7"/>
          <p:cNvSpPr txBox="1"/>
          <p:nvPr/>
        </p:nvSpPr>
        <p:spPr>
          <a:xfrm>
            <a:off x="685800" y="2560320"/>
            <a:ext cx="5120640" cy="502920"/>
          </a:xfrm>
          <a:prstGeom prst="rect">
            <a:avLst/>
          </a:prstGeom>
          <a:noFill/>
        </p:spPr>
        <p:txBody>
          <a:bodyPr wrap="square">
            <a:spAutoFit/>
          </a:bodyPr>
          <a:lstStyle/>
          <a:p>
            <a:pPr algn="l"/>
            <a:r>
              <a:rPr sz="1600" b="1">
                <a:solidFill>
                  <a:srgbClr val="FFFFFF"/>
                </a:solidFill>
              </a:rPr>
              <a:t>~/.claude/skills/&lt;skill-name&gt;/</a:t>
            </a:r>
          </a:p>
        </p:txBody>
      </p:sp>
      <p:sp>
        <p:nvSpPr>
          <p:cNvPr id="9" name="TextBox 8"/>
          <p:cNvSpPr txBox="1"/>
          <p:nvPr/>
        </p:nvSpPr>
        <p:spPr>
          <a:xfrm>
            <a:off x="594360" y="3154680"/>
            <a:ext cx="5303520" cy="2286000"/>
          </a:xfrm>
          <a:prstGeom prst="rect">
            <a:avLst/>
          </a:prstGeom>
          <a:noFill/>
        </p:spPr>
        <p:txBody>
          <a:bodyPr wrap="square">
            <a:spAutoFit/>
          </a:bodyPr>
          <a:lstStyle/>
          <a:p>
            <a:pPr algn="l">
              <a:spcAft>
                <a:spcPts val="1000"/>
              </a:spcAft>
            </a:pPr>
            <a:r>
              <a:rPr sz="1400">
                <a:solidFill>
                  <a:srgbClr val="CCCCCC"/>
                </a:solidFill>
              </a:rPr>
              <a:t>  Available in every project you open.</a:t>
            </a:r>
          </a:p>
          <a:p>
            <a:pPr algn="l">
              <a:spcAft>
                <a:spcPts val="1000"/>
              </a:spcAft>
            </a:pPr>
            <a:r>
              <a:rPr sz="1400">
                <a:solidFill>
                  <a:srgbClr val="CCCCCC"/>
                </a:solidFill>
              </a:rPr>
              <a:t>  Only you can see and use them.</a:t>
            </a:r>
          </a:p>
          <a:p>
            <a:pPr algn="l">
              <a:spcAft>
                <a:spcPts val="1000"/>
              </a:spcAft>
            </a:pPr>
            <a:r>
              <a:rPr sz="1400">
                <a:solidFill>
                  <a:srgbClr val="CCCCCC"/>
                </a:solidFill>
              </a:rPr>
              <a:t>  Best for: email drafting, standup summary,</a:t>
            </a:r>
          </a:p>
          <a:p>
            <a:pPr algn="l">
              <a:spcAft>
                <a:spcPts val="1000"/>
              </a:spcAft>
            </a:pPr>
            <a:r>
              <a:rPr sz="1400">
                <a:solidFill>
                  <a:srgbClr val="CCCCCC"/>
                </a:solidFill>
              </a:rPr>
              <a:t>    presentation builder, OKR writer.</a:t>
            </a:r>
          </a:p>
          <a:p>
            <a:pPr algn="l">
              <a:spcAft>
                <a:spcPts val="1000"/>
              </a:spcAft>
            </a:pPr>
            <a:r>
              <a:rPr sz="1400">
                <a:solidFill>
                  <a:srgbClr val="CCCCCC"/>
                </a:solidFill>
              </a:rPr>
              <a:t>  Create once. Reuse across every workspace.</a:t>
            </a:r>
          </a:p>
        </p:txBody>
      </p:sp>
      <p:sp>
        <p:nvSpPr>
          <p:cNvPr id="10" name="Rectangle 9"/>
          <p:cNvSpPr/>
          <p:nvPr/>
        </p:nvSpPr>
        <p:spPr>
          <a:xfrm>
            <a:off x="6309360" y="1920240"/>
            <a:ext cx="5486400" cy="36576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103120"/>
            <a:ext cx="5120640" cy="365760"/>
          </a:xfrm>
          <a:prstGeom prst="rect">
            <a:avLst/>
          </a:prstGeom>
          <a:noFill/>
        </p:spPr>
        <p:txBody>
          <a:bodyPr wrap="square">
            <a:spAutoFit/>
          </a:bodyPr>
          <a:lstStyle/>
          <a:p>
            <a:pPr algn="l"/>
            <a:r>
              <a:rPr sz="1300" b="1">
                <a:solidFill>
                  <a:srgbClr val="D47A21"/>
                </a:solidFill>
              </a:rPr>
              <a:t>PROJECT</a:t>
            </a:r>
          </a:p>
        </p:txBody>
      </p:sp>
      <p:sp>
        <p:nvSpPr>
          <p:cNvPr id="12" name="TextBox 11"/>
          <p:cNvSpPr txBox="1"/>
          <p:nvPr/>
        </p:nvSpPr>
        <p:spPr>
          <a:xfrm>
            <a:off x="6537960" y="2560320"/>
            <a:ext cx="5120640" cy="502920"/>
          </a:xfrm>
          <a:prstGeom prst="rect">
            <a:avLst/>
          </a:prstGeom>
          <a:noFill/>
        </p:spPr>
        <p:txBody>
          <a:bodyPr wrap="square">
            <a:spAutoFit/>
          </a:bodyPr>
          <a:lstStyle/>
          <a:p>
            <a:pPr algn="l"/>
            <a:r>
              <a:rPr sz="1600" b="1">
                <a:solidFill>
                  <a:srgbClr val="FFFFFF"/>
                </a:solidFill>
              </a:rPr>
              <a:t>.claude/skills/&lt;skill-name&gt;/</a:t>
            </a:r>
          </a:p>
        </p:txBody>
      </p:sp>
      <p:sp>
        <p:nvSpPr>
          <p:cNvPr id="13" name="TextBox 12"/>
          <p:cNvSpPr txBox="1"/>
          <p:nvPr/>
        </p:nvSpPr>
        <p:spPr>
          <a:xfrm>
            <a:off x="6446520" y="3154680"/>
            <a:ext cx="5303520" cy="2286000"/>
          </a:xfrm>
          <a:prstGeom prst="rect">
            <a:avLst/>
          </a:prstGeom>
          <a:noFill/>
        </p:spPr>
        <p:txBody>
          <a:bodyPr wrap="square">
            <a:spAutoFit/>
          </a:bodyPr>
          <a:lstStyle/>
          <a:p>
            <a:pPr algn="l">
              <a:spcAft>
                <a:spcPts val="1000"/>
              </a:spcAft>
            </a:pPr>
            <a:r>
              <a:rPr sz="1400">
                <a:solidFill>
                  <a:srgbClr val="CCCCCC"/>
                </a:solidFill>
              </a:rPr>
              <a:t>  Lives inside the repo. Shared with the team.</a:t>
            </a:r>
          </a:p>
          <a:p>
            <a:pPr algn="l">
              <a:spcAft>
                <a:spcPts val="1000"/>
              </a:spcAft>
            </a:pPr>
            <a:r>
              <a:rPr sz="1400">
                <a:solidFill>
                  <a:srgbClr val="CCCCCC"/>
                </a:solidFill>
              </a:rPr>
              <a:t>  Committed to version control alongside code.</a:t>
            </a:r>
          </a:p>
          <a:p>
            <a:pPr algn="l">
              <a:spcAft>
                <a:spcPts val="1000"/>
              </a:spcAft>
            </a:pPr>
            <a:r>
              <a:rPr sz="1400">
                <a:solidFill>
                  <a:srgbClr val="CCCCCC"/>
                </a:solidFill>
              </a:rPr>
              <a:t>  Best for: team-specific workflows, shared</a:t>
            </a:r>
          </a:p>
          <a:p>
            <a:pPr algn="l">
              <a:spcAft>
                <a:spcPts val="1000"/>
              </a:spcAft>
            </a:pPr>
            <a:r>
              <a:rPr sz="1400">
                <a:solidFill>
                  <a:srgbClr val="CCCCCC"/>
                </a:solidFill>
              </a:rPr>
              <a:t>    templates, project conventions.</a:t>
            </a:r>
          </a:p>
          <a:p>
            <a:pPr algn="l">
              <a:spcAft>
                <a:spcPts val="1000"/>
              </a:spcAft>
            </a:pPr>
            <a:r>
              <a:rPr sz="1400">
                <a:solidFill>
                  <a:srgbClr val="CCCCCC"/>
                </a:solidFill>
              </a:rPr>
              <a:t>  Check it in once. The whole team benefits.</a:t>
            </a:r>
          </a:p>
        </p:txBody>
      </p:sp>
      <p:sp>
        <p:nvSpPr>
          <p:cNvPr id="14" name="TextBox 13"/>
          <p:cNvSpPr txBox="1"/>
          <p:nvPr/>
        </p:nvSpPr>
        <p:spPr>
          <a:xfrm>
            <a:off x="548640" y="5989320"/>
            <a:ext cx="11430000" cy="502920"/>
          </a:xfrm>
          <a:prstGeom prst="rect">
            <a:avLst/>
          </a:prstGeom>
          <a:noFill/>
        </p:spPr>
        <p:txBody>
          <a:bodyPr wrap="square">
            <a:spAutoFit/>
          </a:bodyPr>
          <a:lstStyle/>
          <a:p>
            <a:pPr algn="l"/>
            <a:r>
              <a:rPr sz="1600" b="1">
                <a:solidFill>
                  <a:srgbClr val="D47A21"/>
                </a:solidFill>
              </a:rPr>
              <a:t>your personal skill folder is your private toolkit. The project folder is the team playbook.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FOLDER STRUCTURE</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400" b="1">
                <a:solidFill>
                  <a:srgbClr val="FFFFFF"/>
                </a:solidFill>
              </a:rPr>
              <a:t>One Folder Per Skill. SKILL.md Under 500 Lines.</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6217920" cy="3657600"/>
          </a:xfrm>
          <a:prstGeom prst="rect">
            <a:avLst/>
          </a:prstGeom>
          <a:noFill/>
        </p:spPr>
        <p:txBody>
          <a:bodyPr wrap="square">
            <a:spAutoFit/>
          </a:bodyPr>
          <a:lstStyle/>
          <a:p>
            <a:pPr algn="l">
              <a:spcAft>
                <a:spcPts val="1200"/>
              </a:spcAft>
            </a:pPr>
            <a:r>
              <a:rPr sz="1700">
                <a:solidFill>
                  <a:srgbClr val="CCCCCC"/>
                </a:solidFill>
              </a:rPr>
              <a:t>  Each skill gets its own folder. The folder name becomes the /command.</a:t>
            </a:r>
          </a:p>
          <a:p>
            <a:pPr algn="l">
              <a:spcAft>
                <a:spcPts val="1200"/>
              </a:spcAft>
            </a:pPr>
            <a:r>
              <a:rPr sz="1700">
                <a:solidFill>
                  <a:srgbClr val="CCCCCC"/>
                </a:solidFill>
              </a:rPr>
              <a:t>  SKILL.md is required. All other files are optional but powerful.</a:t>
            </a:r>
          </a:p>
          <a:p>
            <a:pPr algn="l">
              <a:spcAft>
                <a:spcPts val="1200"/>
              </a:spcAft>
            </a:pPr>
            <a:r>
              <a:rPr sz="1700">
                <a:solidFill>
                  <a:srgbClr val="CCCCCC"/>
                </a:solidFill>
              </a:rPr>
              <a:t>  references/ holds detailed docs Claude loads on demand, not on startup.</a:t>
            </a:r>
          </a:p>
          <a:p>
            <a:pPr algn="l">
              <a:spcAft>
                <a:spcPts val="1200"/>
              </a:spcAft>
            </a:pPr>
            <a:r>
              <a:rPr sz="1700">
                <a:solidFill>
                  <a:srgbClr val="CCCCCC"/>
                </a:solidFill>
              </a:rPr>
              <a:t>  scripts/ holds code Claude can execute. assets/ holds templates, examples.</a:t>
            </a:r>
          </a:p>
          <a:p>
            <a:pPr algn="l">
              <a:spcAft>
                <a:spcPts val="1200"/>
              </a:spcAft>
            </a:pPr>
            <a:r>
              <a:rPr sz="1700">
                <a:solidFill>
                  <a:srgbClr val="CCCCCC"/>
                </a:solidFill>
              </a:rPr>
              <a:t>  Body cap: keep SKILL.md under 500 lines. Overflow goes to subfolders.</a:t>
            </a:r>
          </a:p>
        </p:txBody>
      </p:sp>
      <p:sp>
        <p:nvSpPr>
          <p:cNvPr id="7" name="Rectangle 6"/>
          <p:cNvSpPr/>
          <p:nvPr/>
        </p:nvSpPr>
        <p:spPr>
          <a:xfrm>
            <a:off x="7132320" y="1783080"/>
            <a:ext cx="4663440" cy="438912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69480" y="1920240"/>
            <a:ext cx="4389120" cy="4114800"/>
          </a:xfrm>
          <a:prstGeom prst="rect">
            <a:avLst/>
          </a:prstGeom>
          <a:noFill/>
        </p:spPr>
        <p:txBody>
          <a:bodyPr wrap="square">
            <a:spAutoFit/>
          </a:bodyPr>
          <a:lstStyle/>
          <a:p>
            <a:pPr algn="l"/>
            <a:r>
              <a:rPr sz="1300" b="0">
                <a:solidFill>
                  <a:srgbClr val="D47A21"/>
                </a:solidFill>
              </a:rPr>
              <a:t>my-skill/
  SKILL.md          &lt;- required
  references/
    api-docs.md     &lt;- load on demand
    style-guide.md  &lt;- load on demand
  scripts/
    validate.sh     &lt;- executed
  assets/
    template.md     &lt;- examples
    sample.md       &lt;- examples</a:t>
            </a:r>
          </a:p>
        </p:txBody>
      </p:sp>
      <p:sp>
        <p:nvSpPr>
          <p:cNvPr id="9" name="TextBox 8"/>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if your SKILL.md is approaching 500 lines, move reference docs to references/ and link to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WHEN TO CREATE A SKILL</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000" b="1">
                <a:solidFill>
                  <a:srgbClr val="FFFFFF"/>
                </a:solidFill>
              </a:rPr>
              <a:t>The 3-Repeat Rule: Paste It Three Times, Then Make It a Skill</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5303520" cy="365760"/>
          </a:xfrm>
          <a:prstGeom prst="rect">
            <a:avLst/>
          </a:prstGeom>
          <a:noFill/>
        </p:spPr>
        <p:txBody>
          <a:bodyPr wrap="square">
            <a:spAutoFit/>
          </a:bodyPr>
          <a:lstStyle/>
          <a:p>
            <a:pPr algn="l"/>
            <a:r>
              <a:rPr sz="1300" b="1">
                <a:solidFill>
                  <a:srgbClr val="FF5555"/>
                </a:solidFill>
              </a:rPr>
              <a:t>SKIP THE SKILL</a:t>
            </a:r>
          </a:p>
        </p:txBody>
      </p:sp>
      <p:sp>
        <p:nvSpPr>
          <p:cNvPr id="7" name="TextBox 6"/>
          <p:cNvSpPr txBox="1"/>
          <p:nvPr/>
        </p:nvSpPr>
        <p:spPr>
          <a:xfrm>
            <a:off x="6492240" y="1920240"/>
            <a:ext cx="5303520" cy="365760"/>
          </a:xfrm>
          <a:prstGeom prst="rect">
            <a:avLst/>
          </a:prstGeom>
          <a:noFill/>
        </p:spPr>
        <p:txBody>
          <a:bodyPr wrap="square">
            <a:spAutoFit/>
          </a:bodyPr>
          <a:lstStyle/>
          <a:p>
            <a:pPr algn="l"/>
            <a:r>
              <a:rPr sz="1300" b="1">
                <a:solidFill>
                  <a:srgbClr val="44BB44"/>
                </a:solidFill>
              </a:rPr>
              <a:t>MAKE THE SKILL</a:t>
            </a:r>
          </a:p>
        </p:txBody>
      </p:sp>
      <p:sp>
        <p:nvSpPr>
          <p:cNvPr id="8" name="Rectangle 7"/>
          <p:cNvSpPr/>
          <p:nvPr/>
        </p:nvSpPr>
        <p:spPr>
          <a:xfrm>
            <a:off x="457200" y="242316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514600"/>
            <a:ext cx="5303520" cy="548640"/>
          </a:xfrm>
          <a:prstGeom prst="rect">
            <a:avLst/>
          </a:prstGeom>
          <a:noFill/>
        </p:spPr>
        <p:txBody>
          <a:bodyPr wrap="square">
            <a:spAutoFit/>
          </a:bodyPr>
          <a:lstStyle/>
          <a:p>
            <a:pPr algn="l"/>
            <a:r>
              <a:rPr sz="1500" b="0">
                <a:solidFill>
                  <a:srgbClr val="FF8888"/>
                </a:solidFill>
              </a:rPr>
              <a:t>x  You did it once and won't repeat it.</a:t>
            </a:r>
          </a:p>
        </p:txBody>
      </p:sp>
      <p:sp>
        <p:nvSpPr>
          <p:cNvPr id="10" name="Rectangle 9"/>
          <p:cNvSpPr/>
          <p:nvPr/>
        </p:nvSpPr>
        <p:spPr>
          <a:xfrm>
            <a:off x="6355080" y="242316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514600"/>
            <a:ext cx="5212080" cy="548640"/>
          </a:xfrm>
          <a:prstGeom prst="rect">
            <a:avLst/>
          </a:prstGeom>
          <a:noFill/>
        </p:spPr>
        <p:txBody>
          <a:bodyPr wrap="square">
            <a:spAutoFit/>
          </a:bodyPr>
          <a:lstStyle/>
          <a:p>
            <a:pPr algn="l"/>
            <a:r>
              <a:rPr sz="1500" b="0">
                <a:solidFill>
                  <a:srgbClr val="88DD88"/>
                </a:solidFill>
              </a:rPr>
              <a:t>+  You paste the same instructions 3 or more times.</a:t>
            </a:r>
          </a:p>
        </p:txBody>
      </p:sp>
      <p:sp>
        <p:nvSpPr>
          <p:cNvPr id="12" name="Rectangle 11"/>
          <p:cNvSpPr/>
          <p:nvPr/>
        </p:nvSpPr>
        <p:spPr>
          <a:xfrm>
            <a:off x="457200" y="329184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383280"/>
            <a:ext cx="5303520" cy="548640"/>
          </a:xfrm>
          <a:prstGeom prst="rect">
            <a:avLst/>
          </a:prstGeom>
          <a:noFill/>
        </p:spPr>
        <p:txBody>
          <a:bodyPr wrap="square">
            <a:spAutoFit/>
          </a:bodyPr>
          <a:lstStyle/>
          <a:p>
            <a:pPr algn="l"/>
            <a:r>
              <a:rPr sz="1500" b="0">
                <a:solidFill>
                  <a:srgbClr val="FF8888"/>
                </a:solidFill>
              </a:rPr>
              <a:t>x  The task changes so much each time that no template fits.</a:t>
            </a:r>
          </a:p>
        </p:txBody>
      </p:sp>
      <p:sp>
        <p:nvSpPr>
          <p:cNvPr id="14" name="Rectangle 13"/>
          <p:cNvSpPr/>
          <p:nvPr/>
        </p:nvSpPr>
        <p:spPr>
          <a:xfrm>
            <a:off x="6355080" y="329184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3383280"/>
            <a:ext cx="5212080" cy="548640"/>
          </a:xfrm>
          <a:prstGeom prst="rect">
            <a:avLst/>
          </a:prstGeom>
          <a:noFill/>
        </p:spPr>
        <p:txBody>
          <a:bodyPr wrap="square">
            <a:spAutoFit/>
          </a:bodyPr>
          <a:lstStyle/>
          <a:p>
            <a:pPr algn="l"/>
            <a:r>
              <a:rPr sz="1500" b="0">
                <a:solidFill>
                  <a:srgbClr val="88DD88"/>
                </a:solidFill>
              </a:rPr>
              <a:t>+  A section of CLAUDE.md has grown into a procedure.</a:t>
            </a:r>
          </a:p>
        </p:txBody>
      </p:sp>
      <p:sp>
        <p:nvSpPr>
          <p:cNvPr id="16" name="Rectangle 15"/>
          <p:cNvSpPr/>
          <p:nvPr/>
        </p:nvSpPr>
        <p:spPr>
          <a:xfrm>
            <a:off x="457200" y="416052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251960"/>
            <a:ext cx="5303520" cy="548640"/>
          </a:xfrm>
          <a:prstGeom prst="rect">
            <a:avLst/>
          </a:prstGeom>
          <a:noFill/>
        </p:spPr>
        <p:txBody>
          <a:bodyPr wrap="square">
            <a:spAutoFit/>
          </a:bodyPr>
          <a:lstStyle/>
          <a:p>
            <a:pPr algn="l"/>
            <a:r>
              <a:rPr sz="1500" b="0">
                <a:solidFill>
                  <a:srgbClr val="FF8888"/>
                </a:solidFill>
              </a:rPr>
              <a:t>x  You're still figuring out the right format.</a:t>
            </a:r>
          </a:p>
        </p:txBody>
      </p:sp>
      <p:sp>
        <p:nvSpPr>
          <p:cNvPr id="18" name="Rectangle 17"/>
          <p:cNvSpPr/>
          <p:nvPr/>
        </p:nvSpPr>
        <p:spPr>
          <a:xfrm>
            <a:off x="6355080" y="416052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251960"/>
            <a:ext cx="5212080" cy="548640"/>
          </a:xfrm>
          <a:prstGeom prst="rect">
            <a:avLst/>
          </a:prstGeom>
          <a:noFill/>
        </p:spPr>
        <p:txBody>
          <a:bodyPr wrap="square">
            <a:spAutoFit/>
          </a:bodyPr>
          <a:lstStyle/>
          <a:p>
            <a:pPr algn="l"/>
            <a:r>
              <a:rPr sz="1500" b="0">
                <a:solidFill>
                  <a:srgbClr val="88DD88"/>
                </a:solidFill>
              </a:rPr>
              <a:t>+  A team member asks 'how do I get Claude to do X?'</a:t>
            </a:r>
          </a:p>
        </p:txBody>
      </p:sp>
      <p:sp>
        <p:nvSpPr>
          <p:cNvPr id="20" name="Rectangle 19"/>
          <p:cNvSpPr/>
          <p:nvPr/>
        </p:nvSpPr>
        <p:spPr>
          <a:xfrm>
            <a:off x="457200" y="502920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120640"/>
            <a:ext cx="5303520" cy="548640"/>
          </a:xfrm>
          <a:prstGeom prst="rect">
            <a:avLst/>
          </a:prstGeom>
          <a:noFill/>
        </p:spPr>
        <p:txBody>
          <a:bodyPr wrap="square">
            <a:spAutoFit/>
          </a:bodyPr>
          <a:lstStyle/>
          <a:p>
            <a:pPr algn="l"/>
            <a:r>
              <a:rPr sz="1500" b="0">
                <a:solidFill>
                  <a:srgbClr val="FF8888"/>
                </a:solidFill>
              </a:rPr>
              <a:t>x  It's a one-liner prompt with no real structure.</a:t>
            </a:r>
          </a:p>
        </p:txBody>
      </p:sp>
      <p:sp>
        <p:nvSpPr>
          <p:cNvPr id="22" name="Rectangle 21"/>
          <p:cNvSpPr/>
          <p:nvPr/>
        </p:nvSpPr>
        <p:spPr>
          <a:xfrm>
            <a:off x="6355080" y="502920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5120640"/>
            <a:ext cx="5212080" cy="548640"/>
          </a:xfrm>
          <a:prstGeom prst="rect">
            <a:avLst/>
          </a:prstGeom>
          <a:noFill/>
        </p:spPr>
        <p:txBody>
          <a:bodyPr wrap="square">
            <a:spAutoFit/>
          </a:bodyPr>
          <a:lstStyle/>
          <a:p>
            <a:pPr algn="l"/>
            <a:r>
              <a:rPr sz="1500" b="0">
                <a:solidFill>
                  <a:srgbClr val="88DD88"/>
                </a:solidFill>
              </a:rPr>
              <a:t>+  The output format is stable and reusable.</a:t>
            </a:r>
          </a:p>
        </p:txBody>
      </p:sp>
      <p:sp>
        <p:nvSpPr>
          <p:cNvPr id="24" name="TextBox 23"/>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if the task is still evolving, keep it in CLAUDE.md. Once stable and repeated, graduate it to a skill.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INVOCATION</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200" b="1">
                <a:solidFill>
                  <a:srgbClr val="FFFFFF"/>
                </a:solidFill>
              </a:rPr>
              <a:t>Two Ways to Invoke a Skill. Claude Decides or You Decide.</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011680"/>
            <a:ext cx="11247120" cy="16002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48840"/>
            <a:ext cx="457200" cy="594360"/>
          </a:xfrm>
          <a:prstGeom prst="rect">
            <a:avLst/>
          </a:prstGeom>
          <a:noFill/>
        </p:spPr>
        <p:txBody>
          <a:bodyPr wrap="square">
            <a:spAutoFit/>
          </a:bodyPr>
          <a:lstStyle/>
          <a:p>
            <a:pPr algn="l"/>
            <a:r>
              <a:rPr sz="2800" b="1">
                <a:solidFill>
                  <a:srgbClr val="D47A21"/>
                </a:solidFill>
              </a:rPr>
              <a:t>1</a:t>
            </a:r>
          </a:p>
        </p:txBody>
      </p:sp>
      <p:sp>
        <p:nvSpPr>
          <p:cNvPr id="8" name="TextBox 7"/>
          <p:cNvSpPr txBox="1"/>
          <p:nvPr/>
        </p:nvSpPr>
        <p:spPr>
          <a:xfrm>
            <a:off x="1325880" y="2148840"/>
            <a:ext cx="2743200" cy="457200"/>
          </a:xfrm>
          <a:prstGeom prst="rect">
            <a:avLst/>
          </a:prstGeom>
          <a:noFill/>
        </p:spPr>
        <p:txBody>
          <a:bodyPr wrap="square">
            <a:spAutoFit/>
          </a:bodyPr>
          <a:lstStyle/>
          <a:p>
            <a:pPr algn="l"/>
            <a:r>
              <a:rPr sz="1800" b="1">
                <a:solidFill>
                  <a:srgbClr val="FFFFFF"/>
                </a:solidFill>
              </a:rPr>
              <a:t>Auto-trigger</a:t>
            </a:r>
          </a:p>
        </p:txBody>
      </p:sp>
      <p:sp>
        <p:nvSpPr>
          <p:cNvPr id="9" name="TextBox 8"/>
          <p:cNvSpPr txBox="1"/>
          <p:nvPr/>
        </p:nvSpPr>
        <p:spPr>
          <a:xfrm>
            <a:off x="1325880" y="2606040"/>
            <a:ext cx="10058400" cy="457200"/>
          </a:xfrm>
          <a:prstGeom prst="rect">
            <a:avLst/>
          </a:prstGeom>
          <a:noFill/>
        </p:spPr>
        <p:txBody>
          <a:bodyPr wrap="square">
            <a:spAutoFit/>
          </a:bodyPr>
          <a:lstStyle/>
          <a:p>
            <a:pPr algn="l"/>
            <a:r>
              <a:rPr sz="1400" b="0">
                <a:solidFill>
                  <a:srgbClr val="CCCCCC"/>
                </a:solidFill>
              </a:rPr>
              <a:t>You say 'summarize the standup'. Claude scans descriptions, finds a match, loads the skill. No /command needed.</a:t>
            </a:r>
          </a:p>
        </p:txBody>
      </p:sp>
      <p:sp>
        <p:nvSpPr>
          <p:cNvPr id="10" name="TextBox 9"/>
          <p:cNvSpPr txBox="1"/>
          <p:nvPr/>
        </p:nvSpPr>
        <p:spPr>
          <a:xfrm>
            <a:off x="1325880" y="3063240"/>
            <a:ext cx="10058400" cy="411480"/>
          </a:xfrm>
          <a:prstGeom prst="rect">
            <a:avLst/>
          </a:prstGeom>
          <a:noFill/>
        </p:spPr>
        <p:txBody>
          <a:bodyPr wrap="square">
            <a:spAutoFit/>
          </a:bodyPr>
          <a:lstStyle/>
          <a:p>
            <a:pPr algn="l"/>
            <a:r>
              <a:rPr sz="1300" b="0">
                <a:solidFill>
                  <a:srgbClr val="888888"/>
                </a:solidFill>
              </a:rPr>
              <a:t>Best for: reference skills, knowledge skills, anything that should run silently when relevant.</a:t>
            </a:r>
          </a:p>
        </p:txBody>
      </p:sp>
      <p:sp>
        <p:nvSpPr>
          <p:cNvPr id="11" name="Rectangle 10"/>
          <p:cNvSpPr/>
          <p:nvPr/>
        </p:nvSpPr>
        <p:spPr>
          <a:xfrm>
            <a:off x="457200" y="3840480"/>
            <a:ext cx="11247120" cy="16002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977640"/>
            <a:ext cx="457200" cy="594360"/>
          </a:xfrm>
          <a:prstGeom prst="rect">
            <a:avLst/>
          </a:prstGeom>
          <a:noFill/>
        </p:spPr>
        <p:txBody>
          <a:bodyPr wrap="square">
            <a:spAutoFit/>
          </a:bodyPr>
          <a:lstStyle/>
          <a:p>
            <a:pPr algn="l"/>
            <a:r>
              <a:rPr sz="2800" b="1">
                <a:solidFill>
                  <a:srgbClr val="D47A21"/>
                </a:solidFill>
              </a:rPr>
              <a:t>2</a:t>
            </a:r>
          </a:p>
        </p:txBody>
      </p:sp>
      <p:sp>
        <p:nvSpPr>
          <p:cNvPr id="13" name="TextBox 12"/>
          <p:cNvSpPr txBox="1"/>
          <p:nvPr/>
        </p:nvSpPr>
        <p:spPr>
          <a:xfrm>
            <a:off x="1325880" y="3977640"/>
            <a:ext cx="2743200" cy="457200"/>
          </a:xfrm>
          <a:prstGeom prst="rect">
            <a:avLst/>
          </a:prstGeom>
          <a:noFill/>
        </p:spPr>
        <p:txBody>
          <a:bodyPr wrap="square">
            <a:spAutoFit/>
          </a:bodyPr>
          <a:lstStyle/>
          <a:p>
            <a:pPr algn="l"/>
            <a:r>
              <a:rPr sz="1800" b="1">
                <a:solidFill>
                  <a:srgbClr val="FFFFFF"/>
                </a:solidFill>
              </a:rPr>
              <a:t>Direct invocation</a:t>
            </a:r>
          </a:p>
        </p:txBody>
      </p:sp>
      <p:sp>
        <p:nvSpPr>
          <p:cNvPr id="14" name="TextBox 13"/>
          <p:cNvSpPr txBox="1"/>
          <p:nvPr/>
        </p:nvSpPr>
        <p:spPr>
          <a:xfrm>
            <a:off x="1325880" y="4434840"/>
            <a:ext cx="10058400" cy="457200"/>
          </a:xfrm>
          <a:prstGeom prst="rect">
            <a:avLst/>
          </a:prstGeom>
          <a:noFill/>
        </p:spPr>
        <p:txBody>
          <a:bodyPr wrap="square">
            <a:spAutoFit/>
          </a:bodyPr>
          <a:lstStyle/>
          <a:p>
            <a:pPr algn="l"/>
            <a:r>
              <a:rPr sz="1400" b="0">
                <a:solidFill>
                  <a:srgbClr val="CCCCCC"/>
                </a:solidFill>
              </a:rPr>
              <a:t>You type /standup-summary. Claude loads the skill immediately, regardless of description match.</a:t>
            </a:r>
          </a:p>
        </p:txBody>
      </p:sp>
      <p:sp>
        <p:nvSpPr>
          <p:cNvPr id="15" name="TextBox 14"/>
          <p:cNvSpPr txBox="1"/>
          <p:nvPr/>
        </p:nvSpPr>
        <p:spPr>
          <a:xfrm>
            <a:off x="1325880" y="4892040"/>
            <a:ext cx="10058400" cy="411480"/>
          </a:xfrm>
          <a:prstGeom prst="rect">
            <a:avLst/>
          </a:prstGeom>
          <a:noFill/>
        </p:spPr>
        <p:txBody>
          <a:bodyPr wrap="square">
            <a:spAutoFit/>
          </a:bodyPr>
          <a:lstStyle/>
          <a:p>
            <a:pPr algn="l"/>
            <a:r>
              <a:rPr sz="1300" b="0">
                <a:solidFill>
                  <a:srgbClr val="888888"/>
                </a:solidFill>
              </a:rPr>
              <a:t>Best for: workflow skills with side effects (send, commit, deploy) where you control timing.</a:t>
            </a:r>
          </a:p>
        </p:txBody>
      </p:sp>
      <p:sp>
        <p:nvSpPr>
          <p:cNvPr id="16" name="TextBox 15"/>
          <p:cNvSpPr txBox="1"/>
          <p:nvPr/>
        </p:nvSpPr>
        <p:spPr>
          <a:xfrm>
            <a:off x="548640" y="5760720"/>
            <a:ext cx="11430000" cy="292608"/>
          </a:xfrm>
          <a:prstGeom prst="rect">
            <a:avLst/>
          </a:prstGeom>
          <a:noFill/>
        </p:spPr>
        <p:txBody>
          <a:bodyPr wrap="square">
            <a:spAutoFit/>
          </a:bodyPr>
          <a:lstStyle/>
          <a:p>
            <a:pPr algn="l"/>
            <a:r>
              <a:rPr sz="1300" b="0">
                <a:solidFill>
                  <a:srgbClr val="888888"/>
                </a:solidFill>
              </a:rPr>
              <a:t>Tip: use disable-model-invocation: true in frontmatter to block auto-trigger. Claude can then only be called by you.</a:t>
            </a:r>
          </a:p>
        </p:txBody>
      </p:sp>
      <p:sp>
        <p:nvSpPr>
          <p:cNvPr id="17" name="TextBox 16"/>
          <p:cNvSpPr txBox="1"/>
          <p:nvPr/>
        </p:nvSpPr>
        <p:spPr>
          <a:xfrm>
            <a:off x="548640" y="6144768"/>
            <a:ext cx="11430000" cy="384048"/>
          </a:xfrm>
          <a:prstGeom prst="rect">
            <a:avLst/>
          </a:prstGeom>
          <a:noFill/>
        </p:spPr>
        <p:txBody>
          <a:bodyPr wrap="square">
            <a:spAutoFit/>
          </a:bodyPr>
          <a:lstStyle/>
          <a:p>
            <a:pPr algn="l"/>
            <a:r>
              <a:rPr sz="1500" b="1">
                <a:solidFill>
                  <a:srgbClr val="D47A21"/>
                </a:solidFill>
              </a:rPr>
              <a:t>if the skill does something consequential (sends an email, updates a doc), force manual invocation.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6  ·  REAL SKILL: PPT-BUILDER</a:t>
            </a:r>
          </a:p>
        </p:txBody>
      </p:sp>
      <p:sp>
        <p:nvSpPr>
          <p:cNvPr id="4" name="Rectangle 3"/>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
        <p:nvSpPr>
          <p:cNvPr id="5" name="TextBox 4"/>
          <p:cNvSpPr txBox="1"/>
          <p:nvPr/>
        </p:nvSpPr>
        <p:spPr>
          <a:xfrm>
            <a:off x="548640" y="868680"/>
            <a:ext cx="11430000" cy="777240"/>
          </a:xfrm>
          <a:prstGeom prst="rect">
            <a:avLst/>
          </a:prstGeom>
          <a:noFill/>
        </p:spPr>
        <p:txBody>
          <a:bodyPr wrap="square">
            <a:spAutoFit/>
          </a:bodyPr>
          <a:lstStyle/>
          <a:p>
            <a:pPr algn="l"/>
            <a:r>
              <a:rPr sz="3200" b="1">
                <a:solidFill>
                  <a:srgbClr val="FFFFFF"/>
                </a:solidFill>
              </a:rPr>
              <a:t>ppt-builder: Say 'Create a PPT'. Get a .pptx File.</a:t>
            </a:r>
          </a:p>
        </p:txBody>
      </p:sp>
      <p:sp>
        <p:nvSpPr>
          <p:cNvPr id="6" name="Rectangle 5"/>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583680" cy="3657600"/>
          </a:xfrm>
          <a:prstGeom prst="rect">
            <a:avLst/>
          </a:prstGeom>
          <a:noFill/>
        </p:spPr>
        <p:txBody>
          <a:bodyPr wrap="square">
            <a:spAutoFit/>
          </a:bodyPr>
          <a:lstStyle/>
          <a:p>
            <a:pPr algn="l">
              <a:spcAft>
                <a:spcPts val="1200"/>
              </a:spcAft>
            </a:pPr>
            <a:r>
              <a:rPr sz="1800">
                <a:solidFill>
                  <a:srgbClr val="CCCCCC"/>
                </a:solidFill>
              </a:rPr>
              <a:t>  Trigger: 'create a PPT', 'build slides', 'make a deck', 'turn this into slides'.</a:t>
            </a:r>
          </a:p>
          <a:p>
            <a:pPr algn="l">
              <a:spcAft>
                <a:spcPts val="1200"/>
              </a:spcAft>
            </a:pPr>
            <a:r>
              <a:rPr sz="1800">
                <a:solidFill>
                  <a:srgbClr val="CCCCCC"/>
                </a:solidFill>
              </a:rPr>
              <a:t>  What Claude does: reads bundled scripts/build_ppt.py, maps your content to slide patterns.</a:t>
            </a:r>
          </a:p>
          <a:p>
            <a:pPr algn="l">
              <a:spcAft>
                <a:spcPts val="1200"/>
              </a:spcAft>
            </a:pPr>
            <a:r>
              <a:rPr sz="1800">
                <a:solidFill>
                  <a:srgbClr val="CCCCCC"/>
                </a:solidFill>
              </a:rPr>
              <a:t>  Output: a dark-themed .pptx file saved to the path you specify.</a:t>
            </a:r>
          </a:p>
          <a:p>
            <a:pPr algn="l">
              <a:spcAft>
                <a:spcPts val="1200"/>
              </a:spcAft>
            </a:pPr>
            <a:r>
              <a:rPr sz="1800">
                <a:solidFill>
                  <a:srgbClr val="CCCCCC"/>
                </a:solidFill>
              </a:rPr>
              <a:t>  Supporting files: scripts/build_ppt.py contains design system constants and helpers.</a:t>
            </a:r>
          </a:p>
          <a:p>
            <a:pPr algn="l">
              <a:spcAft>
                <a:spcPts val="1200"/>
              </a:spcAft>
            </a:pPr>
            <a:r>
              <a:rPr sz="1800">
                <a:solidFill>
                  <a:srgbClr val="CCCCCC"/>
                </a:solidFill>
              </a:rPr>
              <a:t>  You are looking at output from this skill right now.</a:t>
            </a:r>
          </a:p>
        </p:txBody>
      </p:sp>
      <p:sp>
        <p:nvSpPr>
          <p:cNvPr id="8" name="Rectangle 7"/>
          <p:cNvSpPr/>
          <p:nvPr/>
        </p:nvSpPr>
        <p:spPr>
          <a:xfrm>
            <a:off x="7315200" y="1783080"/>
            <a:ext cx="4480560" cy="429768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52360" y="1920240"/>
            <a:ext cx="4206240" cy="4023360"/>
          </a:xfrm>
          <a:prstGeom prst="rect">
            <a:avLst/>
          </a:prstGeom>
          <a:noFill/>
        </p:spPr>
        <p:txBody>
          <a:bodyPr wrap="square">
            <a:spAutoFit/>
          </a:bodyPr>
          <a:lstStyle/>
          <a:p>
            <a:pPr algn="l"/>
            <a:r>
              <a:rPr sz="1200" b="0">
                <a:solidFill>
                  <a:srgbClr val="D47A21"/>
                </a:solidFill>
              </a:rPr>
              <a:t># From ppt-builder/SKILL.md
---
name: ppt-builder
description: Generate dark-themed
  professional .pptx files. Invoke
  when user says 'create a PPT',
  'build slides', 'make a deck',
  or 'turn this into slides'.
---
# PPT Builder
Read scripts/build_ppt.py first.
Never rewrite helpers from scratch.</a:t>
            </a:r>
          </a:p>
        </p:txBody>
      </p:sp>
      <p:sp>
        <p:nvSpPr>
          <p:cNvPr id="10" name="TextBox 9"/>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this skill builds this very deck. The trigger phrases are in the description. The instructions reference a bundled script.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6  ·  REAL SKILL: EMAIL-DRAFTER</a:t>
            </a:r>
          </a:p>
        </p:txBody>
      </p:sp>
      <p:sp>
        <p:nvSpPr>
          <p:cNvPr id="4" name="Rectangle 3"/>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
        <p:nvSpPr>
          <p:cNvPr id="5" name="TextBox 4"/>
          <p:cNvSpPr txBox="1"/>
          <p:nvPr/>
        </p:nvSpPr>
        <p:spPr>
          <a:xfrm>
            <a:off x="548640" y="868680"/>
            <a:ext cx="11430000" cy="777240"/>
          </a:xfrm>
          <a:prstGeom prst="rect">
            <a:avLst/>
          </a:prstGeom>
          <a:noFill/>
        </p:spPr>
        <p:txBody>
          <a:bodyPr wrap="square">
            <a:spAutoFit/>
          </a:bodyPr>
          <a:lstStyle/>
          <a:p>
            <a:pPr algn="l"/>
            <a:r>
              <a:rPr sz="3000" b="1">
                <a:solidFill>
                  <a:srgbClr val="FFFFFF"/>
                </a:solidFill>
              </a:rPr>
              <a:t>email-drafter: Say 'Draft an Email'. Get a Structured Draft.</a:t>
            </a:r>
          </a:p>
        </p:txBody>
      </p:sp>
      <p:sp>
        <p:nvSpPr>
          <p:cNvPr id="6" name="Rectangle 5"/>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583680" cy="3657600"/>
          </a:xfrm>
          <a:prstGeom prst="rect">
            <a:avLst/>
          </a:prstGeom>
          <a:noFill/>
        </p:spPr>
        <p:txBody>
          <a:bodyPr wrap="square">
            <a:spAutoFit/>
          </a:bodyPr>
          <a:lstStyle/>
          <a:p>
            <a:pPr algn="l">
              <a:spcAft>
                <a:spcPts val="1200"/>
              </a:spcAft>
            </a:pPr>
            <a:r>
              <a:rPr sz="1800">
                <a:solidFill>
                  <a:srgbClr val="CCCCCC"/>
                </a:solidFill>
              </a:rPr>
              <a:t>  Trigger: 'draft an email', 'write an email to', 'follow up with', 'reply to this thread'.</a:t>
            </a:r>
          </a:p>
          <a:p>
            <a:pPr algn="l">
              <a:spcAft>
                <a:spcPts val="1200"/>
              </a:spcAft>
            </a:pPr>
            <a:r>
              <a:rPr sz="1800">
                <a:solidFill>
                  <a:srgbClr val="CCCCCC"/>
                </a:solidFill>
              </a:rPr>
              <a:t>  Framework inside: Barbara Minto's Pyramid Principle (BLUF, SCQA, MECE).</a:t>
            </a:r>
          </a:p>
          <a:p>
            <a:pPr algn="l">
              <a:spcAft>
                <a:spcPts val="1200"/>
              </a:spcAft>
            </a:pPr>
            <a:r>
              <a:rPr sz="1800">
                <a:solidFill>
                  <a:srgbClr val="CCCCCC"/>
                </a:solidFill>
              </a:rPr>
              <a:t>  Output: Subject line + body. No preamble, no filler, ends on a clear next step.</a:t>
            </a:r>
          </a:p>
          <a:p>
            <a:pPr algn="l">
              <a:spcAft>
                <a:spcPts val="1200"/>
              </a:spcAft>
            </a:pPr>
            <a:r>
              <a:rPr sz="1800">
                <a:solidFill>
                  <a:srgbClr val="CCCCCC"/>
                </a:solidFill>
              </a:rPr>
              <a:t>  The skill classifies intent first: executive update, decision request, cross-team ask.</a:t>
            </a:r>
          </a:p>
          <a:p>
            <a:pPr algn="l">
              <a:spcAft>
                <a:spcPts val="1200"/>
              </a:spcAft>
            </a:pPr>
            <a:r>
              <a:rPr sz="1800">
                <a:solidFill>
                  <a:srgbClr val="CCCCCC"/>
                </a:solidFill>
              </a:rPr>
              <a:t>  Trigger also fires on indirect signals: 'tell my VP the launch is slipping'.</a:t>
            </a:r>
          </a:p>
        </p:txBody>
      </p:sp>
      <p:sp>
        <p:nvSpPr>
          <p:cNvPr id="8" name="Rectangle 7"/>
          <p:cNvSpPr/>
          <p:nvPr/>
        </p:nvSpPr>
        <p:spPr>
          <a:xfrm>
            <a:off x="7315200" y="1783080"/>
            <a:ext cx="4480560" cy="429768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52360" y="1920240"/>
            <a:ext cx="4206240" cy="4023360"/>
          </a:xfrm>
          <a:prstGeom prst="rect">
            <a:avLst/>
          </a:prstGeom>
          <a:noFill/>
        </p:spPr>
        <p:txBody>
          <a:bodyPr wrap="square">
            <a:spAutoFit/>
          </a:bodyPr>
          <a:lstStyle/>
          <a:p>
            <a:pPr algn="l"/>
            <a:r>
              <a:rPr sz="1200" b="0">
                <a:solidFill>
                  <a:srgbClr val="D47A21"/>
                </a:solidFill>
              </a:rPr>
              <a:t># Output example
**Subject:** Decision needed
by Wed: ship Smart Follow-Up
April 24 or slip 2 weeks
QA found a blocker in the
confidence model Friday.
Recommending a slip
from Apr 24 to May 8.
Two options:
1. Ship Apr 24, 8% accuracy drop.
2. Slip to May 8, fix the model.
Can you confirm by Wednesday?</a:t>
            </a:r>
          </a:p>
        </p:txBody>
      </p:sp>
      <p:sp>
        <p:nvSpPr>
          <p:cNvPr id="10" name="TextBox 9"/>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BLUF means 'Bottom Line Up Front'. Minto's Pyramid means the most important point comes first, always.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6  ·  REAL SKILL: STANDUP-SUMMARY</a:t>
            </a:r>
          </a:p>
        </p:txBody>
      </p:sp>
      <p:sp>
        <p:nvSpPr>
          <p:cNvPr id="4" name="Rectangle 3"/>
          <p:cNvSpPr/>
          <p:nvPr/>
        </p:nvSpPr>
        <p:spPr>
          <a:xfrm>
            <a:off x="10698480" y="384048"/>
            <a:ext cx="1005840" cy="292608"/>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000" b="1">
                <a:solidFill>
                  <a:srgbClr val="0D0D0D"/>
                </a:solidFill>
              </a:rPr>
              <a:t>LIVE DEMO</a:t>
            </a:r>
          </a:p>
        </p:txBody>
      </p:sp>
      <p:sp>
        <p:nvSpPr>
          <p:cNvPr id="5" name="TextBox 4"/>
          <p:cNvSpPr txBox="1"/>
          <p:nvPr/>
        </p:nvSpPr>
        <p:spPr>
          <a:xfrm>
            <a:off x="548640" y="868680"/>
            <a:ext cx="11430000" cy="777240"/>
          </a:xfrm>
          <a:prstGeom prst="rect">
            <a:avLst/>
          </a:prstGeom>
          <a:noFill/>
        </p:spPr>
        <p:txBody>
          <a:bodyPr wrap="square">
            <a:spAutoFit/>
          </a:bodyPr>
          <a:lstStyle/>
          <a:p>
            <a:pPr algn="l"/>
            <a:r>
              <a:rPr sz="3000" b="1">
                <a:solidFill>
                  <a:srgbClr val="FFFFFF"/>
                </a:solidFill>
              </a:rPr>
              <a:t>standup-summary: Point at a File. Get a 60-Second Digest.</a:t>
            </a:r>
          </a:p>
        </p:txBody>
      </p:sp>
      <p:sp>
        <p:nvSpPr>
          <p:cNvPr id="6" name="Rectangle 5"/>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583680" cy="3657600"/>
          </a:xfrm>
          <a:prstGeom prst="rect">
            <a:avLst/>
          </a:prstGeom>
          <a:noFill/>
        </p:spPr>
        <p:txBody>
          <a:bodyPr wrap="square">
            <a:spAutoFit/>
          </a:bodyPr>
          <a:lstStyle/>
          <a:p>
            <a:pPr algn="l">
              <a:spcAft>
                <a:spcPts val="1200"/>
              </a:spcAft>
            </a:pPr>
            <a:r>
              <a:rPr sz="1800">
                <a:solidFill>
                  <a:srgbClr val="CCCCCC"/>
                </a:solidFill>
              </a:rPr>
              <a:t>  Trigger: 'summarize the standup', 'what happened in standup', or any daily-standup-*.md file.</a:t>
            </a:r>
          </a:p>
          <a:p>
            <a:pPr algn="l">
              <a:spcAft>
                <a:spcPts val="1200"/>
              </a:spcAft>
            </a:pPr>
            <a:r>
              <a:rPr sz="1800">
                <a:solidFill>
                  <a:srgbClr val="CCCCCC"/>
                </a:solidFill>
              </a:rPr>
              <a:t>  What Claude does: reads the file end to end, extracts progress, blockers, decisions, actions.</a:t>
            </a:r>
          </a:p>
          <a:p>
            <a:pPr algn="l">
              <a:spcAft>
                <a:spcPts val="1200"/>
              </a:spcAft>
            </a:pPr>
            <a:r>
              <a:rPr sz="1800">
                <a:solidFill>
                  <a:srgbClr val="CCCCCC"/>
                </a:solidFill>
              </a:rPr>
              <a:t>  Output: structured markdown saved to outputs/standup-summary-DD-MM-YYYY.md.</a:t>
            </a:r>
          </a:p>
          <a:p>
            <a:pPr algn="l">
              <a:spcAft>
                <a:spcPts val="1200"/>
              </a:spcAft>
            </a:pPr>
            <a:r>
              <a:rPr sz="1800">
                <a:solidFill>
                  <a:srgbClr val="CCCCCC"/>
                </a:solidFill>
              </a:rPr>
              <a:t>  Every action item gets an owner AND a due date. Both are required by the skill instructions.</a:t>
            </a:r>
          </a:p>
          <a:p>
            <a:pPr algn="l">
              <a:spcAft>
                <a:spcPts val="1200"/>
              </a:spcAft>
            </a:pPr>
            <a:r>
              <a:rPr sz="1800">
                <a:solidFill>
                  <a:srgbClr val="CCCCCC"/>
                </a:solidFill>
              </a:rPr>
              <a:t>  The skill converts all dates to DD-MM-YYYY, even if the notes use other formats.</a:t>
            </a:r>
          </a:p>
        </p:txBody>
      </p:sp>
      <p:sp>
        <p:nvSpPr>
          <p:cNvPr id="8" name="Rectangle 7"/>
          <p:cNvSpPr/>
          <p:nvPr/>
        </p:nvSpPr>
        <p:spPr>
          <a:xfrm>
            <a:off x="7315200" y="1783080"/>
            <a:ext cx="4480560" cy="429768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52360" y="1920240"/>
            <a:ext cx="4206240" cy="4023360"/>
          </a:xfrm>
          <a:prstGeom prst="rect">
            <a:avLst/>
          </a:prstGeom>
          <a:noFill/>
        </p:spPr>
        <p:txBody>
          <a:bodyPr wrap="square">
            <a:spAutoFit/>
          </a:bodyPr>
          <a:lstStyle/>
          <a:p>
            <a:pPr algn="l"/>
            <a:r>
              <a:rPr sz="1200" b="0">
                <a:solidFill>
                  <a:srgbClr val="D47A21"/>
                </a:solidFill>
              </a:rPr>
              <a:t># Output structure
## TL;DR
- 3 bullets a skip-level
  needs to know
## Progress by person
| Person | Yesterday | Today |
|--------|-----------|-------|
| Remi   | ... | ... |
## Blockers and risks
- corpus noise, owner: Remi
## Action items
- [ ] spot check corpus
  owner: Remi, due: 20-03-2026</a:t>
            </a:r>
          </a:p>
        </p:txBody>
      </p:sp>
      <p:sp>
        <p:nvSpPr>
          <p:cNvPr id="10" name="TextBox 9"/>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this skill turns messy Slack-style standup notes into a digest your VP could read in 60 seconds.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7  ·  WHEN NOT TO MAKE A SKILL</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400" b="1">
                <a:solidFill>
                  <a:srgbClr val="FFFFFF"/>
                </a:solidFill>
              </a:rPr>
              <a:t>Not Every Repeated Task Earns a Skill</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5303520" cy="365760"/>
          </a:xfrm>
          <a:prstGeom prst="rect">
            <a:avLst/>
          </a:prstGeom>
          <a:noFill/>
        </p:spPr>
        <p:txBody>
          <a:bodyPr wrap="square">
            <a:spAutoFit/>
          </a:bodyPr>
          <a:lstStyle/>
          <a:p>
            <a:pPr algn="l"/>
            <a:r>
              <a:rPr sz="1300" b="1">
                <a:solidFill>
                  <a:srgbClr val="FF5555"/>
                </a:solidFill>
              </a:rPr>
              <a:t>SKIP THE SKILL</a:t>
            </a:r>
          </a:p>
        </p:txBody>
      </p:sp>
      <p:sp>
        <p:nvSpPr>
          <p:cNvPr id="7" name="TextBox 6"/>
          <p:cNvSpPr txBox="1"/>
          <p:nvPr/>
        </p:nvSpPr>
        <p:spPr>
          <a:xfrm>
            <a:off x="6492240" y="1920240"/>
            <a:ext cx="5303520" cy="365760"/>
          </a:xfrm>
          <a:prstGeom prst="rect">
            <a:avLst/>
          </a:prstGeom>
          <a:noFill/>
        </p:spPr>
        <p:txBody>
          <a:bodyPr wrap="square">
            <a:spAutoFit/>
          </a:bodyPr>
          <a:lstStyle/>
          <a:p>
            <a:pPr algn="l"/>
            <a:r>
              <a:rPr sz="1300" b="1">
                <a:solidFill>
                  <a:srgbClr val="44BB44"/>
                </a:solidFill>
              </a:rPr>
              <a:t>BETTER ALTERNATIVE</a:t>
            </a:r>
          </a:p>
        </p:txBody>
      </p:sp>
      <p:sp>
        <p:nvSpPr>
          <p:cNvPr id="8" name="Rectangle 7"/>
          <p:cNvSpPr/>
          <p:nvPr/>
        </p:nvSpPr>
        <p:spPr>
          <a:xfrm>
            <a:off x="457200" y="242316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468880"/>
            <a:ext cx="5303520" cy="320040"/>
          </a:xfrm>
          <a:prstGeom prst="rect">
            <a:avLst/>
          </a:prstGeom>
          <a:noFill/>
        </p:spPr>
        <p:txBody>
          <a:bodyPr wrap="square">
            <a:spAutoFit/>
          </a:bodyPr>
          <a:lstStyle/>
          <a:p>
            <a:pPr algn="l"/>
            <a:r>
              <a:rPr sz="1400" b="1">
                <a:solidFill>
                  <a:srgbClr val="FF8888"/>
                </a:solidFill>
              </a:rPr>
              <a:t>x  One-off tasks</a:t>
            </a:r>
          </a:p>
        </p:txBody>
      </p:sp>
      <p:sp>
        <p:nvSpPr>
          <p:cNvPr id="10" name="TextBox 9"/>
          <p:cNvSpPr txBox="1"/>
          <p:nvPr/>
        </p:nvSpPr>
        <p:spPr>
          <a:xfrm>
            <a:off x="594360" y="2788920"/>
            <a:ext cx="5303520" cy="320040"/>
          </a:xfrm>
          <a:prstGeom prst="rect">
            <a:avLst/>
          </a:prstGeom>
          <a:noFill/>
        </p:spPr>
        <p:txBody>
          <a:bodyPr wrap="square">
            <a:spAutoFit/>
          </a:bodyPr>
          <a:lstStyle/>
          <a:p>
            <a:pPr algn="l"/>
            <a:r>
              <a:rPr sz="1200" b="0">
                <a:solidFill>
                  <a:srgbClr val="FFAAAA"/>
                </a:solidFill>
              </a:rPr>
              <a:t>You ran it once. You won't run it again. Don't build the abstraction.</a:t>
            </a:r>
          </a:p>
        </p:txBody>
      </p:sp>
      <p:sp>
        <p:nvSpPr>
          <p:cNvPr id="11" name="Rectangle 10"/>
          <p:cNvSpPr/>
          <p:nvPr/>
        </p:nvSpPr>
        <p:spPr>
          <a:xfrm>
            <a:off x="6355080" y="242316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532888"/>
            <a:ext cx="5212080" cy="548640"/>
          </a:xfrm>
          <a:prstGeom prst="rect">
            <a:avLst/>
          </a:prstGeom>
          <a:noFill/>
        </p:spPr>
        <p:txBody>
          <a:bodyPr wrap="square">
            <a:spAutoFit/>
          </a:bodyPr>
          <a:lstStyle/>
          <a:p>
            <a:pPr algn="l"/>
            <a:r>
              <a:rPr sz="1300" b="0">
                <a:solidFill>
                  <a:srgbClr val="88DD88"/>
                </a:solidFill>
              </a:rPr>
              <a:t>+  Just paste the instructions directly. Save the 20 minutes.</a:t>
            </a:r>
          </a:p>
        </p:txBody>
      </p:sp>
      <p:sp>
        <p:nvSpPr>
          <p:cNvPr id="13" name="Rectangle 12"/>
          <p:cNvSpPr/>
          <p:nvPr/>
        </p:nvSpPr>
        <p:spPr>
          <a:xfrm>
            <a:off x="457200" y="329184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337560"/>
            <a:ext cx="5303520" cy="320040"/>
          </a:xfrm>
          <a:prstGeom prst="rect">
            <a:avLst/>
          </a:prstGeom>
          <a:noFill/>
        </p:spPr>
        <p:txBody>
          <a:bodyPr wrap="square">
            <a:spAutoFit/>
          </a:bodyPr>
          <a:lstStyle/>
          <a:p>
            <a:pPr algn="l"/>
            <a:r>
              <a:rPr sz="1400" b="1">
                <a:solidFill>
                  <a:srgbClr val="FF8888"/>
                </a:solidFill>
              </a:rPr>
              <a:t>x  Hyper-specific to one meeting</a:t>
            </a:r>
          </a:p>
        </p:txBody>
      </p:sp>
      <p:sp>
        <p:nvSpPr>
          <p:cNvPr id="15" name="TextBox 14"/>
          <p:cNvSpPr txBox="1"/>
          <p:nvPr/>
        </p:nvSpPr>
        <p:spPr>
          <a:xfrm>
            <a:off x="594360" y="3657600"/>
            <a:ext cx="5303520" cy="320040"/>
          </a:xfrm>
          <a:prstGeom prst="rect">
            <a:avLst/>
          </a:prstGeom>
          <a:noFill/>
        </p:spPr>
        <p:txBody>
          <a:bodyPr wrap="square">
            <a:spAutoFit/>
          </a:bodyPr>
          <a:lstStyle/>
          <a:p>
            <a:pPr algn="l"/>
            <a:r>
              <a:rPr sz="1200" b="0">
                <a:solidFill>
                  <a:srgbClr val="FFAAAA"/>
                </a:solidFill>
              </a:rPr>
              <a:t>The template only fits one context. It will confuse Claude elsewhere.</a:t>
            </a:r>
          </a:p>
        </p:txBody>
      </p:sp>
      <p:sp>
        <p:nvSpPr>
          <p:cNvPr id="16" name="Rectangle 15"/>
          <p:cNvSpPr/>
          <p:nvPr/>
        </p:nvSpPr>
        <p:spPr>
          <a:xfrm>
            <a:off x="6355080" y="329184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3401568"/>
            <a:ext cx="5212080" cy="548640"/>
          </a:xfrm>
          <a:prstGeom prst="rect">
            <a:avLst/>
          </a:prstGeom>
          <a:noFill/>
        </p:spPr>
        <p:txBody>
          <a:bodyPr wrap="square">
            <a:spAutoFit/>
          </a:bodyPr>
          <a:lstStyle/>
          <a:p>
            <a:pPr algn="l"/>
            <a:r>
              <a:rPr sz="1300" b="0">
                <a:solidFill>
                  <a:srgbClr val="88DD88"/>
                </a:solidFill>
              </a:rPr>
              <a:t>+  Add a one-off section to CLAUDE.md instead. Archive after the meeting.</a:t>
            </a:r>
          </a:p>
        </p:txBody>
      </p:sp>
      <p:sp>
        <p:nvSpPr>
          <p:cNvPr id="18" name="Rectangle 17"/>
          <p:cNvSpPr/>
          <p:nvPr/>
        </p:nvSpPr>
        <p:spPr>
          <a:xfrm>
            <a:off x="457200" y="416052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206240"/>
            <a:ext cx="5303520" cy="320040"/>
          </a:xfrm>
          <a:prstGeom prst="rect">
            <a:avLst/>
          </a:prstGeom>
          <a:noFill/>
        </p:spPr>
        <p:txBody>
          <a:bodyPr wrap="square">
            <a:spAutoFit/>
          </a:bodyPr>
          <a:lstStyle/>
          <a:p>
            <a:pPr algn="l"/>
            <a:r>
              <a:rPr sz="1400" b="1">
                <a:solidFill>
                  <a:srgbClr val="FF8888"/>
                </a:solidFill>
              </a:rPr>
              <a:t>x  Workflow still evolving</a:t>
            </a:r>
          </a:p>
        </p:txBody>
      </p:sp>
      <p:sp>
        <p:nvSpPr>
          <p:cNvPr id="20" name="TextBox 19"/>
          <p:cNvSpPr txBox="1"/>
          <p:nvPr/>
        </p:nvSpPr>
        <p:spPr>
          <a:xfrm>
            <a:off x="594360" y="4526280"/>
            <a:ext cx="5303520" cy="320040"/>
          </a:xfrm>
          <a:prstGeom prst="rect">
            <a:avLst/>
          </a:prstGeom>
          <a:noFill/>
        </p:spPr>
        <p:txBody>
          <a:bodyPr wrap="square">
            <a:spAutoFit/>
          </a:bodyPr>
          <a:lstStyle/>
          <a:p>
            <a:pPr algn="l"/>
            <a:r>
              <a:rPr sz="1200" b="0">
                <a:solidFill>
                  <a:srgbClr val="FFAAAA"/>
                </a:solidFill>
              </a:rPr>
              <a:t>Skill bodies stay in context after load. Instability costs tokens.</a:t>
            </a:r>
          </a:p>
        </p:txBody>
      </p:sp>
      <p:sp>
        <p:nvSpPr>
          <p:cNvPr id="21" name="Rectangle 20"/>
          <p:cNvSpPr/>
          <p:nvPr/>
        </p:nvSpPr>
        <p:spPr>
          <a:xfrm>
            <a:off x="6355080" y="416052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4270248"/>
            <a:ext cx="5212080" cy="548640"/>
          </a:xfrm>
          <a:prstGeom prst="rect">
            <a:avLst/>
          </a:prstGeom>
          <a:noFill/>
        </p:spPr>
        <p:txBody>
          <a:bodyPr wrap="square">
            <a:spAutoFit/>
          </a:bodyPr>
          <a:lstStyle/>
          <a:p>
            <a:pPr algn="l"/>
            <a:r>
              <a:rPr sz="1300" b="0">
                <a:solidFill>
                  <a:srgbClr val="88DD88"/>
                </a:solidFill>
              </a:rPr>
              <a:t>+  Keep it in CLAUDE.md until the format is stable, then graduate it.</a:t>
            </a:r>
          </a:p>
        </p:txBody>
      </p:sp>
      <p:sp>
        <p:nvSpPr>
          <p:cNvPr id="23" name="Rectangle 22"/>
          <p:cNvSpPr/>
          <p:nvPr/>
        </p:nvSpPr>
        <p:spPr>
          <a:xfrm>
            <a:off x="457200" y="5029200"/>
            <a:ext cx="5577840" cy="713232"/>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074920"/>
            <a:ext cx="5303520" cy="320040"/>
          </a:xfrm>
          <a:prstGeom prst="rect">
            <a:avLst/>
          </a:prstGeom>
          <a:noFill/>
        </p:spPr>
        <p:txBody>
          <a:bodyPr wrap="square">
            <a:spAutoFit/>
          </a:bodyPr>
          <a:lstStyle/>
          <a:p>
            <a:pPr algn="l"/>
            <a:r>
              <a:rPr sz="1400" b="1">
                <a:solidFill>
                  <a:srgbClr val="FF8888"/>
                </a:solidFill>
              </a:rPr>
              <a:t>x  A fact, not a procedure</a:t>
            </a:r>
          </a:p>
        </p:txBody>
      </p:sp>
      <p:sp>
        <p:nvSpPr>
          <p:cNvPr id="25" name="TextBox 24"/>
          <p:cNvSpPr txBox="1"/>
          <p:nvPr/>
        </p:nvSpPr>
        <p:spPr>
          <a:xfrm>
            <a:off x="594360" y="5394960"/>
            <a:ext cx="5303520" cy="320040"/>
          </a:xfrm>
          <a:prstGeom prst="rect">
            <a:avLst/>
          </a:prstGeom>
          <a:noFill/>
        </p:spPr>
        <p:txBody>
          <a:bodyPr wrap="square">
            <a:spAutoFit/>
          </a:bodyPr>
          <a:lstStyle/>
          <a:p>
            <a:pPr algn="l"/>
            <a:r>
              <a:rPr sz="1200" b="0">
                <a:solidFill>
                  <a:srgbClr val="FFAAAA"/>
                </a:solidFill>
              </a:rPr>
              <a:t>Single facts, rules, and preferences belong in CLAUDE.md, not a skill.</a:t>
            </a:r>
          </a:p>
        </p:txBody>
      </p:sp>
      <p:sp>
        <p:nvSpPr>
          <p:cNvPr id="26" name="Rectangle 25"/>
          <p:cNvSpPr/>
          <p:nvPr/>
        </p:nvSpPr>
        <p:spPr>
          <a:xfrm>
            <a:off x="6355080" y="5029200"/>
            <a:ext cx="5440680" cy="713232"/>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5138928"/>
            <a:ext cx="5212080" cy="548640"/>
          </a:xfrm>
          <a:prstGeom prst="rect">
            <a:avLst/>
          </a:prstGeom>
          <a:noFill/>
        </p:spPr>
        <p:txBody>
          <a:bodyPr wrap="square">
            <a:spAutoFit/>
          </a:bodyPr>
          <a:lstStyle/>
          <a:p>
            <a:pPr algn="l"/>
            <a:r>
              <a:rPr sz="1300" b="0">
                <a:solidFill>
                  <a:srgbClr val="88DD88"/>
                </a:solidFill>
              </a:rPr>
              <a:t>+  CLAUDE.md is always in context. Skills load on demand. Facts should always load.</a:t>
            </a:r>
          </a:p>
        </p:txBody>
      </p:sp>
      <p:sp>
        <p:nvSpPr>
          <p:cNvPr id="28" name="TextBox 27"/>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skills are for stable, repeated workflows. Facts belong in CLAUDE.md. One-offs go directly in chat.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7  ·  BUILD YOUR FIRST SKILL</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400" b="1">
                <a:solidFill>
                  <a:srgbClr val="FFFFFF"/>
                </a:solidFill>
              </a:rPr>
              <a:t>Five Steps from Zero to a Working Skill</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65960"/>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984248"/>
            <a:ext cx="493776" cy="594360"/>
          </a:xfrm>
          <a:prstGeom prst="rect">
            <a:avLst/>
          </a:prstGeom>
          <a:noFill/>
        </p:spPr>
        <p:txBody>
          <a:bodyPr wrap="square">
            <a:spAutoFit/>
          </a:bodyPr>
          <a:lstStyle/>
          <a:p>
            <a:pPr algn="ctr"/>
            <a:r>
              <a:rPr sz="2000" b="1">
                <a:solidFill>
                  <a:srgbClr val="0D0D0D"/>
                </a:solidFill>
              </a:rPr>
              <a:t>1</a:t>
            </a:r>
          </a:p>
        </p:txBody>
      </p:sp>
      <p:sp>
        <p:nvSpPr>
          <p:cNvPr id="8" name="TextBox 7"/>
          <p:cNvSpPr txBox="1"/>
          <p:nvPr/>
        </p:nvSpPr>
        <p:spPr>
          <a:xfrm>
            <a:off x="1143000" y="2002536"/>
            <a:ext cx="3017520" cy="457200"/>
          </a:xfrm>
          <a:prstGeom prst="rect">
            <a:avLst/>
          </a:prstGeom>
          <a:noFill/>
        </p:spPr>
        <p:txBody>
          <a:bodyPr wrap="square">
            <a:spAutoFit/>
          </a:bodyPr>
          <a:lstStyle/>
          <a:p>
            <a:pPr algn="l"/>
            <a:r>
              <a:rPr sz="1700" b="1">
                <a:solidFill>
                  <a:srgbClr val="FFFFFF"/>
                </a:solidFill>
              </a:rPr>
              <a:t>Identify the pattern.</a:t>
            </a:r>
          </a:p>
        </p:txBody>
      </p:sp>
      <p:sp>
        <p:nvSpPr>
          <p:cNvPr id="9" name="TextBox 8"/>
          <p:cNvSpPr txBox="1"/>
          <p:nvPr/>
        </p:nvSpPr>
        <p:spPr>
          <a:xfrm>
            <a:off x="4343400" y="2002536"/>
            <a:ext cx="7498079" cy="457200"/>
          </a:xfrm>
          <a:prstGeom prst="rect">
            <a:avLst/>
          </a:prstGeom>
          <a:noFill/>
        </p:spPr>
        <p:txBody>
          <a:bodyPr wrap="square">
            <a:spAutoFit/>
          </a:bodyPr>
          <a:lstStyle/>
          <a:p>
            <a:pPr algn="l"/>
            <a:r>
              <a:rPr sz="1400" b="0">
                <a:solidFill>
                  <a:srgbClr val="CCCCCC"/>
                </a:solidFill>
              </a:rPr>
              <a:t>Pick a task you paste instructions for 3 or more times. That is your candidate.</a:t>
            </a:r>
          </a:p>
        </p:txBody>
      </p:sp>
      <p:sp>
        <p:nvSpPr>
          <p:cNvPr id="10" name="Rectangle 9"/>
          <p:cNvSpPr/>
          <p:nvPr/>
        </p:nvSpPr>
        <p:spPr>
          <a:xfrm>
            <a:off x="548640" y="2679192"/>
            <a:ext cx="11064240" cy="1905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770632"/>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2788920"/>
            <a:ext cx="493776" cy="594360"/>
          </a:xfrm>
          <a:prstGeom prst="rect">
            <a:avLst/>
          </a:prstGeom>
          <a:noFill/>
        </p:spPr>
        <p:txBody>
          <a:bodyPr wrap="square">
            <a:spAutoFit/>
          </a:bodyPr>
          <a:lstStyle/>
          <a:p>
            <a:pPr algn="ctr"/>
            <a:r>
              <a:rPr sz="2000" b="1">
                <a:solidFill>
                  <a:srgbClr val="0D0D0D"/>
                </a:solidFill>
              </a:rPr>
              <a:t>2</a:t>
            </a:r>
          </a:p>
        </p:txBody>
      </p:sp>
      <p:sp>
        <p:nvSpPr>
          <p:cNvPr id="13" name="TextBox 12"/>
          <p:cNvSpPr txBox="1"/>
          <p:nvPr/>
        </p:nvSpPr>
        <p:spPr>
          <a:xfrm>
            <a:off x="1143000" y="2807208"/>
            <a:ext cx="3017520" cy="457200"/>
          </a:xfrm>
          <a:prstGeom prst="rect">
            <a:avLst/>
          </a:prstGeom>
          <a:noFill/>
        </p:spPr>
        <p:txBody>
          <a:bodyPr wrap="square">
            <a:spAutoFit/>
          </a:bodyPr>
          <a:lstStyle/>
          <a:p>
            <a:pPr algn="l"/>
            <a:r>
              <a:rPr sz="1700" b="1">
                <a:solidFill>
                  <a:srgbClr val="FFFFFF"/>
                </a:solidFill>
              </a:rPr>
              <a:t>Create the folder.</a:t>
            </a:r>
          </a:p>
        </p:txBody>
      </p:sp>
      <p:sp>
        <p:nvSpPr>
          <p:cNvPr id="14" name="TextBox 13"/>
          <p:cNvSpPr txBox="1"/>
          <p:nvPr/>
        </p:nvSpPr>
        <p:spPr>
          <a:xfrm>
            <a:off x="4343400" y="2807208"/>
            <a:ext cx="7498079" cy="457200"/>
          </a:xfrm>
          <a:prstGeom prst="rect">
            <a:avLst/>
          </a:prstGeom>
          <a:noFill/>
        </p:spPr>
        <p:txBody>
          <a:bodyPr wrap="square">
            <a:spAutoFit/>
          </a:bodyPr>
          <a:lstStyle/>
          <a:p>
            <a:pPr algn="l"/>
            <a:r>
              <a:rPr sz="1400" b="0">
                <a:solidFill>
                  <a:srgbClr val="CCCCCC"/>
                </a:solidFill>
              </a:rPr>
              <a:t>mkdir -p ~/.claude/skills/my-skill/ for personal, or .claude/skills/my-skill/ for project.</a:t>
            </a:r>
          </a:p>
        </p:txBody>
      </p:sp>
      <p:sp>
        <p:nvSpPr>
          <p:cNvPr id="15" name="Rectangle 14"/>
          <p:cNvSpPr/>
          <p:nvPr/>
        </p:nvSpPr>
        <p:spPr>
          <a:xfrm>
            <a:off x="548640" y="3483864"/>
            <a:ext cx="11064240" cy="1905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575304"/>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3593592"/>
            <a:ext cx="493776" cy="594360"/>
          </a:xfrm>
          <a:prstGeom prst="rect">
            <a:avLst/>
          </a:prstGeom>
          <a:noFill/>
        </p:spPr>
        <p:txBody>
          <a:bodyPr wrap="square">
            <a:spAutoFit/>
          </a:bodyPr>
          <a:lstStyle/>
          <a:p>
            <a:pPr algn="ctr"/>
            <a:r>
              <a:rPr sz="2000" b="1">
                <a:solidFill>
                  <a:srgbClr val="0D0D0D"/>
                </a:solidFill>
              </a:rPr>
              <a:t>3</a:t>
            </a:r>
          </a:p>
        </p:txBody>
      </p:sp>
      <p:sp>
        <p:nvSpPr>
          <p:cNvPr id="18" name="TextBox 17"/>
          <p:cNvSpPr txBox="1"/>
          <p:nvPr/>
        </p:nvSpPr>
        <p:spPr>
          <a:xfrm>
            <a:off x="1143000" y="3611880"/>
            <a:ext cx="3017520" cy="457200"/>
          </a:xfrm>
          <a:prstGeom prst="rect">
            <a:avLst/>
          </a:prstGeom>
          <a:noFill/>
        </p:spPr>
        <p:txBody>
          <a:bodyPr wrap="square">
            <a:spAutoFit/>
          </a:bodyPr>
          <a:lstStyle/>
          <a:p>
            <a:pPr algn="l"/>
            <a:r>
              <a:rPr sz="1700" b="1">
                <a:solidFill>
                  <a:srgbClr val="FFFFFF"/>
                </a:solidFill>
              </a:rPr>
              <a:t>Write SKILL.md.</a:t>
            </a:r>
          </a:p>
        </p:txBody>
      </p:sp>
      <p:sp>
        <p:nvSpPr>
          <p:cNvPr id="19" name="TextBox 18"/>
          <p:cNvSpPr txBox="1"/>
          <p:nvPr/>
        </p:nvSpPr>
        <p:spPr>
          <a:xfrm>
            <a:off x="4343400" y="3611880"/>
            <a:ext cx="7498079" cy="457200"/>
          </a:xfrm>
          <a:prstGeom prst="rect">
            <a:avLst/>
          </a:prstGeom>
          <a:noFill/>
        </p:spPr>
        <p:txBody>
          <a:bodyPr wrap="square">
            <a:spAutoFit/>
          </a:bodyPr>
          <a:lstStyle/>
          <a:p>
            <a:pPr algn="l"/>
            <a:r>
              <a:rPr sz="1400" b="0">
                <a:solidFill>
                  <a:srgbClr val="CCCCCC"/>
                </a:solidFill>
              </a:rPr>
              <a:t>Frontmatter first: name, description with trigger phrases. Then instructions in markdown.</a:t>
            </a:r>
          </a:p>
        </p:txBody>
      </p:sp>
      <p:sp>
        <p:nvSpPr>
          <p:cNvPr id="20" name="Rectangle 19"/>
          <p:cNvSpPr/>
          <p:nvPr/>
        </p:nvSpPr>
        <p:spPr>
          <a:xfrm>
            <a:off x="548640" y="4288536"/>
            <a:ext cx="11064240" cy="1905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379976"/>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 y="4398264"/>
            <a:ext cx="493776" cy="594360"/>
          </a:xfrm>
          <a:prstGeom prst="rect">
            <a:avLst/>
          </a:prstGeom>
          <a:noFill/>
        </p:spPr>
        <p:txBody>
          <a:bodyPr wrap="square">
            <a:spAutoFit/>
          </a:bodyPr>
          <a:lstStyle/>
          <a:p>
            <a:pPr algn="ctr"/>
            <a:r>
              <a:rPr sz="2000" b="1">
                <a:solidFill>
                  <a:srgbClr val="0D0D0D"/>
                </a:solidFill>
              </a:rPr>
              <a:t>4</a:t>
            </a:r>
          </a:p>
        </p:txBody>
      </p:sp>
      <p:sp>
        <p:nvSpPr>
          <p:cNvPr id="23" name="TextBox 22"/>
          <p:cNvSpPr txBox="1"/>
          <p:nvPr/>
        </p:nvSpPr>
        <p:spPr>
          <a:xfrm>
            <a:off x="1143000" y="4416552"/>
            <a:ext cx="3017520" cy="457200"/>
          </a:xfrm>
          <a:prstGeom prst="rect">
            <a:avLst/>
          </a:prstGeom>
          <a:noFill/>
        </p:spPr>
        <p:txBody>
          <a:bodyPr wrap="square">
            <a:spAutoFit/>
          </a:bodyPr>
          <a:lstStyle/>
          <a:p>
            <a:pPr algn="l"/>
            <a:r>
              <a:rPr sz="1700" b="1">
                <a:solidFill>
                  <a:srgbClr val="FFFFFF"/>
                </a:solidFill>
              </a:rPr>
              <a:t>Test auto-trigger.</a:t>
            </a:r>
          </a:p>
        </p:txBody>
      </p:sp>
      <p:sp>
        <p:nvSpPr>
          <p:cNvPr id="24" name="TextBox 23"/>
          <p:cNvSpPr txBox="1"/>
          <p:nvPr/>
        </p:nvSpPr>
        <p:spPr>
          <a:xfrm>
            <a:off x="4343400" y="4416552"/>
            <a:ext cx="7498079" cy="457200"/>
          </a:xfrm>
          <a:prstGeom prst="rect">
            <a:avLst/>
          </a:prstGeom>
          <a:noFill/>
        </p:spPr>
        <p:txBody>
          <a:bodyPr wrap="square">
            <a:spAutoFit/>
          </a:bodyPr>
          <a:lstStyle/>
          <a:p>
            <a:pPr algn="l"/>
            <a:r>
              <a:rPr sz="1400" b="0">
                <a:solidFill>
                  <a:srgbClr val="CCCCCC"/>
                </a:solidFill>
              </a:rPr>
              <a:t>In Antigravity IDE, say the trigger phrase naturally. Watch whether Claude loads the skill.</a:t>
            </a:r>
          </a:p>
        </p:txBody>
      </p:sp>
      <p:sp>
        <p:nvSpPr>
          <p:cNvPr id="25" name="Rectangle 24"/>
          <p:cNvSpPr/>
          <p:nvPr/>
        </p:nvSpPr>
        <p:spPr>
          <a:xfrm>
            <a:off x="548640" y="5093208"/>
            <a:ext cx="11064240" cy="1905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184648"/>
            <a:ext cx="530352" cy="59436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 y="5202936"/>
            <a:ext cx="493776" cy="594360"/>
          </a:xfrm>
          <a:prstGeom prst="rect">
            <a:avLst/>
          </a:prstGeom>
          <a:noFill/>
        </p:spPr>
        <p:txBody>
          <a:bodyPr wrap="square">
            <a:spAutoFit/>
          </a:bodyPr>
          <a:lstStyle/>
          <a:p>
            <a:pPr algn="ctr"/>
            <a:r>
              <a:rPr sz="2000" b="1">
                <a:solidFill>
                  <a:srgbClr val="0D0D0D"/>
                </a:solidFill>
              </a:rPr>
              <a:t>5</a:t>
            </a:r>
          </a:p>
        </p:txBody>
      </p:sp>
      <p:sp>
        <p:nvSpPr>
          <p:cNvPr id="28" name="TextBox 27"/>
          <p:cNvSpPr txBox="1"/>
          <p:nvPr/>
        </p:nvSpPr>
        <p:spPr>
          <a:xfrm>
            <a:off x="1143000" y="5221224"/>
            <a:ext cx="3017520" cy="457200"/>
          </a:xfrm>
          <a:prstGeom prst="rect">
            <a:avLst/>
          </a:prstGeom>
          <a:noFill/>
        </p:spPr>
        <p:txBody>
          <a:bodyPr wrap="square">
            <a:spAutoFit/>
          </a:bodyPr>
          <a:lstStyle/>
          <a:p>
            <a:pPr algn="l"/>
            <a:r>
              <a:rPr sz="1700" b="1">
                <a:solidFill>
                  <a:srgbClr val="FFFFFF"/>
                </a:solidFill>
              </a:rPr>
              <a:t>Iterate the description.</a:t>
            </a:r>
          </a:p>
        </p:txBody>
      </p:sp>
      <p:sp>
        <p:nvSpPr>
          <p:cNvPr id="29" name="TextBox 28"/>
          <p:cNvSpPr txBox="1"/>
          <p:nvPr/>
        </p:nvSpPr>
        <p:spPr>
          <a:xfrm>
            <a:off x="4343400" y="5221224"/>
            <a:ext cx="7498079" cy="457200"/>
          </a:xfrm>
          <a:prstGeom prst="rect">
            <a:avLst/>
          </a:prstGeom>
          <a:noFill/>
        </p:spPr>
        <p:txBody>
          <a:bodyPr wrap="square">
            <a:spAutoFit/>
          </a:bodyPr>
          <a:lstStyle/>
          <a:p>
            <a:pPr algn="l"/>
            <a:r>
              <a:rPr sz="1400" b="0">
                <a:solidFill>
                  <a:srgbClr val="CCCCCC"/>
                </a:solidFill>
              </a:rPr>
              <a:t>If it does not trigger, add more trigger phrases. If it triggers too often, make it more specific.</a:t>
            </a:r>
          </a:p>
        </p:txBody>
      </p:sp>
      <p:sp>
        <p:nvSpPr>
          <p:cNvPr id="30" name="TextBox 29"/>
          <p:cNvSpPr txBox="1"/>
          <p:nvPr/>
        </p:nvSpPr>
        <p:spPr>
          <a:xfrm>
            <a:off x="548640" y="5989320"/>
            <a:ext cx="11430000" cy="502920"/>
          </a:xfrm>
          <a:prstGeom prst="rect">
            <a:avLst/>
          </a:prstGeom>
          <a:noFill/>
        </p:spPr>
        <p:txBody>
          <a:bodyPr wrap="square">
            <a:spAutoFit/>
          </a:bodyPr>
          <a:lstStyle/>
          <a:p>
            <a:pPr algn="l"/>
            <a:r>
              <a:rPr sz="1500" b="1">
                <a:solidFill>
                  <a:srgbClr val="D47A21"/>
                </a:solidFill>
              </a:rPr>
              <a:t>step 5 is the most important one. A skill that never triggers is just a markdown file nobody reads.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7  ·  WHERE DOES IT BELONG?</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400" b="1">
                <a:solidFill>
                  <a:srgbClr val="FFFFFF"/>
                </a:solidFill>
              </a:rPr>
              <a:t>One Question Tells You Where to Put It</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74519"/>
            <a:ext cx="11430000" cy="365760"/>
          </a:xfrm>
          <a:prstGeom prst="rect">
            <a:avLst/>
          </a:prstGeom>
          <a:noFill/>
        </p:spPr>
        <p:txBody>
          <a:bodyPr wrap="square">
            <a:spAutoFit/>
          </a:bodyPr>
          <a:lstStyle/>
          <a:p>
            <a:pPr algn="l"/>
            <a:r>
              <a:rPr sz="1600" b="0">
                <a:solidFill>
                  <a:srgbClr val="888888"/>
                </a:solidFill>
              </a:rPr>
              <a:t>Ask: is this a fact, a preference, or a multi-step procedure?</a:t>
            </a:r>
          </a:p>
        </p:txBody>
      </p:sp>
      <p:sp>
        <p:nvSpPr>
          <p:cNvPr id="7" name="Rectangle 6"/>
          <p:cNvSpPr/>
          <p:nvPr/>
        </p:nvSpPr>
        <p:spPr>
          <a:xfrm>
            <a:off x="365760" y="2331720"/>
            <a:ext cx="3566160" cy="38404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496312"/>
            <a:ext cx="3291840" cy="411480"/>
          </a:xfrm>
          <a:prstGeom prst="rect">
            <a:avLst/>
          </a:prstGeom>
          <a:noFill/>
        </p:spPr>
        <p:txBody>
          <a:bodyPr wrap="square">
            <a:spAutoFit/>
          </a:bodyPr>
          <a:lstStyle/>
          <a:p>
            <a:pPr algn="l"/>
            <a:r>
              <a:rPr sz="1200" b="1">
                <a:solidFill>
                  <a:srgbClr val="D47A21"/>
                </a:solidFill>
              </a:rPr>
              <a:t>FACT OR PREFERENCE</a:t>
            </a:r>
          </a:p>
        </p:txBody>
      </p:sp>
      <p:sp>
        <p:nvSpPr>
          <p:cNvPr id="9" name="TextBox 8"/>
          <p:cNvSpPr txBox="1"/>
          <p:nvPr/>
        </p:nvSpPr>
        <p:spPr>
          <a:xfrm>
            <a:off x="502920" y="2990088"/>
            <a:ext cx="3291840" cy="502920"/>
          </a:xfrm>
          <a:prstGeom prst="rect">
            <a:avLst/>
          </a:prstGeom>
          <a:noFill/>
        </p:spPr>
        <p:txBody>
          <a:bodyPr wrap="square">
            <a:spAutoFit/>
          </a:bodyPr>
          <a:lstStyle/>
          <a:p>
            <a:pPr algn="l"/>
            <a:r>
              <a:rPr sz="1800" b="1">
                <a:solidFill>
                  <a:srgbClr val="FFFFFF"/>
                </a:solidFill>
              </a:rPr>
              <a:t>Put it in CLAUDE.md</a:t>
            </a:r>
          </a:p>
        </p:txBody>
      </p:sp>
      <p:sp>
        <p:nvSpPr>
          <p:cNvPr id="10" name="TextBox 9"/>
          <p:cNvSpPr txBox="1"/>
          <p:nvPr/>
        </p:nvSpPr>
        <p:spPr>
          <a:xfrm>
            <a:off x="502920" y="3566160"/>
            <a:ext cx="3291840" cy="411480"/>
          </a:xfrm>
          <a:prstGeom prst="rect">
            <a:avLst/>
          </a:prstGeom>
          <a:noFill/>
        </p:spPr>
        <p:txBody>
          <a:bodyPr wrap="square">
            <a:spAutoFit/>
          </a:bodyPr>
          <a:lstStyle/>
          <a:p>
            <a:pPr algn="l"/>
            <a:r>
              <a:rPr sz="1300" b="0">
                <a:solidFill>
                  <a:srgbClr val="888888"/>
                </a:solidFill>
              </a:rPr>
              <a:t>Always loaded, zero invocation needed.</a:t>
            </a:r>
          </a:p>
        </p:txBody>
      </p:sp>
      <p:sp>
        <p:nvSpPr>
          <p:cNvPr id="11" name="TextBox 10"/>
          <p:cNvSpPr txBox="1"/>
          <p:nvPr/>
        </p:nvSpPr>
        <p:spPr>
          <a:xfrm>
            <a:off x="502920" y="4114800"/>
            <a:ext cx="3291840" cy="1828800"/>
          </a:xfrm>
          <a:prstGeom prst="rect">
            <a:avLst/>
          </a:prstGeom>
          <a:noFill/>
        </p:spPr>
        <p:txBody>
          <a:bodyPr wrap="square">
            <a:spAutoFit/>
          </a:bodyPr>
          <a:lstStyle/>
          <a:p>
            <a:pPr algn="l"/>
            <a:r>
              <a:rPr sz="1300" b="0">
                <a:solidFill>
                  <a:srgbClr val="CCCCCC"/>
                </a:solidFill>
              </a:rPr>
              <a:t>Examples: date format rules, writing voice, stack choices, hard constraints.</a:t>
            </a:r>
          </a:p>
        </p:txBody>
      </p:sp>
      <p:sp>
        <p:nvSpPr>
          <p:cNvPr id="12" name="Rectangle 11"/>
          <p:cNvSpPr/>
          <p:nvPr/>
        </p:nvSpPr>
        <p:spPr>
          <a:xfrm>
            <a:off x="4114800" y="2331720"/>
            <a:ext cx="3566160" cy="38404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1960" y="2496312"/>
            <a:ext cx="3291840" cy="411480"/>
          </a:xfrm>
          <a:prstGeom prst="rect">
            <a:avLst/>
          </a:prstGeom>
          <a:noFill/>
        </p:spPr>
        <p:txBody>
          <a:bodyPr wrap="square">
            <a:spAutoFit/>
          </a:bodyPr>
          <a:lstStyle/>
          <a:p>
            <a:pPr algn="l"/>
            <a:r>
              <a:rPr sz="1200" b="1">
                <a:solidFill>
                  <a:srgbClr val="D47A21"/>
                </a:solidFill>
              </a:rPr>
              <a:t>STABLE PROCEDURE</a:t>
            </a:r>
          </a:p>
        </p:txBody>
      </p:sp>
      <p:sp>
        <p:nvSpPr>
          <p:cNvPr id="14" name="TextBox 13"/>
          <p:cNvSpPr txBox="1"/>
          <p:nvPr/>
        </p:nvSpPr>
        <p:spPr>
          <a:xfrm>
            <a:off x="4251960" y="2990088"/>
            <a:ext cx="3291840" cy="502920"/>
          </a:xfrm>
          <a:prstGeom prst="rect">
            <a:avLst/>
          </a:prstGeom>
          <a:noFill/>
        </p:spPr>
        <p:txBody>
          <a:bodyPr wrap="square">
            <a:spAutoFit/>
          </a:bodyPr>
          <a:lstStyle/>
          <a:p>
            <a:pPr algn="l"/>
            <a:r>
              <a:rPr sz="1800" b="1">
                <a:solidFill>
                  <a:srgbClr val="FFFFFF"/>
                </a:solidFill>
              </a:rPr>
              <a:t>Make it a skill</a:t>
            </a:r>
          </a:p>
        </p:txBody>
      </p:sp>
      <p:sp>
        <p:nvSpPr>
          <p:cNvPr id="15" name="TextBox 14"/>
          <p:cNvSpPr txBox="1"/>
          <p:nvPr/>
        </p:nvSpPr>
        <p:spPr>
          <a:xfrm>
            <a:off x="4251960" y="3566160"/>
            <a:ext cx="3291840" cy="411480"/>
          </a:xfrm>
          <a:prstGeom prst="rect">
            <a:avLst/>
          </a:prstGeom>
          <a:noFill/>
        </p:spPr>
        <p:txBody>
          <a:bodyPr wrap="square">
            <a:spAutoFit/>
          </a:bodyPr>
          <a:lstStyle/>
          <a:p>
            <a:pPr algn="l"/>
            <a:r>
              <a:rPr sz="1300" b="0">
                <a:solidFill>
                  <a:srgbClr val="888888"/>
                </a:solidFill>
              </a:rPr>
              <a:t>Loads on demand when description matches.</a:t>
            </a:r>
          </a:p>
        </p:txBody>
      </p:sp>
      <p:sp>
        <p:nvSpPr>
          <p:cNvPr id="16" name="TextBox 15"/>
          <p:cNvSpPr txBox="1"/>
          <p:nvPr/>
        </p:nvSpPr>
        <p:spPr>
          <a:xfrm>
            <a:off x="4251960" y="4114800"/>
            <a:ext cx="3291840" cy="1828800"/>
          </a:xfrm>
          <a:prstGeom prst="rect">
            <a:avLst/>
          </a:prstGeom>
          <a:noFill/>
        </p:spPr>
        <p:txBody>
          <a:bodyPr wrap="square">
            <a:spAutoFit/>
          </a:bodyPr>
          <a:lstStyle/>
          <a:p>
            <a:pPr algn="l"/>
            <a:r>
              <a:rPr sz="1300" b="0">
                <a:solidFill>
                  <a:srgbClr val="CCCCCC"/>
                </a:solidFill>
              </a:rPr>
              <a:t>Examples: standup summary, email drafter, PRD writer, OKR writer.</a:t>
            </a:r>
          </a:p>
        </p:txBody>
      </p:sp>
      <p:sp>
        <p:nvSpPr>
          <p:cNvPr id="17" name="Rectangle 16"/>
          <p:cNvSpPr/>
          <p:nvPr/>
        </p:nvSpPr>
        <p:spPr>
          <a:xfrm>
            <a:off x="7863840" y="2331720"/>
            <a:ext cx="3566160" cy="38404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2496312"/>
            <a:ext cx="3291840" cy="411480"/>
          </a:xfrm>
          <a:prstGeom prst="rect">
            <a:avLst/>
          </a:prstGeom>
          <a:noFill/>
        </p:spPr>
        <p:txBody>
          <a:bodyPr wrap="square">
            <a:spAutoFit/>
          </a:bodyPr>
          <a:lstStyle/>
          <a:p>
            <a:pPr algn="l"/>
            <a:r>
              <a:rPr sz="1200" b="1">
                <a:solidFill>
                  <a:srgbClr val="D47A21"/>
                </a:solidFill>
              </a:rPr>
              <a:t>ONE-OFF TASK</a:t>
            </a:r>
          </a:p>
        </p:txBody>
      </p:sp>
      <p:sp>
        <p:nvSpPr>
          <p:cNvPr id="19" name="TextBox 18"/>
          <p:cNvSpPr txBox="1"/>
          <p:nvPr/>
        </p:nvSpPr>
        <p:spPr>
          <a:xfrm>
            <a:off x="8001000" y="2990088"/>
            <a:ext cx="3291840" cy="502920"/>
          </a:xfrm>
          <a:prstGeom prst="rect">
            <a:avLst/>
          </a:prstGeom>
          <a:noFill/>
        </p:spPr>
        <p:txBody>
          <a:bodyPr wrap="square">
            <a:spAutoFit/>
          </a:bodyPr>
          <a:lstStyle/>
          <a:p>
            <a:pPr algn="l"/>
            <a:r>
              <a:rPr sz="1800" b="1">
                <a:solidFill>
                  <a:srgbClr val="FFFFFF"/>
                </a:solidFill>
              </a:rPr>
              <a:t>Paste it in chat</a:t>
            </a:r>
          </a:p>
        </p:txBody>
      </p:sp>
      <p:sp>
        <p:nvSpPr>
          <p:cNvPr id="20" name="TextBox 19"/>
          <p:cNvSpPr txBox="1"/>
          <p:nvPr/>
        </p:nvSpPr>
        <p:spPr>
          <a:xfrm>
            <a:off x="8001000" y="3566160"/>
            <a:ext cx="3291840" cy="411480"/>
          </a:xfrm>
          <a:prstGeom prst="rect">
            <a:avLst/>
          </a:prstGeom>
          <a:noFill/>
        </p:spPr>
        <p:txBody>
          <a:bodyPr wrap="square">
            <a:spAutoFit/>
          </a:bodyPr>
          <a:lstStyle/>
          <a:p>
            <a:pPr algn="l"/>
            <a:r>
              <a:rPr sz="1300" b="0">
                <a:solidFill>
                  <a:srgbClr val="888888"/>
                </a:solidFill>
              </a:rPr>
              <a:t>No overhead, no maintenance, no file.</a:t>
            </a:r>
          </a:p>
        </p:txBody>
      </p:sp>
      <p:sp>
        <p:nvSpPr>
          <p:cNvPr id="21" name="TextBox 20"/>
          <p:cNvSpPr txBox="1"/>
          <p:nvPr/>
        </p:nvSpPr>
        <p:spPr>
          <a:xfrm>
            <a:off x="8001000" y="4114800"/>
            <a:ext cx="3291840" cy="1828800"/>
          </a:xfrm>
          <a:prstGeom prst="rect">
            <a:avLst/>
          </a:prstGeom>
          <a:noFill/>
        </p:spPr>
        <p:txBody>
          <a:bodyPr wrap="square">
            <a:spAutoFit/>
          </a:bodyPr>
          <a:lstStyle/>
          <a:p>
            <a:pPr algn="l"/>
            <a:r>
              <a:rPr sz="1300" b="0">
                <a:solidFill>
                  <a:srgbClr val="CCCCCC"/>
                </a:solidFill>
              </a:rPr>
              <a:t>Examples: analyzing a specific doc once, answering a question about one meeting.</a:t>
            </a:r>
          </a:p>
        </p:txBody>
      </p:sp>
      <p:sp>
        <p:nvSpPr>
          <p:cNvPr id="22" name="TextBox 21"/>
          <p:cNvSpPr txBox="1"/>
          <p:nvPr/>
        </p:nvSpPr>
        <p:spPr>
          <a:xfrm>
            <a:off x="548640" y="6281928"/>
            <a:ext cx="11430000" cy="384048"/>
          </a:xfrm>
          <a:prstGeom prst="rect">
            <a:avLst/>
          </a:prstGeom>
          <a:noFill/>
        </p:spPr>
        <p:txBody>
          <a:bodyPr wrap="square">
            <a:spAutoFit/>
          </a:bodyPr>
          <a:lstStyle/>
          <a:p>
            <a:pPr algn="l"/>
            <a:r>
              <a:rPr sz="1400" b="1">
                <a:solidFill>
                  <a:srgbClr val="D47A21"/>
                </a:solidFill>
              </a:rPr>
              <a:t>when in doubt, start with CLAUDE.md. Graduate to a skill once the procedure is stable and you are repeating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WRAP-UP  ·  FIVE THINGS TO REMEMBER</a:t>
            </a:r>
          </a:p>
        </p:txBody>
      </p:sp>
      <p:sp>
        <p:nvSpPr>
          <p:cNvPr id="4" name="TextBox 3"/>
          <p:cNvSpPr txBox="1"/>
          <p:nvPr/>
        </p:nvSpPr>
        <p:spPr>
          <a:xfrm>
            <a:off x="548640" y="868680"/>
            <a:ext cx="11430000" cy="777240"/>
          </a:xfrm>
          <a:prstGeom prst="rect">
            <a:avLst/>
          </a:prstGeom>
          <a:noFill/>
        </p:spPr>
        <p:txBody>
          <a:bodyPr wrap="square">
            <a:spAutoFit/>
          </a:bodyPr>
          <a:lstStyle/>
          <a:p>
            <a:pPr algn="l"/>
            <a:r>
              <a:rPr sz="3800" b="1">
                <a:solidFill>
                  <a:srgbClr val="FFFFFF"/>
                </a:solidFill>
              </a:rPr>
              <a:t>The Five Things That Actually Matter</a:t>
            </a:r>
          </a:p>
        </p:txBody>
      </p:sp>
      <p:sp>
        <p:nvSpPr>
          <p:cNvPr id="5" name="Rectangle 4"/>
          <p:cNvSpPr/>
          <p:nvPr/>
        </p:nvSpPr>
        <p:spPr>
          <a:xfrm>
            <a:off x="548640" y="17373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80"/>
            <a:ext cx="11430000" cy="3657600"/>
          </a:xfrm>
          <a:prstGeom prst="rect">
            <a:avLst/>
          </a:prstGeom>
          <a:noFill/>
        </p:spPr>
        <p:txBody>
          <a:bodyPr wrap="square">
            <a:spAutoFit/>
          </a:bodyPr>
          <a:lstStyle/>
          <a:p>
            <a:pPr algn="l">
              <a:spcAft>
                <a:spcPts val="1400"/>
              </a:spcAft>
            </a:pPr>
            <a:r>
              <a:rPr sz="2200">
                <a:solidFill>
                  <a:srgbClr val="CCCCCC"/>
                </a:solidFill>
              </a:rPr>
              <a:t>  A skill is a markdown file with YAML frontmatter and an instructions body.</a:t>
            </a:r>
          </a:p>
          <a:p>
            <a:pPr algn="l">
              <a:spcAft>
                <a:spcPts val="1400"/>
              </a:spcAft>
            </a:pPr>
            <a:r>
              <a:rPr sz="2200">
                <a:solidFill>
                  <a:srgbClr val="CCCCCC"/>
                </a:solidFill>
              </a:rPr>
              <a:t>  The description field is the trigger. Load trigger phrases there, not in the body.</a:t>
            </a:r>
          </a:p>
          <a:p>
            <a:pPr algn="l">
              <a:spcAft>
                <a:spcPts val="1400"/>
              </a:spcAft>
            </a:pPr>
            <a:r>
              <a:rPr sz="2200">
                <a:solidFill>
                  <a:srgbClr val="CCCCCC"/>
                </a:solidFill>
              </a:rPr>
              <a:t>  Progressive disclosure: description always, body on trigger, resources on demand.</a:t>
            </a:r>
          </a:p>
          <a:p>
            <a:pPr algn="l">
              <a:spcAft>
                <a:spcPts val="1400"/>
              </a:spcAft>
            </a:pPr>
            <a:r>
              <a:rPr sz="2200">
                <a:solidFill>
                  <a:srgbClr val="CCCCCC"/>
                </a:solidFill>
              </a:rPr>
              <a:t>  Three times pasting the same thing = time to make a skill.</a:t>
            </a:r>
          </a:p>
          <a:p>
            <a:pPr algn="l">
              <a:spcAft>
                <a:spcPts val="1400"/>
              </a:spcAft>
            </a:pPr>
            <a:r>
              <a:rPr sz="2200">
                <a:solidFill>
                  <a:srgbClr val="CCCCCC"/>
                </a:solidFill>
              </a:rPr>
              <a:t>  Facts in CLAUDE.md. Procedures in skills. One-offs in chat.</a:t>
            </a:r>
          </a:p>
        </p:txBody>
      </p:sp>
      <p:sp>
        <p:nvSpPr>
          <p:cNvPr id="7" name="TextBox 6"/>
          <p:cNvSpPr txBox="1"/>
          <p:nvPr/>
        </p:nvSpPr>
        <p:spPr>
          <a:xfrm>
            <a:off x="548640" y="5989320"/>
            <a:ext cx="11430000" cy="502920"/>
          </a:xfrm>
          <a:prstGeom prst="rect">
            <a:avLst/>
          </a:prstGeom>
          <a:noFill/>
        </p:spPr>
        <p:txBody>
          <a:bodyPr wrap="square">
            <a:spAutoFit/>
          </a:bodyPr>
          <a:lstStyle/>
          <a:p>
            <a:pPr algn="l"/>
            <a:r>
              <a:rPr sz="1700" b="1">
                <a:solidFill>
                  <a:srgbClr val="D47A21"/>
                </a:solidFill>
              </a:rPr>
              <a:t>a skill is leverage. Build it once, use it on every project, share it with the team.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REFERENCE  ·  GLOSSARY</a:t>
            </a:r>
          </a:p>
        </p:txBody>
      </p:sp>
      <p:sp>
        <p:nvSpPr>
          <p:cNvPr id="4" name="TextBox 3"/>
          <p:cNvSpPr txBox="1"/>
          <p:nvPr/>
        </p:nvSpPr>
        <p:spPr>
          <a:xfrm>
            <a:off x="548640" y="868680"/>
            <a:ext cx="11430000" cy="685800"/>
          </a:xfrm>
          <a:prstGeom prst="rect">
            <a:avLst/>
          </a:prstGeom>
          <a:noFill/>
        </p:spPr>
        <p:txBody>
          <a:bodyPr wrap="square">
            <a:spAutoFit/>
          </a:bodyPr>
          <a:lstStyle/>
          <a:p>
            <a:pPr algn="l"/>
            <a:r>
              <a:rPr sz="3200" b="1">
                <a:solidFill>
                  <a:srgbClr val="FFFFFF"/>
                </a:solidFill>
              </a:rPr>
              <a:t>Glossary - Terms You'll Hear All Workshop</a:t>
            </a:r>
          </a:p>
        </p:txBody>
      </p:sp>
      <p:sp>
        <p:nvSpPr>
          <p:cNvPr id="5" name="Rectangle 4"/>
          <p:cNvSpPr/>
          <p:nvPr/>
        </p:nvSpPr>
        <p:spPr>
          <a:xfrm>
            <a:off x="548640" y="164592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01368"/>
            <a:ext cx="11247120" cy="44805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74520"/>
            <a:ext cx="2560320" cy="484632"/>
          </a:xfrm>
          <a:prstGeom prst="rect">
            <a:avLst/>
          </a:prstGeom>
          <a:noFill/>
        </p:spPr>
        <p:txBody>
          <a:bodyPr wrap="square">
            <a:spAutoFit/>
          </a:bodyPr>
          <a:lstStyle/>
          <a:p>
            <a:pPr algn="l"/>
            <a:r>
              <a:rPr sz="1400" b="1">
                <a:solidFill>
                  <a:srgbClr val="D47A21"/>
                </a:solidFill>
              </a:rPr>
              <a:t>Skill</a:t>
            </a:r>
          </a:p>
        </p:txBody>
      </p:sp>
      <p:sp>
        <p:nvSpPr>
          <p:cNvPr id="8" name="TextBox 7"/>
          <p:cNvSpPr txBox="1"/>
          <p:nvPr/>
        </p:nvSpPr>
        <p:spPr>
          <a:xfrm>
            <a:off x="3383280" y="1874520"/>
            <a:ext cx="8412480" cy="484632"/>
          </a:xfrm>
          <a:prstGeom prst="rect">
            <a:avLst/>
          </a:prstGeom>
          <a:noFill/>
        </p:spPr>
        <p:txBody>
          <a:bodyPr wrap="square">
            <a:spAutoFit/>
          </a:bodyPr>
          <a:lstStyle/>
          <a:p>
            <a:pPr algn="l"/>
            <a:r>
              <a:rPr sz="1400" b="0">
                <a:solidFill>
                  <a:srgbClr val="CCCCCC"/>
                </a:solidFill>
              </a:rPr>
              <a:t>a markdown file that loads when its description matches your prompt</a:t>
            </a:r>
          </a:p>
        </p:txBody>
      </p:sp>
      <p:sp>
        <p:nvSpPr>
          <p:cNvPr id="9" name="TextBox 8"/>
          <p:cNvSpPr txBox="1"/>
          <p:nvPr/>
        </p:nvSpPr>
        <p:spPr>
          <a:xfrm>
            <a:off x="640080" y="2359152"/>
            <a:ext cx="2560320" cy="484632"/>
          </a:xfrm>
          <a:prstGeom prst="rect">
            <a:avLst/>
          </a:prstGeom>
          <a:noFill/>
        </p:spPr>
        <p:txBody>
          <a:bodyPr wrap="square">
            <a:spAutoFit/>
          </a:bodyPr>
          <a:lstStyle/>
          <a:p>
            <a:pPr algn="l"/>
            <a:r>
              <a:rPr sz="1400" b="1">
                <a:solidFill>
                  <a:srgbClr val="D47A21"/>
                </a:solidFill>
              </a:rPr>
              <a:t>SKILL.md</a:t>
            </a:r>
          </a:p>
        </p:txBody>
      </p:sp>
      <p:sp>
        <p:nvSpPr>
          <p:cNvPr id="10" name="TextBox 9"/>
          <p:cNvSpPr txBox="1"/>
          <p:nvPr/>
        </p:nvSpPr>
        <p:spPr>
          <a:xfrm>
            <a:off x="3383280" y="2359152"/>
            <a:ext cx="8412480" cy="484632"/>
          </a:xfrm>
          <a:prstGeom prst="rect">
            <a:avLst/>
          </a:prstGeom>
          <a:noFill/>
        </p:spPr>
        <p:txBody>
          <a:bodyPr wrap="square">
            <a:spAutoFit/>
          </a:bodyPr>
          <a:lstStyle/>
          <a:p>
            <a:pPr algn="l"/>
            <a:r>
              <a:rPr sz="1400" b="0">
                <a:solidFill>
                  <a:srgbClr val="CCCCCC"/>
                </a:solidFill>
              </a:rPr>
              <a:t>the file that defines a skill (YAML frontmatter + markdown body)</a:t>
            </a:r>
          </a:p>
        </p:txBody>
      </p:sp>
      <p:sp>
        <p:nvSpPr>
          <p:cNvPr id="11" name="Rectangle 10"/>
          <p:cNvSpPr/>
          <p:nvPr/>
        </p:nvSpPr>
        <p:spPr>
          <a:xfrm>
            <a:off x="457200" y="2770632"/>
            <a:ext cx="11247120" cy="44805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843784"/>
            <a:ext cx="2560320" cy="484632"/>
          </a:xfrm>
          <a:prstGeom prst="rect">
            <a:avLst/>
          </a:prstGeom>
          <a:noFill/>
        </p:spPr>
        <p:txBody>
          <a:bodyPr wrap="square">
            <a:spAutoFit/>
          </a:bodyPr>
          <a:lstStyle/>
          <a:p>
            <a:pPr algn="l"/>
            <a:r>
              <a:rPr sz="1400" b="1">
                <a:solidFill>
                  <a:srgbClr val="D47A21"/>
                </a:solidFill>
              </a:rPr>
              <a:t>Frontmatter</a:t>
            </a:r>
          </a:p>
        </p:txBody>
      </p:sp>
      <p:sp>
        <p:nvSpPr>
          <p:cNvPr id="13" name="TextBox 12"/>
          <p:cNvSpPr txBox="1"/>
          <p:nvPr/>
        </p:nvSpPr>
        <p:spPr>
          <a:xfrm>
            <a:off x="3383280" y="2843784"/>
            <a:ext cx="8412480" cy="484632"/>
          </a:xfrm>
          <a:prstGeom prst="rect">
            <a:avLst/>
          </a:prstGeom>
          <a:noFill/>
        </p:spPr>
        <p:txBody>
          <a:bodyPr wrap="square">
            <a:spAutoFit/>
          </a:bodyPr>
          <a:lstStyle/>
          <a:p>
            <a:pPr algn="l"/>
            <a:r>
              <a:rPr sz="1400" b="0">
                <a:solidFill>
                  <a:srgbClr val="CCCCCC"/>
                </a:solidFill>
              </a:rPr>
              <a:t>the name + description block at the top of SKILL.md</a:t>
            </a:r>
          </a:p>
        </p:txBody>
      </p:sp>
      <p:sp>
        <p:nvSpPr>
          <p:cNvPr id="14" name="TextBox 13"/>
          <p:cNvSpPr txBox="1"/>
          <p:nvPr/>
        </p:nvSpPr>
        <p:spPr>
          <a:xfrm>
            <a:off x="640080" y="3328416"/>
            <a:ext cx="2560320" cy="484632"/>
          </a:xfrm>
          <a:prstGeom prst="rect">
            <a:avLst/>
          </a:prstGeom>
          <a:noFill/>
        </p:spPr>
        <p:txBody>
          <a:bodyPr wrap="square">
            <a:spAutoFit/>
          </a:bodyPr>
          <a:lstStyle/>
          <a:p>
            <a:pPr algn="l"/>
            <a:r>
              <a:rPr sz="1400" b="1">
                <a:solidFill>
                  <a:srgbClr val="D47A21"/>
                </a:solidFill>
              </a:rPr>
              <a:t>Subagent</a:t>
            </a:r>
          </a:p>
        </p:txBody>
      </p:sp>
      <p:sp>
        <p:nvSpPr>
          <p:cNvPr id="15" name="TextBox 14"/>
          <p:cNvSpPr txBox="1"/>
          <p:nvPr/>
        </p:nvSpPr>
        <p:spPr>
          <a:xfrm>
            <a:off x="3383280" y="3328416"/>
            <a:ext cx="8412480" cy="484632"/>
          </a:xfrm>
          <a:prstGeom prst="rect">
            <a:avLst/>
          </a:prstGeom>
          <a:noFill/>
        </p:spPr>
        <p:txBody>
          <a:bodyPr wrap="square">
            <a:spAutoFit/>
          </a:bodyPr>
          <a:lstStyle/>
          <a:p>
            <a:pPr algn="l"/>
            <a:r>
              <a:rPr sz="1400" b="0">
                <a:solidFill>
                  <a:srgbClr val="CCCCCC"/>
                </a:solidFill>
              </a:rPr>
              <a:t>a separate Claude instance with its own clean context window</a:t>
            </a:r>
          </a:p>
        </p:txBody>
      </p:sp>
      <p:sp>
        <p:nvSpPr>
          <p:cNvPr id="16" name="Rectangle 15"/>
          <p:cNvSpPr/>
          <p:nvPr/>
        </p:nvSpPr>
        <p:spPr>
          <a:xfrm>
            <a:off x="457200" y="3739896"/>
            <a:ext cx="11247120" cy="44805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813048"/>
            <a:ext cx="2560320" cy="484632"/>
          </a:xfrm>
          <a:prstGeom prst="rect">
            <a:avLst/>
          </a:prstGeom>
          <a:noFill/>
        </p:spPr>
        <p:txBody>
          <a:bodyPr wrap="square">
            <a:spAutoFit/>
          </a:bodyPr>
          <a:lstStyle/>
          <a:p>
            <a:pPr algn="l"/>
            <a:r>
              <a:rPr sz="1400" b="1">
                <a:solidFill>
                  <a:srgbClr val="D47A21"/>
                </a:solidFill>
              </a:rPr>
              <a:t>Slash command</a:t>
            </a:r>
          </a:p>
        </p:txBody>
      </p:sp>
      <p:sp>
        <p:nvSpPr>
          <p:cNvPr id="18" name="TextBox 17"/>
          <p:cNvSpPr txBox="1"/>
          <p:nvPr/>
        </p:nvSpPr>
        <p:spPr>
          <a:xfrm>
            <a:off x="3383280" y="3813048"/>
            <a:ext cx="8412480" cy="484632"/>
          </a:xfrm>
          <a:prstGeom prst="rect">
            <a:avLst/>
          </a:prstGeom>
          <a:noFill/>
        </p:spPr>
        <p:txBody>
          <a:bodyPr wrap="square">
            <a:spAutoFit/>
          </a:bodyPr>
          <a:lstStyle/>
          <a:p>
            <a:pPr algn="l"/>
            <a:r>
              <a:rPr sz="1400" b="0">
                <a:solidFill>
                  <a:srgbClr val="CCCCCC"/>
                </a:solidFill>
              </a:rPr>
              <a:t>a built-in command typed inside Claude (/help, /clear, /skill-name)</a:t>
            </a:r>
          </a:p>
        </p:txBody>
      </p:sp>
      <p:sp>
        <p:nvSpPr>
          <p:cNvPr id="19" name="TextBox 18"/>
          <p:cNvSpPr txBox="1"/>
          <p:nvPr/>
        </p:nvSpPr>
        <p:spPr>
          <a:xfrm>
            <a:off x="640080" y="4297680"/>
            <a:ext cx="2560320" cy="484632"/>
          </a:xfrm>
          <a:prstGeom prst="rect">
            <a:avLst/>
          </a:prstGeom>
          <a:noFill/>
        </p:spPr>
        <p:txBody>
          <a:bodyPr wrap="square">
            <a:spAutoFit/>
          </a:bodyPr>
          <a:lstStyle/>
          <a:p>
            <a:pPr algn="l"/>
            <a:r>
              <a:rPr sz="1400" b="1">
                <a:solidFill>
                  <a:srgbClr val="D47A21"/>
                </a:solidFill>
              </a:rPr>
              <a:t>MCP server</a:t>
            </a:r>
          </a:p>
        </p:txBody>
      </p:sp>
      <p:sp>
        <p:nvSpPr>
          <p:cNvPr id="20" name="TextBox 19"/>
          <p:cNvSpPr txBox="1"/>
          <p:nvPr/>
        </p:nvSpPr>
        <p:spPr>
          <a:xfrm>
            <a:off x="3383280" y="4297680"/>
            <a:ext cx="8412480" cy="484632"/>
          </a:xfrm>
          <a:prstGeom prst="rect">
            <a:avLst/>
          </a:prstGeom>
          <a:noFill/>
        </p:spPr>
        <p:txBody>
          <a:bodyPr wrap="square">
            <a:spAutoFit/>
          </a:bodyPr>
          <a:lstStyle/>
          <a:p>
            <a:pPr algn="l"/>
            <a:r>
              <a:rPr sz="1400" b="0">
                <a:solidFill>
                  <a:srgbClr val="CCCCCC"/>
                </a:solidFill>
              </a:rPr>
              <a:t>a connector that lets Claude talk to an external tool (Jira, Figma)</a:t>
            </a:r>
          </a:p>
        </p:txBody>
      </p:sp>
      <p:sp>
        <p:nvSpPr>
          <p:cNvPr id="21" name="Rectangle 20"/>
          <p:cNvSpPr/>
          <p:nvPr/>
        </p:nvSpPr>
        <p:spPr>
          <a:xfrm>
            <a:off x="457200" y="4709160"/>
            <a:ext cx="11247120" cy="44805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782312"/>
            <a:ext cx="2560320" cy="484632"/>
          </a:xfrm>
          <a:prstGeom prst="rect">
            <a:avLst/>
          </a:prstGeom>
          <a:noFill/>
        </p:spPr>
        <p:txBody>
          <a:bodyPr wrap="square">
            <a:spAutoFit/>
          </a:bodyPr>
          <a:lstStyle/>
          <a:p>
            <a:pPr algn="l"/>
            <a:r>
              <a:rPr sz="1400" b="1">
                <a:solidFill>
                  <a:srgbClr val="D47A21"/>
                </a:solidFill>
              </a:rPr>
              <a:t>Progressive disclosure</a:t>
            </a:r>
          </a:p>
        </p:txBody>
      </p:sp>
      <p:sp>
        <p:nvSpPr>
          <p:cNvPr id="23" name="TextBox 22"/>
          <p:cNvSpPr txBox="1"/>
          <p:nvPr/>
        </p:nvSpPr>
        <p:spPr>
          <a:xfrm>
            <a:off x="3383280" y="4782312"/>
            <a:ext cx="8412480" cy="484632"/>
          </a:xfrm>
          <a:prstGeom prst="rect">
            <a:avLst/>
          </a:prstGeom>
          <a:noFill/>
        </p:spPr>
        <p:txBody>
          <a:bodyPr wrap="square">
            <a:spAutoFit/>
          </a:bodyPr>
          <a:lstStyle/>
          <a:p>
            <a:pPr algn="l"/>
            <a:r>
              <a:rPr sz="1400" b="0">
                <a:solidFill>
                  <a:srgbClr val="CCCCCC"/>
                </a:solidFill>
              </a:rPr>
              <a:t>metadata always in context, body loads on trigger, files load on demand</a:t>
            </a:r>
          </a:p>
        </p:txBody>
      </p:sp>
      <p:sp>
        <p:nvSpPr>
          <p:cNvPr id="24" name="TextBox 23"/>
          <p:cNvSpPr txBox="1"/>
          <p:nvPr/>
        </p:nvSpPr>
        <p:spPr>
          <a:xfrm>
            <a:off x="640080" y="5266944"/>
            <a:ext cx="2560320" cy="484632"/>
          </a:xfrm>
          <a:prstGeom prst="rect">
            <a:avLst/>
          </a:prstGeom>
          <a:noFill/>
        </p:spPr>
        <p:txBody>
          <a:bodyPr wrap="square">
            <a:spAutoFit/>
          </a:bodyPr>
          <a:lstStyle/>
          <a:p>
            <a:pPr algn="l"/>
            <a:r>
              <a:rPr sz="1400" b="1">
                <a:solidFill>
                  <a:srgbClr val="D47A21"/>
                </a:solidFill>
              </a:rPr>
              <a:t>3+ repeat heuristic</a:t>
            </a:r>
          </a:p>
        </p:txBody>
      </p:sp>
      <p:sp>
        <p:nvSpPr>
          <p:cNvPr id="25" name="TextBox 24"/>
          <p:cNvSpPr txBox="1"/>
          <p:nvPr/>
        </p:nvSpPr>
        <p:spPr>
          <a:xfrm>
            <a:off x="3383280" y="5266944"/>
            <a:ext cx="8412480" cy="484632"/>
          </a:xfrm>
          <a:prstGeom prst="rect">
            <a:avLst/>
          </a:prstGeom>
          <a:noFill/>
        </p:spPr>
        <p:txBody>
          <a:bodyPr wrap="square">
            <a:spAutoFit/>
          </a:bodyPr>
          <a:lstStyle/>
          <a:p>
            <a:pPr algn="l"/>
            <a:r>
              <a:rPr sz="1400" b="0">
                <a:solidFill>
                  <a:srgbClr val="CCCCCC"/>
                </a:solidFill>
              </a:rPr>
              <a:t>if you do a task three times, it is probably a skill</a:t>
            </a:r>
          </a:p>
        </p:txBody>
      </p:sp>
      <p:sp>
        <p:nvSpPr>
          <p:cNvPr id="26" name="TextBox 25"/>
          <p:cNvSpPr txBox="1"/>
          <p:nvPr/>
        </p:nvSpPr>
        <p:spPr>
          <a:xfrm>
            <a:off x="548640" y="6492240"/>
            <a:ext cx="11430000" cy="274320"/>
          </a:xfrm>
          <a:prstGeom prst="rect">
            <a:avLst/>
          </a:prstGeom>
          <a:noFill/>
        </p:spPr>
        <p:txBody>
          <a:bodyPr wrap="square">
            <a:spAutoFit/>
          </a:bodyPr>
          <a:lstStyle/>
          <a:p>
            <a:pPr algn="l"/>
            <a:r>
              <a:rPr sz="1400" b="1">
                <a:solidFill>
                  <a:srgbClr val="D47A21"/>
                </a:solidFill>
              </a:rPr>
              <a:t>Knowing the names makes the next session faster.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0972800" cy="1737360"/>
          </a:xfrm>
          <a:prstGeom prst="rect">
            <a:avLst/>
          </a:prstGeom>
          <a:noFill/>
        </p:spPr>
        <p:txBody>
          <a:bodyPr wrap="square">
            <a:spAutoFit/>
          </a:bodyPr>
          <a:lstStyle/>
          <a:p>
            <a:pPr algn="l"/>
            <a:r>
              <a:rPr sz="3800" b="1">
                <a:solidFill>
                  <a:srgbClr val="FFFFFF"/>
                </a:solidFill>
              </a:rPr>
              <a:t>Today you taught Claude habits.
Next: you build the prototype.</a:t>
            </a:r>
          </a:p>
        </p:txBody>
      </p:sp>
      <p:sp>
        <p:nvSpPr>
          <p:cNvPr id="4" name="Rectangle 3"/>
          <p:cNvSpPr/>
          <p:nvPr/>
        </p:nvSpPr>
        <p:spPr>
          <a:xfrm>
            <a:off x="548640" y="251460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697480"/>
            <a:ext cx="7315200" cy="640080"/>
          </a:xfrm>
          <a:prstGeom prst="rect">
            <a:avLst/>
          </a:prstGeom>
          <a:noFill/>
        </p:spPr>
        <p:txBody>
          <a:bodyPr wrap="square">
            <a:spAutoFit/>
          </a:bodyPr>
          <a:lstStyle/>
          <a:p>
            <a:pPr algn="l"/>
            <a:r>
              <a:rPr sz="2400" b="1">
                <a:solidFill>
                  <a:srgbClr val="D47A21"/>
                </a:solidFill>
              </a:rPr>
              <a:t>Prototypes with Claude Code</a:t>
            </a:r>
          </a:p>
        </p:txBody>
      </p:sp>
      <p:sp>
        <p:nvSpPr>
          <p:cNvPr id="6" name="TextBox 5"/>
          <p:cNvSpPr txBox="1"/>
          <p:nvPr/>
        </p:nvSpPr>
        <p:spPr>
          <a:xfrm>
            <a:off x="548640" y="3383280"/>
            <a:ext cx="10972800" cy="2651760"/>
          </a:xfrm>
          <a:prstGeom prst="rect">
            <a:avLst/>
          </a:prstGeom>
          <a:noFill/>
        </p:spPr>
        <p:txBody>
          <a:bodyPr wrap="square">
            <a:spAutoFit/>
          </a:bodyPr>
          <a:lstStyle/>
          <a:p>
            <a:pPr algn="l">
              <a:spcAft>
                <a:spcPts val="1000"/>
              </a:spcAft>
            </a:pPr>
            <a:r>
              <a:rPr sz="2000">
                <a:solidFill>
                  <a:srgbClr val="CCCCCC"/>
                </a:solidFill>
              </a:rPr>
              <a:t>  From skills to full products - scoping what Claude can ship in a session.</a:t>
            </a:r>
          </a:p>
          <a:p>
            <a:pPr algn="l">
              <a:spcAft>
                <a:spcPts val="1000"/>
              </a:spcAft>
            </a:pPr>
            <a:r>
              <a:rPr sz="2000">
                <a:solidFill>
                  <a:srgbClr val="CCCCCC"/>
                </a:solidFill>
              </a:rPr>
              <a:t>  Rapid prototyping loop: spec, build, test, iterate.</a:t>
            </a:r>
          </a:p>
          <a:p>
            <a:pPr algn="l">
              <a:spcAft>
                <a:spcPts val="1000"/>
              </a:spcAft>
            </a:pPr>
            <a:r>
              <a:rPr sz="2000">
                <a:solidFill>
                  <a:srgbClr val="CCCCCC"/>
                </a:solidFill>
              </a:rPr>
              <a:t>  What you can actually build without an engineer.</a:t>
            </a:r>
          </a:p>
          <a:p>
            <a:pPr algn="l">
              <a:spcAft>
                <a:spcPts val="1000"/>
              </a:spcAft>
            </a:pPr>
            <a:r>
              <a:rPr sz="2000">
                <a:solidFill>
                  <a:srgbClr val="CCCCCC"/>
                </a:solidFill>
              </a:rPr>
              <a:t>  Three live builds in session - you pick the prompts.</a:t>
            </a:r>
          </a:p>
          <a:p>
            <a:pPr algn="l">
              <a:spcAft>
                <a:spcPts val="1000"/>
              </a:spcAft>
            </a:pPr>
            <a:r>
              <a:rPr sz="2000">
                <a:solidFill>
                  <a:srgbClr val="CCCCCC"/>
                </a:solidFill>
              </a:rPr>
              <a:t>  How to hand off a prototype for production engineering.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REFERENCE  ·  FAQ</a:t>
            </a:r>
          </a:p>
        </p:txBody>
      </p:sp>
      <p:sp>
        <p:nvSpPr>
          <p:cNvPr id="4" name="TextBox 3"/>
          <p:cNvSpPr txBox="1"/>
          <p:nvPr/>
        </p:nvSpPr>
        <p:spPr>
          <a:xfrm>
            <a:off x="548640" y="868680"/>
            <a:ext cx="11430000" cy="685800"/>
          </a:xfrm>
          <a:prstGeom prst="rect">
            <a:avLst/>
          </a:prstGeom>
          <a:noFill/>
        </p:spPr>
        <p:txBody>
          <a:bodyPr wrap="square">
            <a:spAutoFit/>
          </a:bodyPr>
          <a:lstStyle/>
          <a:p>
            <a:pPr algn="l"/>
            <a:r>
              <a:rPr sz="3200" b="1">
                <a:solidFill>
                  <a:srgbClr val="FFFFFF"/>
                </a:solidFill>
              </a:rPr>
              <a:t>Five Questions You'll Be Asked Back at Work</a:t>
            </a:r>
          </a:p>
        </p:txBody>
      </p:sp>
      <p:sp>
        <p:nvSpPr>
          <p:cNvPr id="5" name="Rectangle 4"/>
          <p:cNvSpPr/>
          <p:nvPr/>
        </p:nvSpPr>
        <p:spPr>
          <a:xfrm>
            <a:off x="548640" y="164592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01368"/>
            <a:ext cx="11247120" cy="80467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28800"/>
            <a:ext cx="10789920" cy="347472"/>
          </a:xfrm>
          <a:prstGeom prst="rect">
            <a:avLst/>
          </a:prstGeom>
          <a:noFill/>
        </p:spPr>
        <p:txBody>
          <a:bodyPr wrap="square">
            <a:spAutoFit/>
          </a:bodyPr>
          <a:lstStyle/>
          <a:p>
            <a:pPr algn="l"/>
            <a:r>
              <a:rPr sz="1300" b="1">
                <a:solidFill>
                  <a:srgbClr val="FFFFFF"/>
                </a:solidFill>
              </a:rPr>
              <a:t>Q1  Skill vs Subagent vs MCP vs Plugin - what is the difference?</a:t>
            </a:r>
          </a:p>
        </p:txBody>
      </p:sp>
      <p:sp>
        <p:nvSpPr>
          <p:cNvPr id="8" name="TextBox 7"/>
          <p:cNvSpPr txBox="1"/>
          <p:nvPr/>
        </p:nvSpPr>
        <p:spPr>
          <a:xfrm>
            <a:off x="640080" y="2185416"/>
            <a:ext cx="10789920" cy="384048"/>
          </a:xfrm>
          <a:prstGeom prst="rect">
            <a:avLst/>
          </a:prstGeom>
          <a:noFill/>
        </p:spPr>
        <p:txBody>
          <a:bodyPr wrap="square">
            <a:spAutoFit/>
          </a:bodyPr>
          <a:lstStyle/>
          <a:p>
            <a:pPr algn="l"/>
            <a:r>
              <a:rPr sz="1200" b="0">
                <a:solidFill>
                  <a:srgbClr val="CCCCCC"/>
                </a:solidFill>
              </a:rPr>
              <a:t>      Per docs: a Skill is a SKILL.md file Claude loads when its description matches. A Subagent runs in its own context window. An MCP server is a connector to external tools. Plugins package skills with other extensions.</a:t>
            </a:r>
          </a:p>
        </p:txBody>
      </p:sp>
      <p:sp>
        <p:nvSpPr>
          <p:cNvPr id="9" name="TextBox 8"/>
          <p:cNvSpPr txBox="1"/>
          <p:nvPr/>
        </p:nvSpPr>
        <p:spPr>
          <a:xfrm>
            <a:off x="640080" y="2670048"/>
            <a:ext cx="10789920" cy="347472"/>
          </a:xfrm>
          <a:prstGeom prst="rect">
            <a:avLst/>
          </a:prstGeom>
          <a:noFill/>
        </p:spPr>
        <p:txBody>
          <a:bodyPr wrap="square">
            <a:spAutoFit/>
          </a:bodyPr>
          <a:lstStyle/>
          <a:p>
            <a:pPr algn="l"/>
            <a:r>
              <a:rPr sz="1300" b="1">
                <a:solidFill>
                  <a:srgbClr val="FFFFFF"/>
                </a:solidFill>
              </a:rPr>
              <a:t>Q2  Will Claude Code suggest skills, or do I have to know what to create?</a:t>
            </a:r>
          </a:p>
        </p:txBody>
      </p:sp>
      <p:sp>
        <p:nvSpPr>
          <p:cNvPr id="10" name="TextBox 9"/>
          <p:cNvSpPr txBox="1"/>
          <p:nvPr/>
        </p:nvSpPr>
        <p:spPr>
          <a:xfrm>
            <a:off x="640080" y="3026664"/>
            <a:ext cx="10789920" cy="384048"/>
          </a:xfrm>
          <a:prstGeom prst="rect">
            <a:avLst/>
          </a:prstGeom>
          <a:noFill/>
        </p:spPr>
        <p:txBody>
          <a:bodyPr wrap="square">
            <a:spAutoFit/>
          </a:bodyPr>
          <a:lstStyle/>
          <a:p>
            <a:pPr algn="l"/>
            <a:r>
              <a:rPr sz="1200" b="0">
                <a:solidFill>
                  <a:srgbClr val="CCCCCC"/>
                </a:solidFill>
              </a:rPr>
              <a:t>      Claude does not auto-suggest. Docs recommend creating one when you keep pasting the same instructions or a CLAUDE.md section grows into a procedure. Use the bundled skill-creator to scaffold.</a:t>
            </a:r>
          </a:p>
        </p:txBody>
      </p:sp>
      <p:sp>
        <p:nvSpPr>
          <p:cNvPr id="11" name="Rectangle 10"/>
          <p:cNvSpPr/>
          <p:nvPr/>
        </p:nvSpPr>
        <p:spPr>
          <a:xfrm>
            <a:off x="457200" y="3483864"/>
            <a:ext cx="11247120" cy="80467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11296"/>
            <a:ext cx="10789920" cy="347472"/>
          </a:xfrm>
          <a:prstGeom prst="rect">
            <a:avLst/>
          </a:prstGeom>
          <a:noFill/>
        </p:spPr>
        <p:txBody>
          <a:bodyPr wrap="square">
            <a:spAutoFit/>
          </a:bodyPr>
          <a:lstStyle/>
          <a:p>
            <a:pPr algn="l"/>
            <a:r>
              <a:rPr sz="1300" b="1">
                <a:solidFill>
                  <a:srgbClr val="FFFFFF"/>
                </a:solidFill>
              </a:rPr>
              <a:t>Q3  If I add a skill in this project, will it work in my other projects?</a:t>
            </a:r>
          </a:p>
        </p:txBody>
      </p:sp>
      <p:sp>
        <p:nvSpPr>
          <p:cNvPr id="13" name="TextBox 12"/>
          <p:cNvSpPr txBox="1"/>
          <p:nvPr/>
        </p:nvSpPr>
        <p:spPr>
          <a:xfrm>
            <a:off x="640080" y="3867912"/>
            <a:ext cx="10789920" cy="384048"/>
          </a:xfrm>
          <a:prstGeom prst="rect">
            <a:avLst/>
          </a:prstGeom>
          <a:noFill/>
        </p:spPr>
        <p:txBody>
          <a:bodyPr wrap="square">
            <a:spAutoFit/>
          </a:bodyPr>
          <a:lstStyle/>
          <a:p>
            <a:pPr algn="l"/>
            <a:r>
              <a:rPr sz="1200" b="0">
                <a:solidFill>
                  <a:srgbClr val="CCCCCC"/>
                </a:solidFill>
              </a:rPr>
              <a:t>      No. Project skills live in .claude/skills/ and load only in that repo. Personal skills live in ~/.claude/skills/ and apply across all your projects. Enterprise overrides both.</a:t>
            </a:r>
          </a:p>
        </p:txBody>
      </p:sp>
      <p:sp>
        <p:nvSpPr>
          <p:cNvPr id="14" name="TextBox 13"/>
          <p:cNvSpPr txBox="1"/>
          <p:nvPr/>
        </p:nvSpPr>
        <p:spPr>
          <a:xfrm>
            <a:off x="640080" y="4352544"/>
            <a:ext cx="10789920" cy="347472"/>
          </a:xfrm>
          <a:prstGeom prst="rect">
            <a:avLst/>
          </a:prstGeom>
          <a:noFill/>
        </p:spPr>
        <p:txBody>
          <a:bodyPr wrap="square">
            <a:spAutoFit/>
          </a:bodyPr>
          <a:lstStyle/>
          <a:p>
            <a:pPr algn="l"/>
            <a:r>
              <a:rPr sz="1300" b="1">
                <a:solidFill>
                  <a:srgbClr val="FFFFFF"/>
                </a:solidFill>
              </a:rPr>
              <a:t>Q4  How do I know if my skill description is good enough to trigger correctly?</a:t>
            </a:r>
          </a:p>
        </p:txBody>
      </p:sp>
      <p:sp>
        <p:nvSpPr>
          <p:cNvPr id="15" name="TextBox 14"/>
          <p:cNvSpPr txBox="1"/>
          <p:nvPr/>
        </p:nvSpPr>
        <p:spPr>
          <a:xfrm>
            <a:off x="640080" y="4709160"/>
            <a:ext cx="10789920" cy="384048"/>
          </a:xfrm>
          <a:prstGeom prst="rect">
            <a:avLst/>
          </a:prstGeom>
          <a:noFill/>
        </p:spPr>
        <p:txBody>
          <a:bodyPr wrap="square">
            <a:spAutoFit/>
          </a:bodyPr>
          <a:lstStyle/>
          <a:p>
            <a:pPr algn="l"/>
            <a:r>
              <a:rPr sz="1200" b="0">
                <a:solidFill>
                  <a:srgbClr val="CCCCCC"/>
                </a:solidFill>
              </a:rPr>
              <a:t>      Docs: include keywords users would naturally say; put the key use case first. The description is capped at 1,536 chars in the listing. Verify with 'What skills are available?' inside Claude.</a:t>
            </a:r>
          </a:p>
        </p:txBody>
      </p:sp>
      <p:sp>
        <p:nvSpPr>
          <p:cNvPr id="16" name="Rectangle 15"/>
          <p:cNvSpPr/>
          <p:nvPr/>
        </p:nvSpPr>
        <p:spPr>
          <a:xfrm>
            <a:off x="457200" y="5166360"/>
            <a:ext cx="11247120" cy="804672"/>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193792"/>
            <a:ext cx="10789920" cy="347472"/>
          </a:xfrm>
          <a:prstGeom prst="rect">
            <a:avLst/>
          </a:prstGeom>
          <a:noFill/>
        </p:spPr>
        <p:txBody>
          <a:bodyPr wrap="square">
            <a:spAutoFit/>
          </a:bodyPr>
          <a:lstStyle/>
          <a:p>
            <a:pPr algn="l"/>
            <a:r>
              <a:rPr sz="1300" b="1">
                <a:solidFill>
                  <a:srgbClr val="FFFFFF"/>
                </a:solidFill>
              </a:rPr>
              <a:t>Q5  What about Cursor rules - aren't those the same as skills?</a:t>
            </a:r>
          </a:p>
        </p:txBody>
      </p:sp>
      <p:sp>
        <p:nvSpPr>
          <p:cNvPr id="18" name="TextBox 17"/>
          <p:cNvSpPr txBox="1"/>
          <p:nvPr/>
        </p:nvSpPr>
        <p:spPr>
          <a:xfrm>
            <a:off x="640080" y="5550408"/>
            <a:ext cx="10789920" cy="384048"/>
          </a:xfrm>
          <a:prstGeom prst="rect">
            <a:avLst/>
          </a:prstGeom>
          <a:noFill/>
        </p:spPr>
        <p:txBody>
          <a:bodyPr wrap="square">
            <a:spAutoFit/>
          </a:bodyPr>
          <a:lstStyle/>
          <a:p>
            <a:pPr algn="l"/>
            <a:r>
              <a:rPr sz="1200" b="0">
                <a:solidFill>
                  <a:srgbClr val="CCCCCC"/>
                </a:solidFill>
              </a:rPr>
              <a:t>      Different mechanic. Skills load only when their description matches and enter context only on invocation. Always-on rules consume context every turn. Skills follow the Agent Skills open standard.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972800" cy="1828800"/>
          </a:xfrm>
          <a:prstGeom prst="rect">
            <a:avLst/>
          </a:prstGeom>
          <a:noFill/>
        </p:spPr>
        <p:txBody>
          <a:bodyPr wrap="square">
            <a:spAutoFit/>
          </a:bodyPr>
          <a:lstStyle/>
          <a:p>
            <a:pPr algn="l"/>
            <a:r>
              <a:rPr sz="8000" b="1">
                <a:solidFill>
                  <a:srgbClr val="FFFFFF"/>
                </a:solidFill>
              </a:rPr>
              <a:t>Questions?</a:t>
            </a:r>
          </a:p>
        </p:txBody>
      </p:sp>
      <p:sp>
        <p:nvSpPr>
          <p:cNvPr id="4" name="Rectangle 3"/>
          <p:cNvSpPr/>
          <p:nvPr/>
        </p:nvSpPr>
        <p:spPr>
          <a:xfrm>
            <a:off x="548640" y="365760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931920"/>
            <a:ext cx="10972800" cy="548640"/>
          </a:xfrm>
          <a:prstGeom prst="rect">
            <a:avLst/>
          </a:prstGeom>
          <a:noFill/>
        </p:spPr>
        <p:txBody>
          <a:bodyPr wrap="square">
            <a:spAutoFit/>
          </a:bodyPr>
          <a:lstStyle/>
          <a:p>
            <a:pPr algn="l"/>
            <a:r>
              <a:rPr sz="2000" b="0">
                <a:solidFill>
                  <a:srgbClr val="D47A21"/>
                </a:solidFill>
              </a:rPr>
              <a:t>Aman Parmar  ·  Senior Product Manager</a:t>
            </a:r>
          </a:p>
        </p:txBody>
      </p:sp>
      <p:sp>
        <p:nvSpPr>
          <p:cNvPr id="6" name="TextBox 5"/>
          <p:cNvSpPr txBox="1"/>
          <p:nvPr/>
        </p:nvSpPr>
        <p:spPr>
          <a:xfrm>
            <a:off x="548640" y="4572000"/>
            <a:ext cx="10972800" cy="1463040"/>
          </a:xfrm>
          <a:prstGeom prst="rect">
            <a:avLst/>
          </a:prstGeom>
          <a:noFill/>
        </p:spPr>
        <p:txBody>
          <a:bodyPr wrap="square">
            <a:spAutoFit/>
          </a:bodyPr>
          <a:lstStyle/>
          <a:p>
            <a:pPr algn="l"/>
            <a:r>
              <a:rPr sz="1500" b="0">
                <a:solidFill>
                  <a:srgbClr val="CCCCCC"/>
                </a:solidFill>
              </a:rPr>
              <a:t>Substack:  https://amanparmar3.substack.com/
LinkedIn:  https://www.linkedin.com/in/amanmparmar
GitHub:    https://github.com/qa-aman</a:t>
            </a:r>
          </a:p>
        </p:txBody>
      </p:sp>
      <p:sp>
        <p:nvSpPr>
          <p:cNvPr id="7" name="TextBox 6"/>
          <p:cNvSpPr txBox="1"/>
          <p:nvPr/>
        </p:nvSpPr>
        <p:spPr>
          <a:xfrm>
            <a:off x="548640" y="6400800"/>
            <a:ext cx="10972800" cy="320040"/>
          </a:xfrm>
          <a:prstGeom prst="rect">
            <a:avLst/>
          </a:prstGeom>
          <a:noFill/>
        </p:spPr>
        <p:txBody>
          <a:bodyPr wrap="square">
            <a:spAutoFit/>
          </a:bodyPr>
          <a:lstStyle/>
          <a:p>
            <a:pPr algn="l"/>
            <a:r>
              <a:rPr sz="1200" b="0">
                <a:solidFill>
                  <a:srgbClr val="888888"/>
                </a:solidFill>
              </a:rPr>
              <a:t>Claude Code Workshop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