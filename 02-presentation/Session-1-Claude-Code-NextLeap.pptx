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3" r:id="rId9"/>
    <p:sldId id="264" r:id="rId10"/>
    <p:sldId id="265" r:id="rId11"/>
    <p:sldId id="267" r:id="rId12"/>
    <p:sldId id="276" r:id="rId13"/>
    <p:sldId id="268" r:id="rId14"/>
    <p:sldId id="270" r:id="rId15"/>
    <p:sldId id="271" r:id="rId16"/>
    <p:sldId id="272" r:id="rId17"/>
    <p:sldId id="278" r:id="rId18"/>
    <p:sldId id="277" r:id="rId19"/>
    <p:sldId id="273" r:id="rId20"/>
    <p:sldId id="274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3"/>
  </p:normalViewPr>
  <p:slideViewPr>
    <p:cSldViewPr snapToGrid="0" snapToObjects="1">
      <p:cViewPr varScale="1">
        <p:scale>
          <a:sx n="115" d="100"/>
          <a:sy n="115" d="100"/>
        </p:scale>
        <p:origin x="664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manparmar3.substack.com/" TargetMode="External"/><Relationship Id="rId2" Type="http://schemas.openxmlformats.org/officeDocument/2006/relationships/hyperlink" Target="https://www.linkedin.com/in/amanmparmar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qa-aman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</a:rPr>
              <a:t>NEXTLEAP  ·  APPLIED GENAI 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9144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Getting Hands On
with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</a:rPr>
              <a:t>Session 1 of 2   ·   March 21, 2025   ·   Aman Parmar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CCCCC"/>
                </a:solidFill>
              </a:rPr>
              <a:t>By the end of this session: you'll have Claude Code running,
your project context configured, and fear of the terminal — gone.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We're Covering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71016"/>
            <a:ext cx="11247120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344168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</a:rPr>
              <a:t>Why Claude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</a:rPr>
              <a:t>What is Claude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1247120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404872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FFFFFF"/>
                </a:solidFill>
              </a:rPr>
              <a:t>CLAUDE.md</a:t>
            </a:r>
            <a:r>
              <a:rPr sz="1600" b="0" dirty="0">
                <a:solidFill>
                  <a:srgbClr val="FFFFFF"/>
                </a:solidFill>
              </a:rPr>
              <a:t> — The Brain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92424"/>
            <a:ext cx="11247120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935224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</a:rPr>
              <a:t>Memory File Hierarchy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65576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Project File 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53128"/>
            <a:ext cx="11247120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995928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Live Showcase — End to 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526280"/>
            <a:ext cx="9144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Q&amp;A + Build Day Setup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You Already Know AI.
This Session Is About Using It Like a Builder.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37744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9601200" cy="136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dirty="0">
                <a:solidFill>
                  <a:srgbClr val="CCCCCC"/>
                </a:solidFill>
              </a:rPr>
              <a:t>Most PMs</a:t>
            </a:r>
            <a:r>
              <a:rPr lang="en-US" sz="2200" dirty="0">
                <a:solidFill>
                  <a:srgbClr val="CCCCCC"/>
                </a:solidFill>
              </a:rPr>
              <a:t> and other teams</a:t>
            </a:r>
            <a:r>
              <a:rPr sz="2200" dirty="0">
                <a:solidFill>
                  <a:srgbClr val="CCCCCC"/>
                </a:solidFill>
              </a:rPr>
              <a:t> still copy-paste into a chat window.</a:t>
            </a:r>
          </a:p>
          <a:p>
            <a:pPr algn="l">
              <a:spcAft>
                <a:spcPts val="1000"/>
              </a:spcAft>
            </a:pPr>
            <a:r>
              <a:rPr sz="2200" dirty="0">
                <a:solidFill>
                  <a:srgbClr val="CCCCCC"/>
                </a:solidFill>
              </a:rPr>
              <a:t>  Claude Code is the step between 'user' and 'builder'.</a:t>
            </a:r>
          </a:p>
          <a:p>
            <a:pPr algn="l">
              <a:spcAft>
                <a:spcPts val="1000"/>
              </a:spcAft>
            </a:pPr>
            <a:r>
              <a:rPr sz="2200" dirty="0">
                <a:solidFill>
                  <a:srgbClr val="CCCCCC"/>
                </a:solidFill>
              </a:rPr>
              <a:t>  The terminal is not scary — it's just a faster keyboard.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7A21"/>
                </a:solidFill>
              </a:rPr>
              <a:t>Today's goal: run Claude Code yourself before this session ends.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Claude Code Is a Coding Agent, Not a Chat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CCCCCC"/>
                </a:solidFill>
              </a:rPr>
              <a:t>  Lives in your terminal — not a browser tab.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CCCCCC"/>
                </a:solidFill>
              </a:rPr>
              <a:t>  Reads your files, writes code, runs commands.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CCCCCC"/>
                </a:solidFill>
              </a:rPr>
              <a:t>  You don't describe what you want — you give it context and a task.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CCCCCC"/>
                </a:solidFill>
              </a:rPr>
              <a:t>  ChatGPT answers questions.  Claude Code executes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737360"/>
            <a:ext cx="3840480" cy="438912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01000" y="1920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1"/>
                </a:solidFill>
              </a:rPr>
              <a:t>ChatGPT / 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33172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→ Answers in a window
→ Forgets after session
→ Can't touch your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3703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1"/>
                </a:solidFill>
              </a:rPr>
              <a:t>Claude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411480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→ Runs in your project
→ Reads real files
→ Executes and iterates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When PMs Should Reach for Claude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2651760" cy="384048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1"/>
                </a:solidFill>
              </a:rPr>
              <a:t>Building with a real file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Not a one-off answer — an actual project with folders, configs, scripts.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73552" y="1737360"/>
            <a:ext cx="2651760" cy="384048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10712" y="19202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1"/>
                </a:solidFill>
              </a:rPr>
              <a:t>Working inside an existing repo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27432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Claude reads the codebase. Context is automatic. No copy-pasting.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1737360"/>
            <a:ext cx="2651760" cy="384048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18504" y="19202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1"/>
                </a:solidFill>
              </a:rPr>
              <a:t>Needing Claude to run and test things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7432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It executes commands, checks output, iterates. Not just suggests.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89136" y="1737360"/>
            <a:ext cx="2651760" cy="384048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26296" y="19202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1"/>
                </a:solidFill>
              </a:rPr>
              <a:t>Repeatable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6296" y="2743200"/>
            <a:ext cx="2377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PRD reviews, standup notes, bug triage — teach it once, reuse forever.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Three Things That Make Claude Code Powerful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8888"/>
                </a:solidFill>
              </a:rPr>
              <a:t>Today covers #1 and #2. Session 2 covers #3.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1064240" cy="118872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47A21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830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CLAUDE.md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86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Persistent context. Tells Claude who you are, how you work, what the project 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11064240" cy="118872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47A21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246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Memory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7490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Structured memory that persists across sessions. Claude picks up where you left off.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72000"/>
            <a:ext cx="11064240" cy="118872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548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47A21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709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2120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Repeatable workflows you teach Claude once and reuse forever. Session 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How Claude Remembers Your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50160"/>
            <a:ext cx="11247120" cy="42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21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47A21"/>
                </a:solidFill>
              </a:rPr>
              <a:t>CLAUDE.md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0000" y="1280160"/>
            <a:ext cx="8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CCCCC"/>
                </a:solidFill>
              </a:rPr>
              <a:t>Your project's brain. Write it once, Claude reads it every session.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70160"/>
            <a:ext cx="11247120" cy="42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800160"/>
            <a:ext cx="21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47A21"/>
                </a:solidFill>
              </a:rPr>
              <a:t>@imports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0000" y="1800160"/>
            <a:ext cx="8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CCCCC"/>
                </a:solidFill>
              </a:rPr>
              <a:t>Always-on context. Import key files so Claude never forgets your business snapshot.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90160"/>
            <a:ext cx="11247120" cy="42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320160"/>
            <a:ext cx="21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47A21"/>
                </a:solidFill>
              </a:rPr>
              <a:t>.claude/rules/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0000" y="2320160"/>
            <a:ext cx="8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CCCCC"/>
                </a:solidFill>
              </a:rPr>
              <a:t>Scoped instructions. Rules load only when Claude works with matching files.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10160"/>
            <a:ext cx="11247120" cy="42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840160"/>
            <a:ext cx="21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47A21"/>
                </a:solidFill>
              </a:rPr>
              <a:t>Auto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0000" y="2840160"/>
            <a:ext cx="8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CCCCC"/>
                </a:solidFill>
              </a:rPr>
              <a:t>Claude's notebook. It saves learnings from your corrections automatically.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30160"/>
            <a:ext cx="11247120" cy="42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360160"/>
            <a:ext cx="21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47A21"/>
                </a:solidFill>
              </a:rPr>
              <a:t>Memory hierarchy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360160"/>
            <a:ext cx="8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CCCCC"/>
                </a:solidFill>
              </a:rPr>
              <a:t>Global (your preferences) &gt; Project (team standards) &gt; Rules (file-specific) &gt; Auto memory (learned)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50160"/>
            <a:ext cx="11247120" cy="42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880160"/>
            <a:ext cx="21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47A21"/>
                </a:solidFill>
              </a:rPr>
              <a:t>/memory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0000" y="3880160"/>
            <a:ext cx="8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CCCCC"/>
                </a:solidFill>
              </a:rPr>
              <a:t>See everything Claude remembers. Edit or delete anytime.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CLAUDE.md Is the Context File
Claude Reads Before Every Session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24028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6858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>
                <a:solidFill>
                  <a:srgbClr val="CCCCCC"/>
                </a:solidFill>
              </a:rPr>
              <a:t>  Sits at the root of your project.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CCCCCC"/>
                </a:solidFill>
              </a:rPr>
              <a:t>  Claude reads it automatically on startup — every time.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CCCCCC"/>
                </a:solidFill>
              </a:rPr>
              <a:t>  Think of it as your project brief that never disappears.</a:t>
            </a:r>
          </a:p>
          <a:p>
            <a:pPr algn="l">
              <a:spcAft>
                <a:spcPts val="1000"/>
              </a:spcAft>
            </a:pPr>
            <a:r>
              <a:rPr sz="2100">
                <a:solidFill>
                  <a:srgbClr val="CCCCCC"/>
                </a:solidFill>
              </a:rPr>
              <a:t>  Without it, Claude has no memory of what you're building.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2240280"/>
            <a:ext cx="3931920" cy="429768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09560" y="246888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7A21"/>
                </a:solidFill>
              </a:rPr>
              <a:t>project-root/
  ├── CLAUDE.md  ← Claude reads this first
  ├── src/
  ├── scripts/
  └── docs/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448056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Every session starts here.
No setup. No re-explaining.
Just context.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What Goes in CLAUDE.md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411480" cy="54864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16002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0D0D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1848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Project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18488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What is this? What problem does it solve? Who is it for?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95144"/>
            <a:ext cx="1106424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411480" cy="54864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2404872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0D0D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231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42316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Language, frameworks, conventions, version constraints.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99816"/>
            <a:ext cx="1106424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209544"/>
            <a:ext cx="411480" cy="54864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3209544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0D0D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2783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File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227832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Where things live and why. What not to touch.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04488"/>
            <a:ext cx="1106424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4014216"/>
            <a:ext cx="411480" cy="54864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" y="4014216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0D0D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032504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032504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What Claude should never do. Hard constraints.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1106424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818888"/>
            <a:ext cx="411480" cy="54864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" y="4818888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0D0D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837176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Quick 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837176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Commands, URLs, env setup, anything Claude needs fast.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What NOT to Put in CLAUDE.md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675120" y="1508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A21"/>
                </a:solidFill>
              </a:rPr>
              <a:t>INSTEAD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555"/>
                </a:solidFill>
              </a:rPr>
              <a:t>AVOID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760720" cy="685800"/>
          </a:xfrm>
          <a:prstGeom prst="rect">
            <a:avLst/>
          </a:prstGeom>
          <a:solidFill>
            <a:srgbClr val="2A1010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08483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8888"/>
                </a:solidFill>
              </a:rPr>
              <a:t>✗  Credentials or API keys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5303520" cy="685800"/>
          </a:xfrm>
          <a:prstGeom prst="rect">
            <a:avLst/>
          </a:prstGeom>
          <a:solidFill>
            <a:srgbClr val="0D2A10"/>
          </a:solidFill>
          <a:ln>
            <a:solidFill>
              <a:srgbClr val="44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8483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DD88"/>
                </a:solidFill>
              </a:rPr>
              <a:t>✓  Store secrets in .env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5760720" cy="685800"/>
          </a:xfrm>
          <a:prstGeom prst="rect">
            <a:avLst/>
          </a:prstGeom>
          <a:solidFill>
            <a:srgbClr val="2A1010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99923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8888"/>
                </a:solidFill>
              </a:rPr>
              <a:t>✗  Content that changes every 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926080"/>
            <a:ext cx="5303520" cy="685800"/>
          </a:xfrm>
          <a:prstGeom prst="rect">
            <a:avLst/>
          </a:prstGeom>
          <a:solidFill>
            <a:srgbClr val="0D2A10"/>
          </a:solidFill>
          <a:ln>
            <a:solidFill>
              <a:srgbClr val="44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99923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DD88"/>
                </a:solidFill>
              </a:rPr>
              <a:t>✓  Use memory files for session-state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5760720" cy="685800"/>
          </a:xfrm>
          <a:prstGeom prst="rect">
            <a:avLst/>
          </a:prstGeom>
          <a:solidFill>
            <a:srgbClr val="2A1010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91363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8888"/>
                </a:solidFill>
              </a:rPr>
              <a:t>✗  Long essays — Claude reads the whole file every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840480"/>
            <a:ext cx="5303520" cy="685800"/>
          </a:xfrm>
          <a:prstGeom prst="rect">
            <a:avLst/>
          </a:prstGeom>
          <a:solidFill>
            <a:srgbClr val="0D2A10"/>
          </a:solidFill>
          <a:ln>
            <a:solidFill>
              <a:srgbClr val="44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391363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DD88"/>
                </a:solidFill>
              </a:rPr>
              <a:t>✓  Keep it scannable. One line per rule.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54880"/>
            <a:ext cx="5760720" cy="685800"/>
          </a:xfrm>
          <a:prstGeom prst="rect">
            <a:avLst/>
          </a:prstGeom>
          <a:solidFill>
            <a:srgbClr val="2A1010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82803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8888"/>
                </a:solidFill>
              </a:rPr>
              <a:t>✗  Instructions for every edge case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754880"/>
            <a:ext cx="5303520" cy="685800"/>
          </a:xfrm>
          <a:prstGeom prst="rect">
            <a:avLst/>
          </a:prstGeom>
          <a:solidFill>
            <a:srgbClr val="0D2A10"/>
          </a:solidFill>
          <a:ln>
            <a:solidFill>
              <a:srgbClr val="44B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482803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DD88"/>
                </a:solidFill>
              </a:rPr>
              <a:t>✓  Cover the 80%. Trust Claude for the rest.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Memory File Hierarchy — Three Levels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3657600" cy="448056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A21"/>
                </a:solidFill>
              </a:rPr>
              <a:t>GLOBAL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~/.claude/CLAUDE.md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80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</a:rPr>
              <a:t>When: Every Claude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Your preferences, writing rules, personal 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9664" y="1600200"/>
            <a:ext cx="3657600" cy="448056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06824" y="1783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A21"/>
                </a:solidFill>
              </a:rPr>
              <a:t>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22860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project-root/CLAUDE.md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2880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</a:rPr>
              <a:t>When: Any session in that folder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3474720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Project context, stack, conventions, hard rules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3568" y="1600200"/>
            <a:ext cx="3657600" cy="448056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10728" y="1783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A21"/>
                </a:solidFill>
              </a:rPr>
              <a:t>SUBFOLDER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8" y="22860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subfolder/CLAUDE.md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8" y="28803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</a:rPr>
              <a:t>When: Sessions inside that folder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8" y="3474720"/>
            <a:ext cx="3383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Module overrides, component-specific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63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1"/>
                </a:solidFill>
              </a:rPr>
              <a:t>Claude reads all three. More specific = higher priority.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How Claude Remembers Your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50160"/>
            <a:ext cx="11247120" cy="42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21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47A21"/>
                </a:solidFill>
              </a:rPr>
              <a:t>CLAUDE.md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0000" y="1280160"/>
            <a:ext cx="8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CCCCC"/>
                </a:solidFill>
              </a:rPr>
              <a:t>Your project's brain. Write it once, Claude reads it every session.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70160"/>
            <a:ext cx="11247120" cy="42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800160"/>
            <a:ext cx="21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47A21"/>
                </a:solidFill>
              </a:rPr>
              <a:t>@imports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0000" y="1800160"/>
            <a:ext cx="8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CCCCC"/>
                </a:solidFill>
              </a:rPr>
              <a:t>Always-on context. Import key files so Claude never forgets your business snapshot.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90160"/>
            <a:ext cx="11247120" cy="42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320160"/>
            <a:ext cx="21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47A21"/>
                </a:solidFill>
              </a:rPr>
              <a:t>.claude/rules/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0000" y="2320160"/>
            <a:ext cx="8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CCCCC"/>
                </a:solidFill>
              </a:rPr>
              <a:t>Scoped instructions. Rules load only when Claude works with matching files.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10160"/>
            <a:ext cx="11247120" cy="42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840160"/>
            <a:ext cx="21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47A21"/>
                </a:solidFill>
              </a:rPr>
              <a:t>Auto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0000" y="2840160"/>
            <a:ext cx="8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CCCCC"/>
                </a:solidFill>
              </a:rPr>
              <a:t>Claude's notebook. It saves learnings from your corrections automatically.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30160"/>
            <a:ext cx="11247120" cy="42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360160"/>
            <a:ext cx="21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47A21"/>
                </a:solidFill>
              </a:rPr>
              <a:t>Memory hierarchy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360160"/>
            <a:ext cx="8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CCCCC"/>
                </a:solidFill>
              </a:rPr>
              <a:t>Global (your preferences) &gt; Project (team standards) &gt; Rules (file-specific) &gt; Auto memory (learned)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50160"/>
            <a:ext cx="11247120" cy="42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880160"/>
            <a:ext cx="21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47A21"/>
                </a:solidFill>
              </a:rPr>
              <a:t>/memory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0000" y="3880160"/>
            <a:ext cx="88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CCCCC"/>
                </a:solidFill>
              </a:rPr>
              <a:t>See everything Claude remembers. Edit or delete anytime.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The Right Split — What Lives 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3566160" cy="457200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Global
~/.claude/CLAUDE.md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CCCCCC"/>
                </a:solidFill>
              </a:rPr>
              <a:t>  How you like code structured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CCCCCC"/>
                </a:solidFill>
              </a:rPr>
              <a:t>  Your writing voice and tone rules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CCCCCC"/>
                </a:solidFill>
              </a:rPr>
              <a:t>  Tools you use across every project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CCCCCC"/>
                </a:solidFill>
              </a:rPr>
              <a:t>  Personal defaults and shortcuts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600200"/>
            <a:ext cx="3566160" cy="457200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51960" y="17373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Project
project/CLAUDE.md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65176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CCCCCC"/>
                </a:solidFill>
              </a:rPr>
              <a:t>  What this product does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CCCCCC"/>
                </a:solidFill>
              </a:rPr>
              <a:t>  File conventions for this repo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CCCCCC"/>
                </a:solidFill>
              </a:rPr>
              <a:t>  Hard rules: never do X in this codebase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CCCCCC"/>
                </a:solidFill>
              </a:rPr>
              <a:t>  Stack and framework versions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600200"/>
            <a:ext cx="3566160" cy="457200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0" y="17373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Memory Files
.claude/memory/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265176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CCCCCC"/>
                </a:solidFill>
              </a:rPr>
              <a:t>  In-progress work and open decisions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CCCCCC"/>
                </a:solidFill>
              </a:rPr>
              <a:t>  Decisions made this sprint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CCCCCC"/>
                </a:solidFill>
              </a:rPr>
              <a:t>  What to pick up next session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CCCCCC"/>
                </a:solidFill>
              </a:rPr>
              <a:t>  Running notes and context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Live Showcase —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457200" cy="50292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173736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0D0D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73936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New project folder — zero setup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457200" cy="50292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246888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0D0D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05456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Create CLAUDE.md live (2 minutes, from template)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457200" cy="50292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320040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0D0D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36976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Real PM task: 'Read this PRD and generate a test plan'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457200" cy="50292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393192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0D0D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968496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Claude reads the file, writes the output, saves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63440"/>
            <a:ext cx="457200" cy="50292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466344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0D0D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00016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Review the output — explain what made it good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1"/>
                </a:solidFill>
              </a:rPr>
              <a:t>12 minutes from zero to working output. Setup cost is front-loaded. Every session after is faster.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Three Starter Tasks for Sunday's Build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88888"/>
                </a:solidFill>
              </a:rPr>
              <a:t>Pick one. Finish it. Ship something.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2057400"/>
            <a:ext cx="3566160" cy="429768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47A21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Create Your CLAUDE.md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2900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For an existing project or a new idea.
Use the template from today as your starting point.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057400"/>
            <a:ext cx="3566160" cy="429768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60" y="2194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47A21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7432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Automate a Repeatable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42900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PRD review, standup notes, bug triage.
Write the CLAUDE.md, give Claude the task, iterate until it's good.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2057400"/>
            <a:ext cx="3566160" cy="4297680"/>
          </a:xfrm>
          <a:prstGeom prst="rect">
            <a:avLst/>
          </a:prstGeom>
          <a:solidFill>
            <a:srgbClr val="1E1E1E"/>
          </a:solidFill>
          <a:ln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01000" y="21945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47A21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7432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Scaffold a New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42900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Give Claude the goal, let it propose the folder structure.
Refine it. You own the output.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Today you gave Claude a brain.
Session 2: you teach it habits.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37744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47A21"/>
                </a:solidFill>
              </a:rPr>
              <a:t>Session 2 — Agent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What are skills — and why they're different from CLAUDE.md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Skill levels: metadata, instructions, resources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Skills architecture — how Claude loads and uses them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Build a skill from scratch — live, in session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CCCCCC"/>
                </a:solidFill>
              </a:rPr>
              <a:t>  PM skill showcase — real workflows automated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Skills: Teach Claude Repeatable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0000"/>
            <a:ext cx="10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888888"/>
                </a:solidFill>
              </a:rPr>
              <a:t>CLAUDE.md tells Claude who you are. Skills tell Claude how to do specific tasks.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70000"/>
            <a:ext cx="11247120" cy="42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10000"/>
            <a:ext cx="2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47A21"/>
                </a:solidFill>
              </a:rPr>
              <a:t>What is a skill?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00000" y="1510000"/>
            <a:ext cx="83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CCCCC"/>
                </a:solidFill>
              </a:rPr>
              <a:t>A SKILL.md file with instructions Claude follows. Like an SOP for your AI teammate.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70000"/>
            <a:ext cx="11247120" cy="42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010000"/>
            <a:ext cx="2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47A21"/>
                </a:solidFill>
              </a:rPr>
              <a:t>Where do they live?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0000" y="2010000"/>
            <a:ext cx="83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CCCCC"/>
                </a:solidFill>
              </a:rPr>
              <a:t>.claude/skills/&lt;skill-name&gt;/SKILL.md - per project, or ~/.claude/skills/ for all projects.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70000"/>
            <a:ext cx="11247120" cy="42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510000"/>
            <a:ext cx="2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47A21"/>
                </a:solidFill>
              </a:rPr>
              <a:t>How to use one?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0000" y="2510000"/>
            <a:ext cx="83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CCCCC"/>
                </a:solidFill>
              </a:rPr>
              <a:t>Type /skill-name (e.g. /feature-spec). Or Claude activates it automatically when relevant.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70000"/>
            <a:ext cx="11247120" cy="42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010000"/>
            <a:ext cx="2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47A21"/>
                </a:solidFill>
              </a:rPr>
              <a:t>What's inside?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0000" y="3010000"/>
            <a:ext cx="83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CCCCC"/>
                </a:solidFill>
              </a:rPr>
              <a:t>Frontmatter (name + description) at the top. Then step-by-step instructions in markdown.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0000"/>
            <a:ext cx="11247120" cy="42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510000"/>
            <a:ext cx="2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47A21"/>
                </a:solidFill>
              </a:rPr>
              <a:t>How to create one?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0000" y="3510000"/>
            <a:ext cx="83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CCCCC"/>
                </a:solidFill>
              </a:rPr>
              <a:t>Pick a task you repeat weekly. Write the steps. Save as SKILL.md. That's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70000"/>
            <a:ext cx="11247120" cy="42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010000"/>
            <a:ext cx="26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47A21"/>
                </a:solidFill>
              </a:rPr>
              <a:t>Why not just prompt?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00000" y="4010000"/>
            <a:ext cx="830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CCCCC"/>
                </a:solidFill>
              </a:rPr>
              <a:t>Skills are reusable, shareable, and consistent. Write once, use every time.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Claude Code Commands 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0000"/>
            <a:ext cx="5500000" cy="36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20000"/>
            <a:ext cx="1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47A21"/>
                </a:solidFill>
              </a:rPr>
              <a:t>/init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200" y="1220000"/>
            <a:ext cx="3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CCCCC"/>
                </a:solidFill>
              </a:rPr>
              <a:t>Set up CLAUDE.md for a new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10000"/>
            <a:ext cx="5500000" cy="36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50000"/>
            <a:ext cx="1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47A21"/>
                </a:solidFill>
              </a:rPr>
              <a:t>/memory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200" y="1650000"/>
            <a:ext cx="3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CCCCC"/>
                </a:solidFill>
              </a:rPr>
              <a:t>See and edit what Claude remembers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40000"/>
            <a:ext cx="5500000" cy="36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080000"/>
            <a:ext cx="1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47A21"/>
                </a:solidFill>
              </a:rPr>
              <a:t>/model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200" y="2080000"/>
            <a:ext cx="3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CCCCC"/>
                </a:solidFill>
              </a:rPr>
              <a:t>Switch between Claude models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70000"/>
            <a:ext cx="5500000" cy="36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510000"/>
            <a:ext cx="1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47A21"/>
                </a:solidFill>
              </a:rPr>
              <a:t>/compact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200" y="2510000"/>
            <a:ext cx="3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CCCCC"/>
                </a:solidFill>
              </a:rPr>
              <a:t>Compress conversation to free up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00000"/>
            <a:ext cx="5500000" cy="36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940000"/>
            <a:ext cx="1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47A21"/>
                </a:solidFill>
              </a:rPr>
              <a:t>/clear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200" y="2940000"/>
            <a:ext cx="3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CCCCC"/>
                </a:solidFill>
              </a:rPr>
              <a:t>Start a fresh conversation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30000"/>
            <a:ext cx="5500000" cy="36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370000"/>
            <a:ext cx="1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47A21"/>
                </a:solidFill>
              </a:rPr>
              <a:t>/resume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200" y="3370000"/>
            <a:ext cx="3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CCCCC"/>
                </a:solidFill>
              </a:rPr>
              <a:t>Pick up a previous conversation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0000" y="1180000"/>
            <a:ext cx="5500000" cy="36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7160" y="1220000"/>
            <a:ext cx="1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47A21"/>
                </a:solidFill>
              </a:rPr>
              <a:t>/config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0000" y="1220000"/>
            <a:ext cx="3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CCCCC"/>
                </a:solidFill>
              </a:rPr>
              <a:t>Change Claude Code settings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0000" y="1610000"/>
            <a:ext cx="5500000" cy="36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37160" y="1650000"/>
            <a:ext cx="1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47A21"/>
                </a:solidFill>
              </a:rPr>
              <a:t>/keybindings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00000" y="1650000"/>
            <a:ext cx="3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CCCCC"/>
                </a:solidFill>
              </a:rPr>
              <a:t>View and customize keyboard shortcuts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0000" y="2040000"/>
            <a:ext cx="5500000" cy="36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37160" y="2080000"/>
            <a:ext cx="1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47A21"/>
                </a:solidFill>
              </a:rPr>
              <a:t>/statusline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00000" y="2080000"/>
            <a:ext cx="3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CCCCC"/>
                </a:solidFill>
              </a:rPr>
              <a:t>Toggle the bottom status bar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0000" y="2470000"/>
            <a:ext cx="5500000" cy="36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37160" y="2510000"/>
            <a:ext cx="1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47A21"/>
                </a:solidFill>
              </a:rPr>
              <a:t>/insights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00000" y="2510000"/>
            <a:ext cx="3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CCCCC"/>
                </a:solidFill>
              </a:rPr>
              <a:t>View session usage and cost stats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00000" y="2900000"/>
            <a:ext cx="5500000" cy="36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37160" y="2940000"/>
            <a:ext cx="1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47A21"/>
                </a:solidFill>
              </a:rPr>
              <a:t>/mcp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00000" y="2940000"/>
            <a:ext cx="3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CCCCC"/>
                </a:solidFill>
              </a:rPr>
              <a:t>Manage connected tools (Jira, Gmail, etc.)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00000" y="3330000"/>
            <a:ext cx="5500000" cy="36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37160" y="3370000"/>
            <a:ext cx="1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D47A21"/>
                </a:solidFill>
              </a:rPr>
              <a:t>/plugin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00000" y="3370000"/>
            <a:ext cx="3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CCCCC"/>
                </a:solidFill>
              </a:rPr>
              <a:t>Browse and install plugins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Let's Stay Connected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888888"/>
                </a:solidFill>
              </a:rPr>
              <a:t>Reach out anytime. Happy to help.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7A21"/>
                </a:solidFill>
              </a:rPr>
              <a:t>LinkedIn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468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dirty="0">
                <a:solidFill>
                  <a:srgbClr val="FFFFFF"/>
                </a:solidFill>
                <a:hlinkClick r:id="rId2"/>
              </a:rPr>
              <a:t>linkedin.com/in/amanmparmar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7A21"/>
                </a:solidFill>
              </a:rPr>
              <a:t>Substack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200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hlinkClick r:id="rId3"/>
              </a:rPr>
              <a:t>amanparmar3.substack.com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7A21"/>
                </a:solidFill>
              </a:rPr>
              <a:t>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9319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hlinkClick r:id="rId4"/>
              </a:rPr>
              <a:t>github.com/qa-aman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1"/>
                </a:solidFill>
              </a:rPr>
              <a:t>DMs are open. Questions welcome anytime.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474720"/>
            <a:ext cx="4937760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7490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888888"/>
                </a:solidFill>
              </a:rPr>
              <a:t>Now go build something.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52160"/>
            <a:ext cx="11064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dirty="0">
                <a:solidFill>
                  <a:srgbClr val="888888"/>
                </a:solidFill>
              </a:rPr>
              <a:t>NEXTLEAP  ·  APPLIED GENAI BOOTCAMP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Words>1610</Words>
  <Application>Microsoft Macintosh PowerPoint</Application>
  <PresentationFormat>Custom</PresentationFormat>
  <Paragraphs>217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Aman Parmar</cp:lastModifiedBy>
  <cp:revision>4</cp:revision>
  <dcterms:created xsi:type="dcterms:W3CDTF">2013-01-27T09:14:16Z</dcterms:created>
  <dcterms:modified xsi:type="dcterms:W3CDTF">2026-03-20T18:58:00Z</dcterms:modified>
  <cp:category/>
</cp:coreProperties>
</file>