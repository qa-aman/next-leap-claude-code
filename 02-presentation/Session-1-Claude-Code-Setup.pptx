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Welcome to Session 1. Today is pure setup and muscle memory. No theory, no abstraction - just getting Claude Code running on your machine so you can use it for real work starting tonight.</a:t>
            </a:r>
          </a:p>
          <a:p/>
          <a:p>
            <a:r>
              <a:t>By the end of this session, everyone in the room will have Claude Code installed, authenticated, and ready. You will know the 10 commands that matter, understand how the memory system works, and have your first CLAUDE.md written.</a:t>
            </a:r>
          </a:p>
          <a:p/>
          <a:p>
            <a:r>
              <a:t>Let's go fast.</a:t>
            </a:r>
          </a:p>
          <a:p/>
          <a:p>
            <a:r>
              <a:t>SOURCE:</a:t>
            </a:r>
          </a:p>
          <a:p>
            <a:r>
              <a:t>original framing</a:t>
            </a:r>
          </a:p>
          <a:p/>
          <a:p>
            <a:r>
              <a:t>WATCH FOR:</a:t>
            </a:r>
          </a:p>
          <a:p>
            <a:r>
              <a:t>"Do I need to code to use this?" - Answer: No. You type in plain English. The terminal is just a faster keyboard.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Eight parts. We move quickly but pause at any step if your install stalls. Raise your hand and keep everyone moving - someone else probably has the same issue.</a:t>
            </a:r>
          </a:p>
          <a:p/>
          <a:p>
            <a:r>
              <a:t>Parts 1 and 2 are physical setup. Parts 3 through 8 are how the tool actually works. Do not skip ahead - the order matters.</a:t>
            </a:r>
          </a:p>
          <a:p/>
          <a:p>
            <a:r>
              <a:t>SOURCE:</a:t>
            </a:r>
          </a:p>
          <a:p>
            <a:r>
              <a:t>original framing</a:t>
            </a:r>
          </a:p>
          <a:p/>
          <a:p>
            <a:r>
              <a:t>WATCH FOR:</a:t>
            </a:r>
          </a:p>
          <a:p>
            <a:r>
              <a:t>"Can we skip ahead to [topic]?" - Hold the order. Install must work before anything else matters.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Mac users - open Terminal right now. Press Cmd+Space, type Terminal, hit Enter. Paste the curl command on the right side of this slide. You will see a progress bar, then a success message.</a:t>
            </a:r>
          </a:p>
          <a:p/>
          <a:p>
            <a:r>
              <a:t>The native installer drops a single binary in your home folder. It needs nothing else. No Node.js, no npm, no admin password required.</a:t>
            </a:r>
          </a:p>
          <a:p/>
          <a:p>
            <a:r>
              <a:t>If you prefer Homebrew, that works too - but you will need to upgrade manually. The native install updates itself.</a:t>
            </a:r>
          </a:p>
          <a:p/>
          <a:p>
            <a:r>
              <a:t>After install, type claude --version to confirm. You should see a version number. If you see "command not found", close and reopen Terminal.</a:t>
            </a:r>
          </a:p>
          <a:p/>
          <a:p>
            <a:r>
              <a:t>SOURCE:</a:t>
            </a:r>
          </a:p>
          <a:p>
            <a:r>
              <a:t>repo: 01-setup/mac-setup.md (Section 2 and Section 3)</a:t>
            </a:r>
          </a:p>
          <a:p>
            <a:r>
              <a:t>Verified against: https://code.claude.com/docs/en/overview (fetched 17-03-2026)</a:t>
            </a:r>
          </a:p>
          <a:p/>
          <a:p>
            <a:r>
              <a:t>WATCH FOR:</a:t>
            </a:r>
          </a:p>
          <a:p>
            <a:r>
              <a:t>"It says permission denied" - Do not use sudo. The installer goes to ~/.local/bin which you own. If it still fails, run the sudo version shown in the troubleshooting table.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Windows install is a clean three-step flow. No Git for Windows needed.</a:t>
            </a:r>
          </a:p>
          <a:p/>
          <a:p>
            <a:r>
              <a:t>Step 1: open PowerShell. Important: pick the entry without (x86) - the x86 one is 32-bit and Claude Code does not support it. No admin rights needed.</a:t>
            </a:r>
          </a:p>
          <a:p/>
          <a:p>
            <a:r>
              <a:t>Step 2: paste the irm command. Wait for the success message.</a:t>
            </a:r>
          </a:p>
          <a:p/>
          <a:p>
            <a:r>
              <a:t>Step 3 is the one most people miss: the installer drops the binary at C:\Users\&lt;You&gt;\.local\bin, but that folder is not in PATH by default. Run the SetEnvironmentVariable line in the SAME PowerShell window. It prints nothing on success - that is expected.</a:t>
            </a:r>
          </a:p>
          <a:p/>
          <a:p>
            <a:r>
              <a:t>Step 4: close PowerShell completely, open a fresh one, type claude --help. PATH changes only take effect in new windows.</a:t>
            </a:r>
          </a:p>
          <a:p/>
          <a:p>
            <a:r>
              <a:t>If you see "claude is not recognized" - Step 2 did not save. Re-run it, then open another fresh PowerShell.</a:t>
            </a:r>
          </a:p>
          <a:p/>
          <a:p>
            <a:r>
              <a:t>Git for Windows is recommended in the official docs for skills that use Unix shell tools, but is not required. Section 12 of windows-setup.md covers it for anyone who wants it later.</a:t>
            </a:r>
          </a:p>
          <a:p/>
          <a:p>
            <a:r>
              <a:t>SOURCE:</a:t>
            </a:r>
          </a:p>
          <a:p>
            <a:r>
              <a:t>repo: 01-setup/windows-setup.md (Sections 1, 2, 3, 12)</a:t>
            </a:r>
          </a:p>
          <a:p>
            <a:r>
              <a:t>code.claude.com/docs/en/setup (Set up on Windows), fetched 16-05-2026</a:t>
            </a:r>
          </a:p>
          <a:p/>
          <a:p>
            <a:r>
              <a:t>WATCH FOR:</a:t>
            </a:r>
          </a:p>
          <a:p>
            <a:r>
              <a:t>"Do I need to run as Administrator?" - No. The installer writes to your user profile directory.</a:t>
            </a:r>
          </a:p>
          <a:p>
            <a:r>
              <a:t>"Do I need Git for Windows?" - No. It is recommended but not required. Skip it for the workshop.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Before we move on - five errors that almost everyone hits on their first install. Read the left column, fix from the right.</a:t>
            </a:r>
          </a:p>
          <a:p/>
          <a:p>
            <a:r>
              <a:t>Error 1 is the most common on Mac. Your PATH (the list of folders your terminal searches for programs) does not yet include ~/.local/bin where Claude was installed. Closing and reopening the terminal usually fixes it. If not, add the export line to your shell config.</a:t>
            </a:r>
          </a:p>
          <a:p/>
          <a:p>
            <a:r>
              <a:t>Error 3 is important: the free Claude.ai plan does not include Claude Code access. You need a paid subscription.</a:t>
            </a:r>
          </a:p>
          <a:p/>
          <a:p>
            <a:r>
              <a:t>Error 5 is Windows-specific. PowerShell's execution policy may block unsigned scripts. Run the Set-ExecutionPolicy command shown, then retry.</a:t>
            </a:r>
          </a:p>
          <a:p/>
          <a:p>
            <a:r>
              <a:t>SOURCE:</a:t>
            </a:r>
          </a:p>
          <a:p>
            <a:r>
              <a:t>repo: 01-setup/mac-setup.md (Troubleshooting section)</a:t>
            </a:r>
          </a:p>
          <a:p>
            <a:r>
              <a:t>repo: 01-setup/windows-setup.md (Troubleshooting section)</a:t>
            </a:r>
          </a:p>
          <a:p/>
          <a:p>
            <a:r>
              <a:t>WATCH FOR:</a:t>
            </a:r>
          </a:p>
          <a:p>
            <a:r>
              <a:t>"I have Pro but it says subscription required" - Log out and log back in to refresh credentials. The credentials file may be stale.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Once Claude is installed, type claude and press Enter. First-time login has five steps.</a:t>
            </a:r>
          </a:p>
          <a:p/>
          <a:p>
            <a:r>
              <a:t>Step 2 is where people get confused: you will see two options. Choose "Claude account with subscription" not the API key. OAuth (open authorization) means you log in through a browser like any other web service - no keys to copy.</a:t>
            </a:r>
          </a:p>
          <a:p/>
          <a:p>
            <a:r>
              <a:t>Step 3: your default browser opens automatically. Log in with your Claude.ai account. After you confirm, return to the terminal.</a:t>
            </a:r>
          </a:p>
          <a:p/>
          <a:p>
            <a:r>
              <a:t>Step 4: Claude asks which terminal theme you prefer. This just controls whether text looks better on a light or dark background. Pick one - you can change it later.</a:t>
            </a:r>
          </a:p>
          <a:p/>
          <a:p>
            <a:r>
              <a:t>After that, you are in. Your credentials are stored securely. You will not repeat this process.</a:t>
            </a:r>
          </a:p>
          <a:p/>
          <a:p>
            <a:r>
              <a:t>SOURCE:</a:t>
            </a:r>
          </a:p>
          <a:p>
            <a:r>
              <a:t>repo: 01-setup/mac-setup.md (Section 4)</a:t>
            </a:r>
          </a:p>
          <a:p>
            <a:r>
              <a:t>repo: 01-setup/windows-setup.md (Section 5)</a:t>
            </a:r>
          </a:p>
          <a:p/>
          <a:p>
            <a:r>
              <a:t>WATCH FOR:</a:t>
            </a:r>
          </a:p>
          <a:p>
            <a:r>
              <a:t>"What is OAuth?" - It is browser-based login. Same as 'Sign in with Google'. No passwords or keys to manage.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Three verification commands. Learn them now, use them whenever something feels wrong.</a:t>
            </a:r>
          </a:p>
          <a:p/>
          <a:p>
            <a:r>
              <a:t>claude --version: run this before launching a session to confirm the binary is found and up to date.</a:t>
            </a:r>
          </a:p>
          <a:p/>
          <a:p>
            <a:r>
              <a:t>claude doctor: this is your troubleshooting starting point. Run it outside Claude, in your regular terminal. It checks your install, your subscription, and your network. If any check fails, it tells you the fix.</a:t>
            </a:r>
          </a:p>
          <a:p/>
          <a:p>
            <a:r>
              <a:t>/doctor: the same check but from inside Claude Code. REPL stands for read-eval-print loop - it is the interactive terminal session where you talk to Claude. You can run /doctor any time inside a session.</a:t>
            </a:r>
          </a:p>
          <a:p/>
          <a:p>
            <a:r>
              <a:t>Run all three right now.</a:t>
            </a:r>
          </a:p>
          <a:p/>
          <a:p>
            <a:r>
              <a:t>SOURCE:</a:t>
            </a:r>
          </a:p>
          <a:p>
            <a:r>
              <a:t>repo: 01-setup/mac-setup.md (Section 3)</a:t>
            </a:r>
          </a:p>
          <a:p>
            <a:r>
              <a:t>repo: 01-setup/windows-setup.md (Section 4)</a:t>
            </a:r>
          </a:p>
          <a:p/>
          <a:p>
            <a:r>
              <a:t>WATCH FOR:</a:t>
            </a:r>
          </a:p>
          <a:p>
            <a:r>
              <a:t>"What is a REPL?" - It stands for Read-Eval-Print Loop. It is the interactive prompt where you type commands and Claude responds. That is the claude session itself.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Four commands. Commit these to muscle memory today.</a:t>
            </a:r>
          </a:p>
          <a:p/>
          <a:p>
            <a:r>
              <a:t>/help: your escape hatch when you forget what is available. Type it anytime inside a session.</a:t>
            </a:r>
          </a:p>
          <a:p/>
          <a:p>
            <a:r>
              <a:t>/clear: this does not delete your files. It clears Claude's working memory for the conversation. Context window is the amount of conversation Claude can hold at once - like working memory. When a session gets long or confused, /clear gives Claude a fresh start.</a:t>
            </a:r>
          </a:p>
          <a:p/>
          <a:p>
            <a:r>
              <a:t>/exit: clean shutdown. Ctrl+D does the same thing on Mac and Windows.</a:t>
            </a:r>
          </a:p>
          <a:p/>
          <a:p>
            <a:r>
              <a:t>ESC: this is the most important one. If Claude starts generating something wrong, press ESC immediately. It stops the response mid-stream. Better to stop early than let Claude finish writing something you will have to undo.</a:t>
            </a:r>
          </a:p>
          <a:p/>
          <a:p>
            <a:r>
              <a:t>SOURCE:</a:t>
            </a:r>
          </a:p>
          <a:p>
            <a:r>
              <a:t>repo: 01-setup/mac-setup.md (Section 6)</a:t>
            </a:r>
          </a:p>
          <a:p>
            <a:r>
              <a:t>repo: 01-setup/windows-setup.md (Section 7)</a:t>
            </a:r>
          </a:p>
          <a:p/>
          <a:p>
            <a:r>
              <a:t>WATCH FOR:</a:t>
            </a:r>
          </a:p>
          <a:p>
            <a:r>
              <a:t>"What is a context window?" - It is how much of the conversation Claude can 'see' at once. Think of it as short-term memory. When it fills up, earlier parts of the conversation drop off.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Plan mode is one of Claude Code's most important features for non-engineers.</a:t>
            </a:r>
          </a:p>
          <a:p/>
          <a:p>
            <a:r>
              <a:t>In default mode, Claude acts immediately when you ask. That is fine for low-stakes tasks where you trust the outcome.</a:t>
            </a:r>
          </a:p>
          <a:p/>
          <a:p>
            <a:r>
              <a:t>In plan mode, Claude first describes what it is going to do, in plain language, and then waits for your go-ahead. Only after you say yes does it touch any files.</a:t>
            </a:r>
          </a:p>
          <a:p/>
          <a:p>
            <a:r>
              <a:t>Toggle it with Shift+Tab. You will cycle through: default, acceptEdits, plan, and auto. Or type /plan inside a session to jump straight to plan mode.</a:t>
            </a:r>
          </a:p>
          <a:p/>
          <a:p>
            <a:r>
              <a:t>Use plan mode whenever you are uncertain, whenever the task touches an important file, or whenever you want to understand what Claude is about to do before it does it.</a:t>
            </a:r>
          </a:p>
          <a:p/>
          <a:p>
            <a:r>
              <a:t>SOURCE:</a:t>
            </a:r>
          </a:p>
          <a:p>
            <a:r>
              <a:t>Verified against: https://code.claude.com/docs/en/settings (fetched 17-03-2026)</a:t>
            </a:r>
          </a:p>
          <a:p/>
          <a:p>
            <a:r>
              <a:t>WATCH FOR:</a:t>
            </a:r>
          </a:p>
          <a:p>
            <a:r>
              <a:t>"What is auto mode?" - Auto mode lets Claude act without asking permission for anything. Do not use it until you are comfortable with Claude Code and trust the task.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CLAUDE.md is the most important file in your Claude Code setup. It is a plain text file - just markdown, the same format as Notion or any note-taking tool.</a:t>
            </a:r>
          </a:p>
          <a:p/>
          <a:p>
            <a:r>
              <a:t>Every time you start a Claude session in that project folder, Claude reads the CLAUDE.md first. Automatically. You never have to say "here is my project context" again.</a:t>
            </a:r>
          </a:p>
          <a:p/>
          <a:p>
            <a:r>
              <a:t>Without CLAUDE.md: every session is a blank slate. Claude asks questions you have answered before.</a:t>
            </a:r>
          </a:p>
          <a:p>
            <a:r>
              <a:t>With CLAUDE.md: Claude already knows your product, your role, your conventions, your rules.</a:t>
            </a:r>
          </a:p>
          <a:p/>
          <a:p>
            <a:r>
              <a:t>The file shown on the right is the structure from this workshop's project. CLAUDE.md at the root. And a global one at ~/.claude/CLAUDE.md that applies to every project on your machine.</a:t>
            </a:r>
          </a:p>
          <a:p/>
          <a:p>
            <a:r>
              <a:t>SOURCE:</a:t>
            </a:r>
          </a:p>
          <a:p>
            <a:r>
              <a:t>Verified against: https://code.claude.com/docs/en/memory (fetched 17-03-2026)</a:t>
            </a:r>
          </a:p>
          <a:p>
            <a:r>
              <a:t>repo: CLAUDE.md (root project)</a:t>
            </a:r>
          </a:p>
          <a:p/>
          <a:p>
            <a:r>
              <a:t>WATCH FOR:</a:t>
            </a:r>
          </a:p>
          <a:p>
            <a:r>
              <a:t>"Do I have to write it in code?" - No. Plain English. Headers and bullets. Just write what you would tell a new colleague on day 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Three levels of CLAUDE.md. Claude reads all of them and combines them into one context.</a:t>
            </a:r>
          </a:p>
          <a:p/>
          <a:p>
            <a:r>
              <a:t>Global: ~/.claude/CLAUDE.md. This applies to every project. This is where your personal preferences live - how you like code structured, your writing voice, your shortcuts. It is private to your machine and never committed to git.</a:t>
            </a:r>
          </a:p>
          <a:p/>
          <a:p>
            <a:r>
              <a:t>Project: ./CLAUDE.md at the root of your repo. This is the one your team shares. It has project-specific context: what the product is, the tech stack, the rules. Commit this to git.</a:t>
            </a:r>
          </a:p>
          <a:p/>
          <a:p>
            <a:r>
              <a:t>Subfolder: a CLAUDE.md inside a specific folder. This only loads when Claude is reading files inside that folder. Useful in large projects with different conventions for different modules.</a:t>
            </a:r>
          </a:p>
          <a:p/>
          <a:p>
            <a:r>
              <a:t>When rules conflict, more specific wins. Subfolder beats project beats global.</a:t>
            </a:r>
          </a:p>
          <a:p/>
          <a:p>
            <a:r>
              <a:t>SOURCE:</a:t>
            </a:r>
          </a:p>
          <a:p>
            <a:r>
              <a:t>Verified against: https://code.claude.com/docs/en/memory (fetched 17-03-2026)</a:t>
            </a:r>
          </a:p>
          <a:p/>
          <a:p>
            <a:r>
              <a:t>WATCH FOR:</a:t>
            </a:r>
          </a:p>
          <a:p>
            <a:r>
              <a:t>"Should I put everything in the global file?" - No. Put what is truly personal in global, project context in project CLAUDE.md. Keep each file focused.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Two settings files. Simple rule: shared things go in settings.json, personal things go in settings.local.json.</a:t>
            </a:r>
          </a:p>
          <a:p/>
          <a:p>
            <a:r>
              <a:t>settings.json lives in the .claude folder in your project. Commit this to git. Your teammates get the same configuration. Use it for commands everyone should be able to run, commands that should always be blocked, and MCP servers the whole team uses.</a:t>
            </a:r>
          </a:p>
          <a:p/>
          <a:p>
            <a:r>
              <a:t>settings.local.json is in the same folder but gitignored. It never leaves your machine. Use it for your personal sandbox URLs, your own overrides, anything machine-specific.</a:t>
            </a:r>
          </a:p>
          <a:p/>
          <a:p>
            <a:r>
              <a:t>The settings hierarchy goes: managed (your company's IT team) - then local - then project - then user. Local beats project, so your personal overrides always take precedence.</a:t>
            </a:r>
          </a:p>
          <a:p/>
          <a:p>
            <a:r>
              <a:t>SOURCE:</a:t>
            </a:r>
          </a:p>
          <a:p>
            <a:r>
              <a:t>Verified against: https://code.claude.com/docs/en/settings (fetched 17-03-2026)</a:t>
            </a:r>
          </a:p>
          <a:p/>
          <a:p>
            <a:r>
              <a:t>WATCH FOR:</a:t>
            </a:r>
          </a:p>
          <a:p>
            <a:r>
              <a:t>"What is gitignored?" - Git is the system that tracks changes to your project files. Gitignored means a file is deliberately excluded from that tracking. Other people who clone your project never see the file.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Permissions control what Claude can do without asking you first. This is one of the most important concepts for anyone using Claude Code on real projects.</a:t>
            </a:r>
          </a:p>
          <a:p/>
          <a:p>
            <a:r>
              <a:t>By default, Claude pauses and asks before every file change or command. That is safe but slow.</a:t>
            </a:r>
          </a:p>
          <a:p/>
          <a:p>
            <a:r>
              <a:t>The allow list is a shortlist of commands Claude can run without asking. Add commands you trust completely - like running your linter or your test suite.</a:t>
            </a:r>
          </a:p>
          <a:p/>
          <a:p>
            <a:r>
              <a:t>The deny list is non-negotiable blocks. Add your .env file (which holds passwords), your secrets folder, any file Claude should never read or touch.</a:t>
            </a:r>
          </a:p>
          <a:p/>
          <a:p>
            <a:r>
              <a:t>The rule evaluation order: deny first, then ask, then allow. If a command matches deny, it is blocked regardless of anything else.</a:t>
            </a:r>
          </a:p>
          <a:p/>
          <a:p>
            <a:r>
              <a:t>.env stands for environment variables - a file that holds configuration values like database passwords and API keys. It is sensitive and should never be read by any automated tool.</a:t>
            </a:r>
          </a:p>
          <a:p/>
          <a:p>
            <a:r>
              <a:t>SOURCE:</a:t>
            </a:r>
          </a:p>
          <a:p>
            <a:r>
              <a:t>Verified against: https://code.claude.com/docs/en/settings (fetched 17-03-2026)</a:t>
            </a:r>
          </a:p>
          <a:p/>
          <a:p>
            <a:r>
              <a:t>WATCH FOR:</a:t>
            </a:r>
          </a:p>
          <a:p>
            <a:r>
              <a:t>"What is an env file?" - .env is a file that stores secret configuration values like passwords and API keys. Never commit it to git, never let Claude read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MCP is Model Context Protocol - an open standard that Anthropic published for connecting AI tools to external data sources. Think of it as a standardized plugin system.</a:t>
            </a:r>
          </a:p>
          <a:p/>
          <a:p>
            <a:r>
              <a:t>Without MCP: you copy text from Jira, paste it into Claude, get a response, copy that back to Jira. Slow and manual.</a:t>
            </a:r>
          </a:p>
          <a:p/>
          <a:p>
            <a:r>
              <a:t>With MCP: you say "create a Jira ticket for this" and Claude creates it directly. No switching tabs, no copy-pasting.</a:t>
            </a:r>
          </a:p>
          <a:p/>
          <a:p>
            <a:r>
              <a:t>The four cards show common use cases. Jira and Confluence are the most popular because you can create tickets, search issues, and publish pages without leaving the terminal.</a:t>
            </a:r>
          </a:p>
          <a:p/>
          <a:p>
            <a:r>
              <a:t>This workshop's integrations.md covers the Atlassian MCP setup step by step.</a:t>
            </a:r>
          </a:p>
          <a:p/>
          <a:p>
            <a:r>
              <a:t>SOURCE:</a:t>
            </a:r>
          </a:p>
          <a:p>
            <a:r>
              <a:t>repo: 01-setup/integrations.md</a:t>
            </a:r>
          </a:p>
          <a:p>
            <a:r>
              <a:t>Verified against: https://code.claude.com/docs/en/mcp (fetched 17-03-2026)</a:t>
            </a:r>
          </a:p>
          <a:p/>
          <a:p>
            <a:r>
              <a:t>WATCH FOR:</a:t>
            </a:r>
          </a:p>
          <a:p>
            <a:r>
              <a:t>"Is MCP safe?" - MCP servers run locally or connect to trusted remote services you configure. Trust each server before adding it - the same way you would trust a browser extension.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Four steps to add any MCP server. The pattern is the same regardless of which tool you are connecting.</a:t>
            </a:r>
          </a:p>
          <a:p/>
          <a:p>
            <a:r>
              <a:t>Step 1: run claude mcp add in your terminal. The --transport http flag means it is a remote server, not something running on your machine. The URL is the server's endpoint.</a:t>
            </a:r>
          </a:p>
          <a:p/>
          <a:p>
            <a:r>
              <a:t>Step 2: claude mcp list confirms it was added. It will say "Needs authentication" because you have not logged in yet.</a:t>
            </a:r>
          </a:p>
          <a:p/>
          <a:p>
            <a:r>
              <a:t>Step 3: start a Claude session, type /mcp. This opens the MCP management panel and triggers the authentication flow - usually OAuth through your browser.</a:t>
            </a:r>
          </a:p>
          <a:p/>
          <a:p>
            <a:r>
              <a:t>Step 4: run claude mcp list again. It should now say "Connected."</a:t>
            </a:r>
          </a:p>
          <a:p/>
          <a:p>
            <a:r>
              <a:t>If you get "duplicate Atlassian entries" - Claude Code plugins may auto-add Atlassian. Remove the duplicate with claude mcp remove.</a:t>
            </a:r>
          </a:p>
          <a:p/>
          <a:p>
            <a:r>
              <a:t>SOURCE:</a:t>
            </a:r>
          </a:p>
          <a:p>
            <a:r>
              <a:t>repo: 01-setup/integrations.md (Setup Steps section)</a:t>
            </a:r>
          </a:p>
          <a:p>
            <a:r>
              <a:t>Verified against: https://code.claude.com/docs/en/mcp (fetched 17-03-2026)</a:t>
            </a:r>
          </a:p>
          <a:p/>
          <a:p>
            <a:r>
              <a:t>WATCH FOR:</a:t>
            </a:r>
          </a:p>
          <a:p>
            <a:r>
              <a:t>"What does 'transport http' mean?" - It means the MCP server runs remotely on the internet, not on your machine. Claude Code connects to it over HTTP - the same protocol as any website.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If you already use Antigravity IDE for writing or coding, the Claude Code extension brings Claude directly into your editor.</a:t>
            </a:r>
          </a:p>
          <a:p/>
          <a:p>
            <a:r>
              <a:t>Antigravity IDE is built on the same extension ecosystem as other popular editors. The Claude Code extension by Anthropic installs from that marketplace with no extra steps.</a:t>
            </a:r>
          </a:p>
          <a:p/>
          <a:p>
            <a:r>
              <a:t>The main benefit for non-engineers: you see visual diffs. Before Claude changes a file, the IDE shows you a side-by-side comparison of before and after. You approve or reject. Nothing changes without your say.</a:t>
            </a:r>
          </a:p>
          <a:p/>
          <a:p>
            <a:r>
              <a:t>You also get @-mentions - type @ followed by a filename and Claude reads that specific file. Useful for asking Claude about a particular spec or PRD.</a:t>
            </a:r>
          </a:p>
          <a:p/>
          <a:p>
            <a:r>
              <a:t>If you are comfortable with the terminal, you do not need the extension. Both share the same CLAUDE.md, settings, and session history.</a:t>
            </a:r>
          </a:p>
          <a:p/>
          <a:p>
            <a:r>
              <a:t>SOURCE:</a:t>
            </a:r>
          </a:p>
          <a:p>
            <a:r>
              <a:t>repo: 01-setup/mac-setup.md (Section 8)</a:t>
            </a:r>
          </a:p>
          <a:p>
            <a:r>
              <a:t>repo: 01-setup/windows-setup.md (Section 9)</a:t>
            </a:r>
          </a:p>
          <a:p>
            <a:r>
              <a:t>Verified against: https://code.claude.com/docs/en/ide-integrations (fetched 17-03-2026)</a:t>
            </a:r>
          </a:p>
          <a:p/>
          <a:p>
            <a:r>
              <a:t>WATCH FOR:</a:t>
            </a:r>
          </a:p>
          <a:p>
            <a:r>
              <a:t>"What are inline diffs?" - A diff is a side-by-side view showing what changed in a file: old content on the left, new content on the right. Inline means it appears directly inside your editor.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Six steps, 10 minutes, done. This is the complete first-time setup sequence.</a:t>
            </a:r>
          </a:p>
          <a:p/>
          <a:p>
            <a:r>
              <a:t>Step 1: install and run two verification commands. Do not skip claude doctor - it catches problems before you hit them mid-session.</a:t>
            </a:r>
          </a:p>
          <a:p/>
          <a:p>
            <a:r>
              <a:t>Step 2: navigate to a real project folder before launching Claude. cd means change directory - it is how you move to a folder in the terminal. Claude works in the context of the folder you are in.</a:t>
            </a:r>
          </a:p>
          <a:p/>
          <a:p>
            <a:r>
              <a:t>Step 3: the login flow. Pick "Claude account with subscription." Complete browser login. Choose your theme.</a:t>
            </a:r>
          </a:p>
          <a:p/>
          <a:p>
            <a:r>
              <a:t>Step 4: your first question. Type it in plain English. Claude reads the files in your current folder automatically - you do not need to point it at anything.</a:t>
            </a:r>
          </a:p>
          <a:p/>
          <a:p>
            <a:r>
              <a:t>Steps 5 and 6: practice the commands and plan mode before you use Claude for real work. Muscle memory now prevents mistakes later.</a:t>
            </a:r>
          </a:p>
          <a:p/>
          <a:p>
            <a:r>
              <a:t>SOURCE:</a:t>
            </a:r>
          </a:p>
          <a:p>
            <a:r>
              <a:t>repo: 01-setup/mac-setup.md (Sections 4-7)</a:t>
            </a:r>
          </a:p>
          <a:p>
            <a:r>
              <a:t>repo: 01-setup/guided-prompts.md (Prompt 1)</a:t>
            </a:r>
          </a:p>
          <a:p/>
          <a:p>
            <a:r>
              <a:t>WATCH FOR:</a:t>
            </a:r>
          </a:p>
          <a:p>
            <a:r>
              <a:t>"What does 'cd' mean?" - cd stands for change directory. It is how you move between folders in the terminal. cd ~/Desktop takes you to your Desktop folder.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Ten prompts pulled directly from the guided-prompts.md file in this project. Each one exercises a different capability.</a:t>
            </a:r>
          </a:p>
          <a:p/>
          <a:p>
            <a:r>
              <a:t>Prompts 1-4 are orientation - Claude reads your project and tells you what it sees.</a:t>
            </a:r>
          </a:p>
          <a:p>
            <a:r>
              <a:t>Prompts 5-7 are analysis - Claude connects numbers and files to surface insights.</a:t>
            </a:r>
          </a:p>
          <a:p>
            <a:r>
              <a:t>Prompts 8-10 are synthesis and creation - Claude reads multiple files, finds gaps, and creates new artifacts.</a:t>
            </a:r>
          </a:p>
          <a:p/>
          <a:p>
            <a:r>
              <a:t>By prompt 10, Claude is doing in 30 seconds what would take an hour of reading across folders.</a:t>
            </a:r>
          </a:p>
          <a:p/>
          <a:p>
            <a:r>
              <a:t>You do not need to understand how Claude does this. You need to know which prompts to use and what to expect back.</a:t>
            </a:r>
          </a:p>
          <a:p/>
          <a:p>
            <a:r>
              <a:t>SOURCE:</a:t>
            </a:r>
          </a:p>
          <a:p>
            <a:r>
              <a:t>repo: 01-setup/guided-prompts.md (all 10 prompts)</a:t>
            </a:r>
          </a:p>
          <a:p/>
          <a:p>
            <a:r>
              <a:t>WATCH FOR:</a:t>
            </a:r>
          </a:p>
          <a:p>
            <a:r>
              <a:t>"Do I have to use these exact words?" - No. These are starting points. Once you see the pattern, you will write your own. The key is being specific: name the file, name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Four common CLAUDE.md mistakes. Left column is what people write, right column is what works.</a:t>
            </a:r>
          </a:p>
          <a:p/>
          <a:p>
            <a:r>
              <a:t>Row 1 - vagueness: "format code properly" tells Claude nothing. "Use 2-space indentation" is unambiguous and verifiable.</a:t>
            </a:r>
          </a:p>
          <a:p/>
          <a:p>
            <a:r>
              <a:t>Row 2 - session-specific content: do not put your current priorities in CLAUDE.md. They change. Put stable facts there: your tech stack, your role, your project structure.</a:t>
            </a:r>
          </a:p>
          <a:p/>
          <a:p>
            <a:r>
              <a:t>Row 3 - secrets: never put API keys or passwords in CLAUDE.md. The file gets committed to git. Instead, note that secrets live in .env - this tells Claude where to look without exposing them.</a:t>
            </a:r>
          </a:p>
          <a:p/>
          <a:p>
            <a:r>
              <a:t>Row 4 - length: CLAUDE.md is loaded into Claude's context window at every session start. Longer means more tokens consumed and lower adherence to the rules. Keep it under 200 lines. Be ruthless.</a:t>
            </a:r>
          </a:p>
          <a:p/>
          <a:p>
            <a:r>
              <a:t>SOURCE:</a:t>
            </a:r>
          </a:p>
          <a:p>
            <a:r>
              <a:t>Verified against: https://code.claude.com/docs/en/memory (fetched 17-03-2026)</a:t>
            </a:r>
          </a:p>
          <a:p/>
          <a:p>
            <a:r>
              <a:t>WATCH FOR:</a:t>
            </a:r>
          </a:p>
          <a:p>
            <a:r>
              <a:t>"How long should CLAUDE.md be?" - Target under 200 lines. If it is growing, move module-specific rules to subfolder CLAUDE.md files or into .claude/rules/.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Eight terms you will see in documentation, in setup guides, and in workshop exercises.</a:t>
            </a:r>
          </a:p>
          <a:p/>
          <a:p>
            <a:r>
              <a:t>Spend 30 seconds pointing at any two or three that come up most in questions - usually CLAUDE.md, MCP, and plan mode.</a:t>
            </a:r>
          </a:p>
          <a:p/>
          <a:p>
            <a:r>
              <a:t>Tell participants: if a doc or a prompt uses a term you do not recognize, this slide is your reference. It lives in the deck you can download.</a:t>
            </a:r>
          </a:p>
          <a:p/>
          <a:p>
            <a:r>
              <a:t>SOURCE:</a:t>
            </a:r>
          </a:p>
          <a:p>
            <a:r>
              <a:t>original framing</a:t>
            </a:r>
          </a:p>
          <a:p/>
          <a:p>
            <a:r>
              <a:t>WATCH FOR:</a:t>
            </a:r>
          </a:p>
          <a:p>
            <a:r>
              <a:t>"What is the difference between a skill and a subagent?" - A skill is a file of instructions that loads on a trigger phrase. A subagent is a live Claude instance that runs separately with its own context. They serve different purposes.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Eight things. If you remember nothing else, remember the pattern: install, verify, authenticate, CLAUDE.md, permissions.</a:t>
            </a:r>
          </a:p>
          <a:p/>
          <a:p>
            <a:r>
              <a:t>Everything else in the tool is built on top of this foundation. MCP adds tools. Skills add workflows. Hooks add automation. But they all depend on Claude running, authenticated, and pointed at a CLAUDE.md that tells it who you are.</a:t>
            </a:r>
          </a:p>
          <a:p/>
          <a:p>
            <a:r>
              <a:t>You have done the hard part. Every session from here is faster than the last.</a:t>
            </a:r>
          </a:p>
          <a:p/>
          <a:p>
            <a:r>
              <a:t>SOURCE:</a:t>
            </a:r>
          </a:p>
          <a:p>
            <a:r>
              <a:t>original framing</a:t>
            </a:r>
          </a:p>
          <a:p/>
          <a:p>
            <a:r>
              <a:t>WATCH FOR:</a:t>
            </a:r>
          </a:p>
          <a:p>
            <a:r>
              <a:t>"What should I do before the next session?" - Set up your CLAUDE.md for a real project you are working on right now. The guided prompts in this project show you what to ask first.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Five questions sourced from the March 2026 cohort transcripts - the ones that came up every single session.</a:t>
            </a:r>
          </a:p>
          <a:p/>
          <a:p>
            <a:r>
              <a:t>Walk through each quickly. The answers are on the slide; you are just adding the emphasis.</a:t>
            </a:r>
          </a:p>
          <a:p/>
          <a:p>
            <a:r>
              <a:t>Q1 is the most important: Claude Code is an agent. Cursor is an assistant. The architectural difference is that Claude Code executes - it does not wait for you to accept suggestions one by one.</a:t>
            </a:r>
          </a:p>
          <a:p/>
          <a:p>
            <a:r>
              <a:t>Q3 is the most common practical question. Start with Pro. The upgrade decision is easy once you have used the tool for a week.</a:t>
            </a:r>
          </a:p>
          <a:p/>
          <a:p>
            <a:r>
              <a:t>SOURCE:</a:t>
            </a:r>
          </a:p>
          <a:p>
            <a:r>
              <a:t>Q1: code.claude.com/docs/en/overview, fetched 16-05-2026</a:t>
            </a:r>
          </a:p>
          <a:p>
            <a:r>
              <a:t>Q2: privacy.claude.com/en/articles/10023580 (consumer products) + privacy.claude.com/en/articles/7996868 (commercial), fetched 16-05-2026</a:t>
            </a:r>
          </a:p>
          <a:p>
            <a:r>
              <a:t>Q3: claude.com/pricing, fetched 16-05-2026</a:t>
            </a:r>
          </a:p>
          <a:p>
            <a:r>
              <a:t>Q4: code.claude.com/docs/en/setup (npm and conflicting installations sections), fetched 16-05-2026</a:t>
            </a:r>
          </a:p>
          <a:p>
            <a:r>
              <a:t>Q5: code.claude.com/docs/en/setup (Set up on Windows section), fetched 16-05-2026</a:t>
            </a:r>
          </a:p>
          <a:p/>
          <a:p>
            <a:r>
              <a:t>WATCH FOR:</a:t>
            </a:r>
          </a:p>
          <a:p>
            <a:r>
              <a:t>"What about privacy with my company's code?" - Point them to privacy.claude.com for the consumer products policy and to Teams / Enterprise plans if their org needs admin-level controls.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Open floor. Take questions in order: install problems first, then setup, then concepts.</a:t>
            </a:r>
          </a:p>
          <a:p/>
          <a:p>
            <a:r>
              <a:t>Three common questions to prep for:</a:t>
            </a:r>
          </a:p>
          <a:p>
            <a:r>
              <a:t>1. "I got an error I cannot fix" - run claude doctor, share the output.</a:t>
            </a:r>
          </a:p>
          <a:p>
            <a:r>
              <a:t>2. "What should I do before the next session?" - write a CLAUDE.md for a project you own. Run prompts 1-4 from guided-prompts.md.</a:t>
            </a:r>
          </a:p>
          <a:p>
            <a:r>
              <a:t>3. "Is my data safe?" - Anthropic does not use Claude Code sessions to train models. Docs at code.claude.com.</a:t>
            </a:r>
          </a:p>
          <a:p/>
          <a:p>
            <a:r>
              <a:t>SOURCE:</a:t>
            </a:r>
          </a:p>
          <a:p>
            <a:r>
              <a:t>original framing</a:t>
            </a:r>
          </a:p>
          <a:p/>
          <a:p>
            <a:r>
              <a:t>WATCH FOR:</a:t>
            </a:r>
          </a:p>
          <a:p>
            <a:r>
              <a:t>"Will Claude remember our conversation next time?" - Only if you have CLAUDE.md set up. Without it, each session starts fresh. With it, Claude picks up the context every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0080"/>
            <a:ext cx="10972800" cy="457200"/>
          </a:xfrm>
          <a:prstGeom prst="rect">
            <a:avLst/>
          </a:prstGeom>
          <a:noFill/>
        </p:spPr>
        <p:txBody>
          <a:bodyPr wrap="square">
            <a:spAutoFit/>
          </a:bodyPr>
          <a:lstStyle/>
          <a:p>
            <a:pPr algn="l"/>
            <a:r>
              <a:rPr sz="1300" b="0">
                <a:solidFill>
                  <a:srgbClr val="888888"/>
                </a:solidFill>
              </a:rPr>
              <a:t>CLAUDE CODE WORKSHOP  -  SESSION 1</a:t>
            </a:r>
          </a:p>
        </p:txBody>
      </p:sp>
      <p:sp>
        <p:nvSpPr>
          <p:cNvPr id="4" name="TextBox 3"/>
          <p:cNvSpPr txBox="1"/>
          <p:nvPr/>
        </p:nvSpPr>
        <p:spPr>
          <a:xfrm>
            <a:off x="548640" y="1280160"/>
            <a:ext cx="9144000" cy="2194560"/>
          </a:xfrm>
          <a:prstGeom prst="rect">
            <a:avLst/>
          </a:prstGeom>
          <a:noFill/>
        </p:spPr>
        <p:txBody>
          <a:bodyPr wrap="square">
            <a:spAutoFit/>
          </a:bodyPr>
          <a:lstStyle/>
          <a:p>
            <a:pPr algn="l"/>
            <a:r>
              <a:rPr sz="6000" b="1">
                <a:solidFill>
                  <a:srgbClr val="FFFFFF"/>
                </a:solidFill>
              </a:rPr>
              <a:t>Claude Code
Setup</a:t>
            </a:r>
          </a:p>
        </p:txBody>
      </p:sp>
      <p:sp>
        <p:nvSpPr>
          <p:cNvPr id="5" name="TextBox 4"/>
          <p:cNvSpPr txBox="1"/>
          <p:nvPr/>
        </p:nvSpPr>
        <p:spPr>
          <a:xfrm>
            <a:off x="548640" y="3566160"/>
            <a:ext cx="9144000" cy="731520"/>
          </a:xfrm>
          <a:prstGeom prst="rect">
            <a:avLst/>
          </a:prstGeom>
          <a:noFill/>
        </p:spPr>
        <p:txBody>
          <a:bodyPr wrap="square">
            <a:spAutoFit/>
          </a:bodyPr>
          <a:lstStyle/>
          <a:p>
            <a:pPr algn="l"/>
            <a:r>
              <a:rPr sz="2200" b="0">
                <a:solidFill>
                  <a:srgbClr val="D47A21"/>
                </a:solidFill>
              </a:rPr>
              <a:t>Install, authenticate, and configure your environment.</a:t>
            </a:r>
          </a:p>
        </p:txBody>
      </p:sp>
      <p:sp>
        <p:nvSpPr>
          <p:cNvPr id="6" name="Rectangle 5"/>
          <p:cNvSpPr/>
          <p:nvPr/>
        </p:nvSpPr>
        <p:spPr>
          <a:xfrm>
            <a:off x="548640" y="44348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663440"/>
            <a:ext cx="10972800" cy="1097280"/>
          </a:xfrm>
          <a:prstGeom prst="rect">
            <a:avLst/>
          </a:prstGeom>
          <a:noFill/>
        </p:spPr>
        <p:txBody>
          <a:bodyPr wrap="square">
            <a:spAutoFit/>
          </a:bodyPr>
          <a:lstStyle/>
          <a:p>
            <a:pPr algn="l"/>
            <a:r>
              <a:rPr sz="1700" b="0">
                <a:solidFill>
                  <a:srgbClr val="CCCCCC"/>
                </a:solidFill>
              </a:rPr>
              <a:t>By the end of this session: Claude Code is running on your machine, your CLAUDE.md is set up, and you know the 10 commands that matter.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640080"/>
          </a:xfrm>
          <a:prstGeom prst="rect">
            <a:avLst/>
          </a:prstGeom>
          <a:noFill/>
        </p:spPr>
        <p:txBody>
          <a:bodyPr wrap="square">
            <a:spAutoFit/>
          </a:bodyPr>
          <a:lstStyle/>
          <a:p>
            <a:pPr algn="l"/>
            <a:r>
              <a:rPr sz="3200" b="1">
                <a:solidFill>
                  <a:srgbClr val="FFFFFF"/>
                </a:solidFill>
              </a:rPr>
              <a:t>What We're Covering Today</a:t>
            </a:r>
          </a:p>
        </p:txBody>
      </p:sp>
      <p:sp>
        <p:nvSpPr>
          <p:cNvPr id="4" name="Rectangle 3"/>
          <p:cNvSpPr/>
          <p:nvPr/>
        </p:nvSpPr>
        <p:spPr>
          <a:xfrm>
            <a:off x="457200" y="1271016"/>
            <a:ext cx="11247120" cy="52120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44168"/>
            <a:ext cx="1645920" cy="576072"/>
          </a:xfrm>
          <a:prstGeom prst="rect">
            <a:avLst/>
          </a:prstGeom>
          <a:noFill/>
        </p:spPr>
        <p:txBody>
          <a:bodyPr wrap="square">
            <a:spAutoFit/>
          </a:bodyPr>
          <a:lstStyle/>
          <a:p>
            <a:pPr algn="l"/>
            <a:r>
              <a:rPr sz="1400" b="1">
                <a:solidFill>
                  <a:srgbClr val="D47A21"/>
                </a:solidFill>
              </a:rPr>
              <a:t>Part 1</a:t>
            </a:r>
          </a:p>
        </p:txBody>
      </p:sp>
      <p:sp>
        <p:nvSpPr>
          <p:cNvPr id="6" name="TextBox 5"/>
          <p:cNvSpPr txBox="1"/>
          <p:nvPr/>
        </p:nvSpPr>
        <p:spPr>
          <a:xfrm>
            <a:off x="2377440" y="1344168"/>
            <a:ext cx="9144000" cy="576072"/>
          </a:xfrm>
          <a:prstGeom prst="rect">
            <a:avLst/>
          </a:prstGeom>
          <a:noFill/>
        </p:spPr>
        <p:txBody>
          <a:bodyPr wrap="square">
            <a:spAutoFit/>
          </a:bodyPr>
          <a:lstStyle/>
          <a:p>
            <a:pPr algn="l"/>
            <a:r>
              <a:rPr sz="1600" b="0">
                <a:solidFill>
                  <a:srgbClr val="FFFFFF"/>
                </a:solidFill>
              </a:rPr>
              <a:t>Install on Mac and Windows</a:t>
            </a:r>
          </a:p>
        </p:txBody>
      </p:sp>
      <p:sp>
        <p:nvSpPr>
          <p:cNvPr id="7" name="TextBox 6"/>
          <p:cNvSpPr txBox="1"/>
          <p:nvPr/>
        </p:nvSpPr>
        <p:spPr>
          <a:xfrm>
            <a:off x="640080" y="1920240"/>
            <a:ext cx="1645920" cy="576072"/>
          </a:xfrm>
          <a:prstGeom prst="rect">
            <a:avLst/>
          </a:prstGeom>
          <a:noFill/>
        </p:spPr>
        <p:txBody>
          <a:bodyPr wrap="square">
            <a:spAutoFit/>
          </a:bodyPr>
          <a:lstStyle/>
          <a:p>
            <a:pPr algn="l"/>
            <a:r>
              <a:rPr sz="1400" b="1">
                <a:solidFill>
                  <a:srgbClr val="D47A21"/>
                </a:solidFill>
              </a:rPr>
              <a:t>Part 2</a:t>
            </a:r>
          </a:p>
        </p:txBody>
      </p:sp>
      <p:sp>
        <p:nvSpPr>
          <p:cNvPr id="8" name="TextBox 7"/>
          <p:cNvSpPr txBox="1"/>
          <p:nvPr/>
        </p:nvSpPr>
        <p:spPr>
          <a:xfrm>
            <a:off x="2377440" y="1920240"/>
            <a:ext cx="9144000" cy="576072"/>
          </a:xfrm>
          <a:prstGeom prst="rect">
            <a:avLst/>
          </a:prstGeom>
          <a:noFill/>
        </p:spPr>
        <p:txBody>
          <a:bodyPr wrap="square">
            <a:spAutoFit/>
          </a:bodyPr>
          <a:lstStyle/>
          <a:p>
            <a:pPr algn="l"/>
            <a:r>
              <a:rPr sz="1600" b="0">
                <a:solidFill>
                  <a:srgbClr val="FFFFFF"/>
                </a:solidFill>
              </a:rPr>
              <a:t>First launch, login, and verification</a:t>
            </a:r>
          </a:p>
        </p:txBody>
      </p:sp>
      <p:sp>
        <p:nvSpPr>
          <p:cNvPr id="9" name="Rectangle 8"/>
          <p:cNvSpPr/>
          <p:nvPr/>
        </p:nvSpPr>
        <p:spPr>
          <a:xfrm>
            <a:off x="457200" y="2423160"/>
            <a:ext cx="11247120" cy="52120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96312"/>
            <a:ext cx="1645920" cy="576072"/>
          </a:xfrm>
          <a:prstGeom prst="rect">
            <a:avLst/>
          </a:prstGeom>
          <a:noFill/>
        </p:spPr>
        <p:txBody>
          <a:bodyPr wrap="square">
            <a:spAutoFit/>
          </a:bodyPr>
          <a:lstStyle/>
          <a:p>
            <a:pPr algn="l"/>
            <a:r>
              <a:rPr sz="1400" b="1">
                <a:solidFill>
                  <a:srgbClr val="D47A21"/>
                </a:solidFill>
              </a:rPr>
              <a:t>Part 3</a:t>
            </a:r>
          </a:p>
        </p:txBody>
      </p:sp>
      <p:sp>
        <p:nvSpPr>
          <p:cNvPr id="11" name="TextBox 10"/>
          <p:cNvSpPr txBox="1"/>
          <p:nvPr/>
        </p:nvSpPr>
        <p:spPr>
          <a:xfrm>
            <a:off x="2377440" y="2496312"/>
            <a:ext cx="9144000" cy="576072"/>
          </a:xfrm>
          <a:prstGeom prst="rect">
            <a:avLst/>
          </a:prstGeom>
          <a:noFill/>
        </p:spPr>
        <p:txBody>
          <a:bodyPr wrap="square">
            <a:spAutoFit/>
          </a:bodyPr>
          <a:lstStyle/>
          <a:p>
            <a:pPr algn="l"/>
            <a:r>
              <a:rPr sz="1600" b="0">
                <a:solidFill>
                  <a:srgbClr val="FFFFFF"/>
                </a:solidFill>
              </a:rPr>
              <a:t>Core commands: /help, /clear, /exit, ESC</a:t>
            </a:r>
          </a:p>
        </p:txBody>
      </p:sp>
      <p:sp>
        <p:nvSpPr>
          <p:cNvPr id="12" name="TextBox 11"/>
          <p:cNvSpPr txBox="1"/>
          <p:nvPr/>
        </p:nvSpPr>
        <p:spPr>
          <a:xfrm>
            <a:off x="640080" y="3072384"/>
            <a:ext cx="1645920" cy="576072"/>
          </a:xfrm>
          <a:prstGeom prst="rect">
            <a:avLst/>
          </a:prstGeom>
          <a:noFill/>
        </p:spPr>
        <p:txBody>
          <a:bodyPr wrap="square">
            <a:spAutoFit/>
          </a:bodyPr>
          <a:lstStyle/>
          <a:p>
            <a:pPr algn="l"/>
            <a:r>
              <a:rPr sz="1400" b="1">
                <a:solidFill>
                  <a:srgbClr val="D47A21"/>
                </a:solidFill>
              </a:rPr>
              <a:t>Part 4</a:t>
            </a:r>
          </a:p>
        </p:txBody>
      </p:sp>
      <p:sp>
        <p:nvSpPr>
          <p:cNvPr id="13" name="TextBox 12"/>
          <p:cNvSpPr txBox="1"/>
          <p:nvPr/>
        </p:nvSpPr>
        <p:spPr>
          <a:xfrm>
            <a:off x="2377440" y="3072384"/>
            <a:ext cx="9144000" cy="576072"/>
          </a:xfrm>
          <a:prstGeom prst="rect">
            <a:avLst/>
          </a:prstGeom>
          <a:noFill/>
        </p:spPr>
        <p:txBody>
          <a:bodyPr wrap="square">
            <a:spAutoFit/>
          </a:bodyPr>
          <a:lstStyle/>
          <a:p>
            <a:pPr algn="l"/>
            <a:r>
              <a:rPr sz="1600" b="0">
                <a:solidFill>
                  <a:srgbClr val="FFFFFF"/>
                </a:solidFill>
              </a:rPr>
              <a:t>CLAUDE.md - the memory file hierarchy</a:t>
            </a:r>
          </a:p>
        </p:txBody>
      </p:sp>
      <p:sp>
        <p:nvSpPr>
          <p:cNvPr id="14" name="Rectangle 13"/>
          <p:cNvSpPr/>
          <p:nvPr/>
        </p:nvSpPr>
        <p:spPr>
          <a:xfrm>
            <a:off x="457200" y="3575304"/>
            <a:ext cx="11247120" cy="52120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648456"/>
            <a:ext cx="1645920" cy="576072"/>
          </a:xfrm>
          <a:prstGeom prst="rect">
            <a:avLst/>
          </a:prstGeom>
          <a:noFill/>
        </p:spPr>
        <p:txBody>
          <a:bodyPr wrap="square">
            <a:spAutoFit/>
          </a:bodyPr>
          <a:lstStyle/>
          <a:p>
            <a:pPr algn="l"/>
            <a:r>
              <a:rPr sz="1400" b="1">
                <a:solidFill>
                  <a:srgbClr val="D47A21"/>
                </a:solidFill>
              </a:rPr>
              <a:t>Part 5</a:t>
            </a:r>
          </a:p>
        </p:txBody>
      </p:sp>
      <p:sp>
        <p:nvSpPr>
          <p:cNvPr id="16" name="TextBox 15"/>
          <p:cNvSpPr txBox="1"/>
          <p:nvPr/>
        </p:nvSpPr>
        <p:spPr>
          <a:xfrm>
            <a:off x="2377440" y="3648456"/>
            <a:ext cx="9144000" cy="576072"/>
          </a:xfrm>
          <a:prstGeom prst="rect">
            <a:avLst/>
          </a:prstGeom>
          <a:noFill/>
        </p:spPr>
        <p:txBody>
          <a:bodyPr wrap="square">
            <a:spAutoFit/>
          </a:bodyPr>
          <a:lstStyle/>
          <a:p>
            <a:pPr algn="l"/>
            <a:r>
              <a:rPr sz="1600" b="0">
                <a:solidFill>
                  <a:srgbClr val="FFFFFF"/>
                </a:solidFill>
              </a:rPr>
              <a:t>Settings, permissions, and plan mode</a:t>
            </a:r>
          </a:p>
        </p:txBody>
      </p:sp>
      <p:sp>
        <p:nvSpPr>
          <p:cNvPr id="17" name="TextBox 16"/>
          <p:cNvSpPr txBox="1"/>
          <p:nvPr/>
        </p:nvSpPr>
        <p:spPr>
          <a:xfrm>
            <a:off x="640080" y="4224528"/>
            <a:ext cx="1645920" cy="576072"/>
          </a:xfrm>
          <a:prstGeom prst="rect">
            <a:avLst/>
          </a:prstGeom>
          <a:noFill/>
        </p:spPr>
        <p:txBody>
          <a:bodyPr wrap="square">
            <a:spAutoFit/>
          </a:bodyPr>
          <a:lstStyle/>
          <a:p>
            <a:pPr algn="l"/>
            <a:r>
              <a:rPr sz="1400" b="1">
                <a:solidFill>
                  <a:srgbClr val="D47A21"/>
                </a:solidFill>
              </a:rPr>
              <a:t>Part 6</a:t>
            </a:r>
          </a:p>
        </p:txBody>
      </p:sp>
      <p:sp>
        <p:nvSpPr>
          <p:cNvPr id="18" name="TextBox 17"/>
          <p:cNvSpPr txBox="1"/>
          <p:nvPr/>
        </p:nvSpPr>
        <p:spPr>
          <a:xfrm>
            <a:off x="2377440" y="4224528"/>
            <a:ext cx="9144000" cy="576072"/>
          </a:xfrm>
          <a:prstGeom prst="rect">
            <a:avLst/>
          </a:prstGeom>
          <a:noFill/>
        </p:spPr>
        <p:txBody>
          <a:bodyPr wrap="square">
            <a:spAutoFit/>
          </a:bodyPr>
          <a:lstStyle/>
          <a:p>
            <a:pPr algn="l"/>
            <a:r>
              <a:rPr sz="1600" b="0">
                <a:solidFill>
                  <a:srgbClr val="FFFFFF"/>
                </a:solidFill>
              </a:rPr>
              <a:t>MCP - connecting Claude to your tools</a:t>
            </a:r>
          </a:p>
        </p:txBody>
      </p:sp>
      <p:sp>
        <p:nvSpPr>
          <p:cNvPr id="19" name="Rectangle 18"/>
          <p:cNvSpPr/>
          <p:nvPr/>
        </p:nvSpPr>
        <p:spPr>
          <a:xfrm>
            <a:off x="457200" y="4727448"/>
            <a:ext cx="11247120" cy="52120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800600"/>
            <a:ext cx="1645920" cy="576072"/>
          </a:xfrm>
          <a:prstGeom prst="rect">
            <a:avLst/>
          </a:prstGeom>
          <a:noFill/>
        </p:spPr>
        <p:txBody>
          <a:bodyPr wrap="square">
            <a:spAutoFit/>
          </a:bodyPr>
          <a:lstStyle/>
          <a:p>
            <a:pPr algn="l"/>
            <a:r>
              <a:rPr sz="1400" b="1">
                <a:solidFill>
                  <a:srgbClr val="D47A21"/>
                </a:solidFill>
              </a:rPr>
              <a:t>Part 7</a:t>
            </a:r>
          </a:p>
        </p:txBody>
      </p:sp>
      <p:sp>
        <p:nvSpPr>
          <p:cNvPr id="21" name="TextBox 20"/>
          <p:cNvSpPr txBox="1"/>
          <p:nvPr/>
        </p:nvSpPr>
        <p:spPr>
          <a:xfrm>
            <a:off x="2377440" y="4800600"/>
            <a:ext cx="9144000" cy="576072"/>
          </a:xfrm>
          <a:prstGeom prst="rect">
            <a:avLst/>
          </a:prstGeom>
          <a:noFill/>
        </p:spPr>
        <p:txBody>
          <a:bodyPr wrap="square">
            <a:spAutoFit/>
          </a:bodyPr>
          <a:lstStyle/>
          <a:p>
            <a:pPr algn="l"/>
            <a:r>
              <a:rPr sz="1600" b="0">
                <a:solidFill>
                  <a:srgbClr val="FFFFFF"/>
                </a:solidFill>
              </a:rPr>
              <a:t>Antigravity IDE integration</a:t>
            </a:r>
          </a:p>
        </p:txBody>
      </p:sp>
      <p:sp>
        <p:nvSpPr>
          <p:cNvPr id="22" name="TextBox 21"/>
          <p:cNvSpPr txBox="1"/>
          <p:nvPr/>
        </p:nvSpPr>
        <p:spPr>
          <a:xfrm>
            <a:off x="640080" y="5376672"/>
            <a:ext cx="1645920" cy="576072"/>
          </a:xfrm>
          <a:prstGeom prst="rect">
            <a:avLst/>
          </a:prstGeom>
          <a:noFill/>
        </p:spPr>
        <p:txBody>
          <a:bodyPr wrap="square">
            <a:spAutoFit/>
          </a:bodyPr>
          <a:lstStyle/>
          <a:p>
            <a:pPr algn="l"/>
            <a:r>
              <a:rPr sz="1400" b="1">
                <a:solidFill>
                  <a:srgbClr val="D47A21"/>
                </a:solidFill>
              </a:rPr>
              <a:t>Part 8</a:t>
            </a:r>
          </a:p>
        </p:txBody>
      </p:sp>
      <p:sp>
        <p:nvSpPr>
          <p:cNvPr id="23" name="TextBox 22"/>
          <p:cNvSpPr txBox="1"/>
          <p:nvPr/>
        </p:nvSpPr>
        <p:spPr>
          <a:xfrm>
            <a:off x="2377440" y="5376672"/>
            <a:ext cx="9144000" cy="576072"/>
          </a:xfrm>
          <a:prstGeom prst="rect">
            <a:avLst/>
          </a:prstGeom>
          <a:noFill/>
        </p:spPr>
        <p:txBody>
          <a:bodyPr wrap="square">
            <a:spAutoFit/>
          </a:bodyPr>
          <a:lstStyle/>
          <a:p>
            <a:pPr algn="l"/>
            <a:r>
              <a:rPr sz="1600" b="0">
                <a:solidFill>
                  <a:srgbClr val="FFFFFF"/>
                </a:solidFill>
              </a:rPr>
              <a:t>First 10 minutes - full walkthrough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1  -  INSTALL</a:t>
            </a:r>
          </a:p>
        </p:txBody>
      </p:sp>
      <p:sp>
        <p:nvSpPr>
          <p:cNvPr id="4" name="TextBox 3"/>
          <p:cNvSpPr txBox="1"/>
          <p:nvPr/>
        </p:nvSpPr>
        <p:spPr>
          <a:xfrm>
            <a:off x="548640" y="914400"/>
            <a:ext cx="6858000" cy="914400"/>
          </a:xfrm>
          <a:prstGeom prst="rect">
            <a:avLst/>
          </a:prstGeom>
          <a:noFill/>
        </p:spPr>
        <p:txBody>
          <a:bodyPr wrap="square">
            <a:spAutoFit/>
          </a:bodyPr>
          <a:lstStyle/>
          <a:p>
            <a:pPr algn="l"/>
            <a:r>
              <a:rPr sz="3600" b="1">
                <a:solidFill>
                  <a:srgbClr val="FFFFFF"/>
                </a:solidFill>
              </a:rPr>
              <a:t>Mac: One Command in Terminal</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03120"/>
            <a:ext cx="6858000" cy="3657600"/>
          </a:xfrm>
          <a:prstGeom prst="rect">
            <a:avLst/>
          </a:prstGeom>
          <a:noFill/>
        </p:spPr>
        <p:txBody>
          <a:bodyPr wrap="square">
            <a:spAutoFit/>
          </a:bodyPr>
          <a:lstStyle/>
          <a:p>
            <a:pPr algn="l">
              <a:spcAft>
                <a:spcPts val="1000"/>
              </a:spcAft>
            </a:pPr>
            <a:r>
              <a:rPr sz="1700">
                <a:solidFill>
                  <a:srgbClr val="CCCCCC"/>
                </a:solidFill>
              </a:rPr>
              <a:t>  Open Terminal: Cmd+Space, type Terminal, press Enter</a:t>
            </a:r>
          </a:p>
          <a:p>
            <a:pPr algn="l">
              <a:spcAft>
                <a:spcPts val="1000"/>
              </a:spcAft>
            </a:pPr>
            <a:r>
              <a:rPr sz="1700">
                <a:solidFill>
                  <a:srgbClr val="CCCCCC"/>
                </a:solidFill>
              </a:rPr>
              <a:t>  Paste and run the install command (shown right)</a:t>
            </a:r>
          </a:p>
          <a:p>
            <a:pPr algn="l">
              <a:spcAft>
                <a:spcPts val="1000"/>
              </a:spcAft>
            </a:pPr>
            <a:r>
              <a:rPr sz="1700">
                <a:solidFill>
                  <a:srgbClr val="CCCCCC"/>
                </a:solidFill>
              </a:rPr>
              <a:t>  Wait for the success message - takes about 30 seconds</a:t>
            </a:r>
          </a:p>
          <a:p>
            <a:pPr algn="l">
              <a:spcAft>
                <a:spcPts val="1000"/>
              </a:spcAft>
            </a:pPr>
            <a:r>
              <a:rPr sz="1700">
                <a:solidFill>
                  <a:srgbClr val="CCCCCC"/>
                </a:solidFill>
              </a:rPr>
              <a:t>  The native installer needs no Node.js or npm</a:t>
            </a:r>
          </a:p>
          <a:p>
            <a:pPr algn="l">
              <a:spcAft>
                <a:spcPts val="1000"/>
              </a:spcAft>
            </a:pPr>
            <a:r>
              <a:rPr sz="1700">
                <a:solidFill>
                  <a:srgbClr val="CCCCCC"/>
                </a:solidFill>
              </a:rPr>
              <a:t>  Updates happen automatically in the background</a:t>
            </a:r>
          </a:p>
          <a:p>
            <a:pPr algn="l">
              <a:spcAft>
                <a:spcPts val="1000"/>
              </a:spcAft>
            </a:pPr>
            <a:r>
              <a:rPr sz="1700">
                <a:solidFill>
                  <a:srgbClr val="CCCCCC"/>
                </a:solidFill>
              </a:rPr>
              <a:t>  Homebrew alternative: brew install --cask claude-code</a:t>
            </a:r>
          </a:p>
        </p:txBody>
      </p:sp>
      <p:sp>
        <p:nvSpPr>
          <p:cNvPr id="7" name="Rectangle 6"/>
          <p:cNvSpPr/>
          <p:nvPr/>
        </p:nvSpPr>
        <p:spPr>
          <a:xfrm>
            <a:off x="7772400" y="1920240"/>
            <a:ext cx="4023360" cy="3474720"/>
          </a:xfrm>
          <a:prstGeom prst="rect">
            <a:avLst/>
          </a:prstGeom>
          <a:solidFill>
            <a:srgbClr val="0A0A0A"/>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2057400"/>
            <a:ext cx="3749039" cy="3200400"/>
          </a:xfrm>
          <a:prstGeom prst="rect">
            <a:avLst/>
          </a:prstGeom>
          <a:noFill/>
        </p:spPr>
        <p:txBody>
          <a:bodyPr wrap="square">
            <a:spAutoFit/>
          </a:bodyPr>
          <a:lstStyle/>
          <a:p>
            <a:pPr algn="l"/>
            <a:r>
              <a:rPr sz="1300" b="0">
                <a:solidFill>
                  <a:srgbClr val="D47A21"/>
                </a:solidFill>
              </a:rPr>
              <a:t># Mac / Linux / WSL
curl -fsSL \
  https://claude.ai/install.sh \
  | bash
# Homebrew (manual updates)
brew install --cask claude-code
# Verify
claude --version</a:t>
            </a:r>
          </a:p>
        </p:txBody>
      </p:sp>
      <p:sp>
        <p:nvSpPr>
          <p:cNvPr id="9" name="TextBox 8"/>
          <p:cNvSpPr txBox="1"/>
          <p:nvPr/>
        </p:nvSpPr>
        <p:spPr>
          <a:xfrm>
            <a:off x="548640" y="6126480"/>
            <a:ext cx="11430000" cy="548640"/>
          </a:xfrm>
          <a:prstGeom prst="rect">
            <a:avLst/>
          </a:prstGeom>
          <a:noFill/>
        </p:spPr>
        <p:txBody>
          <a:bodyPr wrap="square">
            <a:spAutoFit/>
          </a:bodyPr>
          <a:lstStyle/>
          <a:p>
            <a:pPr algn="l"/>
            <a:r>
              <a:rPr sz="1600" b="1">
                <a:solidFill>
                  <a:srgbClr val="D47A21"/>
                </a:solidFill>
              </a:rPr>
              <a:t>this single command replaces a half-hour setup wizard - one line, done.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1  -  INSTALL</a:t>
            </a:r>
          </a:p>
        </p:txBody>
      </p:sp>
      <p:sp>
        <p:nvSpPr>
          <p:cNvPr id="4" name="TextBox 3"/>
          <p:cNvSpPr txBox="1"/>
          <p:nvPr/>
        </p:nvSpPr>
        <p:spPr>
          <a:xfrm>
            <a:off x="548640" y="914400"/>
            <a:ext cx="6858000" cy="914400"/>
          </a:xfrm>
          <a:prstGeom prst="rect">
            <a:avLst/>
          </a:prstGeom>
          <a:noFill/>
        </p:spPr>
        <p:txBody>
          <a:bodyPr wrap="square">
            <a:spAutoFit/>
          </a:bodyPr>
          <a:lstStyle/>
          <a:p>
            <a:pPr algn="l"/>
            <a:r>
              <a:rPr sz="3400" b="1">
                <a:solidFill>
                  <a:srgbClr val="FFFFFF"/>
                </a:solidFill>
              </a:rPr>
              <a:t>Windows: Three Steps in PowerShell</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03120"/>
            <a:ext cx="6858000" cy="3657600"/>
          </a:xfrm>
          <a:prstGeom prst="rect">
            <a:avLst/>
          </a:prstGeom>
          <a:noFill/>
        </p:spPr>
        <p:txBody>
          <a:bodyPr wrap="square">
            <a:spAutoFit/>
          </a:bodyPr>
          <a:lstStyle/>
          <a:p>
            <a:pPr algn="l">
              <a:spcAft>
                <a:spcPts val="1000"/>
              </a:spcAft>
            </a:pPr>
            <a:r>
              <a:rPr sz="1600">
                <a:solidFill>
                  <a:srgbClr val="CCCCCC"/>
                </a:solidFill>
              </a:rPr>
              <a:t>  Open PowerShell (Win+S, type PowerShell). Pick the entry without (x86).</a:t>
            </a:r>
          </a:p>
          <a:p>
            <a:pPr algn="l">
              <a:spcAft>
                <a:spcPts val="1000"/>
              </a:spcAft>
            </a:pPr>
            <a:r>
              <a:rPr sz="1600">
                <a:solidFill>
                  <a:srgbClr val="CCCCCC"/>
                </a:solidFill>
              </a:rPr>
              <a:t>    No need to run as Administrator.</a:t>
            </a:r>
          </a:p>
          <a:p>
            <a:pPr algn="l">
              <a:spcAft>
                <a:spcPts val="1000"/>
              </a:spcAft>
            </a:pPr>
            <a:r>
              <a:rPr sz="1600">
                <a:solidFill>
                  <a:srgbClr val="CCCCCC"/>
                </a:solidFill>
              </a:rPr>
              <a:t>  Step 1: Paste the irm command shown right. Wait for success.</a:t>
            </a:r>
          </a:p>
          <a:p>
            <a:pPr algn="l">
              <a:spcAft>
                <a:spcPts val="1000"/>
              </a:spcAft>
            </a:pPr>
            <a:r>
              <a:rPr sz="1600">
                <a:solidFill>
                  <a:srgbClr val="CCCCCC"/>
                </a:solidFill>
              </a:rPr>
              <a:t>  Step 2: In the same window, paste the SetEnvironmentVariable line</a:t>
            </a:r>
          </a:p>
          <a:p>
            <a:pPr algn="l">
              <a:spcAft>
                <a:spcPts val="1000"/>
              </a:spcAft>
            </a:pPr>
            <a:r>
              <a:rPr sz="1600">
                <a:solidFill>
                  <a:srgbClr val="CCCCCC"/>
                </a:solidFill>
              </a:rPr>
              <a:t>    to add Claude to your User PATH.</a:t>
            </a:r>
          </a:p>
          <a:p>
            <a:pPr algn="l">
              <a:spcAft>
                <a:spcPts val="1000"/>
              </a:spcAft>
            </a:pPr>
            <a:r>
              <a:rPr sz="1600">
                <a:solidFill>
                  <a:srgbClr val="CCCCCC"/>
                </a:solidFill>
              </a:rPr>
              <a:t>  Step 3: Close PowerShell. Open a fresh one. Run claude --help.</a:t>
            </a:r>
          </a:p>
        </p:txBody>
      </p:sp>
      <p:sp>
        <p:nvSpPr>
          <p:cNvPr id="7" name="Rectangle 6"/>
          <p:cNvSpPr/>
          <p:nvPr/>
        </p:nvSpPr>
        <p:spPr>
          <a:xfrm>
            <a:off x="7772400" y="1920240"/>
            <a:ext cx="4023360" cy="3840480"/>
          </a:xfrm>
          <a:prstGeom prst="rect">
            <a:avLst/>
          </a:prstGeom>
          <a:solidFill>
            <a:srgbClr val="0A0A0A"/>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2057400"/>
            <a:ext cx="3749039" cy="3566160"/>
          </a:xfrm>
          <a:prstGeom prst="rect">
            <a:avLst/>
          </a:prstGeom>
          <a:noFill/>
        </p:spPr>
        <p:txBody>
          <a:bodyPr wrap="square">
            <a:spAutoFit/>
          </a:bodyPr>
          <a:lstStyle/>
          <a:p>
            <a:pPr algn="l"/>
            <a:r>
              <a:rPr sz="1100" b="0">
                <a:solidFill>
                  <a:srgbClr val="D47A21"/>
                </a:solidFill>
              </a:rPr>
              <a:t># Step 1: install
irm https://claude.ai/install.ps1 `
  | iex
# Step 2: add to PATH
[Environment]::
SetEnvironmentVariable("PATH",
  [Environment]::
  GetEnvironmentVariable(
    "PATH", "User")
  + ";$HOME\.local\bin",
  "User")
# Step 3: new PowerShell
claude --help</a:t>
            </a:r>
          </a:p>
        </p:txBody>
      </p:sp>
      <p:sp>
        <p:nvSpPr>
          <p:cNvPr id="9" name="TextBox 8"/>
          <p:cNvSpPr txBox="1"/>
          <p:nvPr/>
        </p:nvSpPr>
        <p:spPr>
          <a:xfrm>
            <a:off x="548640" y="6126480"/>
            <a:ext cx="11430000" cy="548640"/>
          </a:xfrm>
          <a:prstGeom prst="rect">
            <a:avLst/>
          </a:prstGeom>
          <a:noFill/>
        </p:spPr>
        <p:txBody>
          <a:bodyPr wrap="square">
            <a:spAutoFit/>
          </a:bodyPr>
          <a:lstStyle/>
          <a:p>
            <a:pPr algn="l"/>
            <a:r>
              <a:rPr sz="1500" b="1">
                <a:solidFill>
                  <a:srgbClr val="D47A21"/>
                </a:solidFill>
              </a:rPr>
              <a:t>Git for Windows is optional - PowerShell-only is enough for the workshop.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1  -  INSTALL</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400" b="1">
                <a:solidFill>
                  <a:srgbClr val="FFFFFF"/>
                </a:solidFill>
              </a:rPr>
              <a:t>Five Errors You Will See - and Fixes</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11064240" cy="65836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194560"/>
            <a:ext cx="457200" cy="502920"/>
          </a:xfrm>
          <a:prstGeom prst="rect">
            <a:avLst/>
          </a:prstGeom>
          <a:noFill/>
        </p:spPr>
        <p:txBody>
          <a:bodyPr wrap="square">
            <a:spAutoFit/>
          </a:bodyPr>
          <a:lstStyle/>
          <a:p>
            <a:pPr algn="l"/>
            <a:r>
              <a:rPr sz="2000" b="1">
                <a:solidFill>
                  <a:srgbClr val="D47A21"/>
                </a:solidFill>
              </a:rPr>
              <a:t>1</a:t>
            </a:r>
          </a:p>
        </p:txBody>
      </p:sp>
      <p:sp>
        <p:nvSpPr>
          <p:cNvPr id="8" name="TextBox 7"/>
          <p:cNvSpPr txBox="1"/>
          <p:nvPr/>
        </p:nvSpPr>
        <p:spPr>
          <a:xfrm>
            <a:off x="1280160" y="2148840"/>
            <a:ext cx="4114800" cy="365760"/>
          </a:xfrm>
          <a:prstGeom prst="rect">
            <a:avLst/>
          </a:prstGeom>
          <a:noFill/>
        </p:spPr>
        <p:txBody>
          <a:bodyPr wrap="square">
            <a:spAutoFit/>
          </a:bodyPr>
          <a:lstStyle/>
          <a:p>
            <a:pPr algn="l"/>
            <a:r>
              <a:rPr sz="1400" b="1">
                <a:solidFill>
                  <a:srgbClr val="FFFFFF"/>
                </a:solidFill>
              </a:rPr>
              <a:t>claude: command not found</a:t>
            </a:r>
          </a:p>
        </p:txBody>
      </p:sp>
      <p:sp>
        <p:nvSpPr>
          <p:cNvPr id="9" name="TextBox 8"/>
          <p:cNvSpPr txBox="1"/>
          <p:nvPr/>
        </p:nvSpPr>
        <p:spPr>
          <a:xfrm>
            <a:off x="1280160" y="2487168"/>
            <a:ext cx="9601200" cy="320040"/>
          </a:xfrm>
          <a:prstGeom prst="rect">
            <a:avLst/>
          </a:prstGeom>
          <a:noFill/>
        </p:spPr>
        <p:txBody>
          <a:bodyPr wrap="square">
            <a:spAutoFit/>
          </a:bodyPr>
          <a:lstStyle/>
          <a:p>
            <a:pPr algn="l"/>
            <a:r>
              <a:rPr sz="1200" b="0">
                <a:solidFill>
                  <a:srgbClr val="CCCCCC"/>
                </a:solidFill>
              </a:rPr>
              <a:t>Close and reopen terminal. Or add export PATH=$HOME/.local/bin:$PATH to ~/.zshrc</a:t>
            </a:r>
          </a:p>
        </p:txBody>
      </p:sp>
      <p:sp>
        <p:nvSpPr>
          <p:cNvPr id="10" name="Rectangle 9"/>
          <p:cNvSpPr/>
          <p:nvPr/>
        </p:nvSpPr>
        <p:spPr>
          <a:xfrm>
            <a:off x="548640" y="2816352"/>
            <a:ext cx="11064240" cy="65836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907792"/>
            <a:ext cx="457200" cy="502920"/>
          </a:xfrm>
          <a:prstGeom prst="rect">
            <a:avLst/>
          </a:prstGeom>
          <a:noFill/>
        </p:spPr>
        <p:txBody>
          <a:bodyPr wrap="square">
            <a:spAutoFit/>
          </a:bodyPr>
          <a:lstStyle/>
          <a:p>
            <a:pPr algn="l"/>
            <a:r>
              <a:rPr sz="2000" b="1">
                <a:solidFill>
                  <a:srgbClr val="D47A21"/>
                </a:solidFill>
              </a:rPr>
              <a:t>2</a:t>
            </a:r>
          </a:p>
        </p:txBody>
      </p:sp>
      <p:sp>
        <p:nvSpPr>
          <p:cNvPr id="12" name="TextBox 11"/>
          <p:cNvSpPr txBox="1"/>
          <p:nvPr/>
        </p:nvSpPr>
        <p:spPr>
          <a:xfrm>
            <a:off x="1280160" y="2862072"/>
            <a:ext cx="4114800" cy="365760"/>
          </a:xfrm>
          <a:prstGeom prst="rect">
            <a:avLst/>
          </a:prstGeom>
          <a:noFill/>
        </p:spPr>
        <p:txBody>
          <a:bodyPr wrap="square">
            <a:spAutoFit/>
          </a:bodyPr>
          <a:lstStyle/>
          <a:p>
            <a:pPr algn="l"/>
            <a:r>
              <a:rPr sz="1400" b="1">
                <a:solidFill>
                  <a:srgbClr val="FFFFFF"/>
                </a:solidFill>
              </a:rPr>
              <a:t>Browser does not open on login</a:t>
            </a:r>
          </a:p>
        </p:txBody>
      </p:sp>
      <p:sp>
        <p:nvSpPr>
          <p:cNvPr id="13" name="TextBox 12"/>
          <p:cNvSpPr txBox="1"/>
          <p:nvPr/>
        </p:nvSpPr>
        <p:spPr>
          <a:xfrm>
            <a:off x="1280160" y="3200400"/>
            <a:ext cx="9601200" cy="320040"/>
          </a:xfrm>
          <a:prstGeom prst="rect">
            <a:avLst/>
          </a:prstGeom>
          <a:noFill/>
        </p:spPr>
        <p:txBody>
          <a:bodyPr wrap="square">
            <a:spAutoFit/>
          </a:bodyPr>
          <a:lstStyle/>
          <a:p>
            <a:pPr algn="l"/>
            <a:r>
              <a:rPr sz="1200" b="0">
                <a:solidFill>
                  <a:srgbClr val="CCCCCC"/>
                </a:solidFill>
              </a:rPr>
              <a:t>Press the letter c in the terminal to copy the login URL, then paste it manually</a:t>
            </a:r>
          </a:p>
        </p:txBody>
      </p:sp>
      <p:sp>
        <p:nvSpPr>
          <p:cNvPr id="14" name="Rectangle 13"/>
          <p:cNvSpPr/>
          <p:nvPr/>
        </p:nvSpPr>
        <p:spPr>
          <a:xfrm>
            <a:off x="548640" y="3529584"/>
            <a:ext cx="11064240" cy="65836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621024"/>
            <a:ext cx="457200" cy="502920"/>
          </a:xfrm>
          <a:prstGeom prst="rect">
            <a:avLst/>
          </a:prstGeom>
          <a:noFill/>
        </p:spPr>
        <p:txBody>
          <a:bodyPr wrap="square">
            <a:spAutoFit/>
          </a:bodyPr>
          <a:lstStyle/>
          <a:p>
            <a:pPr algn="l"/>
            <a:r>
              <a:rPr sz="2000" b="1">
                <a:solidFill>
                  <a:srgbClr val="D47A21"/>
                </a:solidFill>
              </a:rPr>
              <a:t>3</a:t>
            </a:r>
          </a:p>
        </p:txBody>
      </p:sp>
      <p:sp>
        <p:nvSpPr>
          <p:cNvPr id="16" name="TextBox 15"/>
          <p:cNvSpPr txBox="1"/>
          <p:nvPr/>
        </p:nvSpPr>
        <p:spPr>
          <a:xfrm>
            <a:off x="1280160" y="3575304"/>
            <a:ext cx="4114800" cy="365760"/>
          </a:xfrm>
          <a:prstGeom prst="rect">
            <a:avLst/>
          </a:prstGeom>
          <a:noFill/>
        </p:spPr>
        <p:txBody>
          <a:bodyPr wrap="square">
            <a:spAutoFit/>
          </a:bodyPr>
          <a:lstStyle/>
          <a:p>
            <a:pPr algn="l"/>
            <a:r>
              <a:rPr sz="1400" b="1">
                <a:solidFill>
                  <a:srgbClr val="FFFFFF"/>
                </a:solidFill>
              </a:rPr>
              <a:t>Subscription required / auth fails</a:t>
            </a:r>
          </a:p>
        </p:txBody>
      </p:sp>
      <p:sp>
        <p:nvSpPr>
          <p:cNvPr id="17" name="TextBox 16"/>
          <p:cNvSpPr txBox="1"/>
          <p:nvPr/>
        </p:nvSpPr>
        <p:spPr>
          <a:xfrm>
            <a:off x="1280160" y="3913632"/>
            <a:ext cx="9601200" cy="320040"/>
          </a:xfrm>
          <a:prstGeom prst="rect">
            <a:avLst/>
          </a:prstGeom>
          <a:noFill/>
        </p:spPr>
        <p:txBody>
          <a:bodyPr wrap="square">
            <a:spAutoFit/>
          </a:bodyPr>
          <a:lstStyle/>
          <a:p>
            <a:pPr algn="l"/>
            <a:r>
              <a:rPr sz="1200" b="0">
                <a:solidFill>
                  <a:srgbClr val="CCCCCC"/>
                </a:solidFill>
              </a:rPr>
              <a:t>You need Claude Pro, Max, Teams, or Enterprise. The free Claude.ai plan does not include Claude Code</a:t>
            </a:r>
          </a:p>
        </p:txBody>
      </p:sp>
      <p:sp>
        <p:nvSpPr>
          <p:cNvPr id="18" name="Rectangle 17"/>
          <p:cNvSpPr/>
          <p:nvPr/>
        </p:nvSpPr>
        <p:spPr>
          <a:xfrm>
            <a:off x="548640" y="4242816"/>
            <a:ext cx="11064240" cy="65836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334256"/>
            <a:ext cx="457200" cy="502920"/>
          </a:xfrm>
          <a:prstGeom prst="rect">
            <a:avLst/>
          </a:prstGeom>
          <a:noFill/>
        </p:spPr>
        <p:txBody>
          <a:bodyPr wrap="square">
            <a:spAutoFit/>
          </a:bodyPr>
          <a:lstStyle/>
          <a:p>
            <a:pPr algn="l"/>
            <a:r>
              <a:rPr sz="2000" b="1">
                <a:solidFill>
                  <a:srgbClr val="D47A21"/>
                </a:solidFill>
              </a:rPr>
              <a:t>4</a:t>
            </a:r>
          </a:p>
        </p:txBody>
      </p:sp>
      <p:sp>
        <p:nvSpPr>
          <p:cNvPr id="20" name="TextBox 19"/>
          <p:cNvSpPr txBox="1"/>
          <p:nvPr/>
        </p:nvSpPr>
        <p:spPr>
          <a:xfrm>
            <a:off x="1280160" y="4288536"/>
            <a:ext cx="4114800" cy="365760"/>
          </a:xfrm>
          <a:prstGeom prst="rect">
            <a:avLst/>
          </a:prstGeom>
          <a:noFill/>
        </p:spPr>
        <p:txBody>
          <a:bodyPr wrap="square">
            <a:spAutoFit/>
          </a:bodyPr>
          <a:lstStyle/>
          <a:p>
            <a:pPr algn="l"/>
            <a:r>
              <a:rPr sz="1400" b="1">
                <a:solidFill>
                  <a:srgbClr val="FFFFFF"/>
                </a:solidFill>
              </a:rPr>
              <a:t>Git Bash not found (Windows only)</a:t>
            </a:r>
          </a:p>
        </p:txBody>
      </p:sp>
      <p:sp>
        <p:nvSpPr>
          <p:cNvPr id="21" name="TextBox 20"/>
          <p:cNvSpPr txBox="1"/>
          <p:nvPr/>
        </p:nvSpPr>
        <p:spPr>
          <a:xfrm>
            <a:off x="1280160" y="4626864"/>
            <a:ext cx="9601200" cy="320040"/>
          </a:xfrm>
          <a:prstGeom prst="rect">
            <a:avLst/>
          </a:prstGeom>
          <a:noFill/>
        </p:spPr>
        <p:txBody>
          <a:bodyPr wrap="square">
            <a:spAutoFit/>
          </a:bodyPr>
          <a:lstStyle/>
          <a:p>
            <a:pPr algn="l"/>
            <a:r>
              <a:rPr sz="1200" b="0">
                <a:solidFill>
                  <a:srgbClr val="CCCCCC"/>
                </a:solidFill>
              </a:rPr>
              <a:t>Install Git for Windows from git-scm.com/downloads/win - Claude Code needs it on native Windows</a:t>
            </a:r>
          </a:p>
        </p:txBody>
      </p:sp>
      <p:sp>
        <p:nvSpPr>
          <p:cNvPr id="22" name="Rectangle 21"/>
          <p:cNvSpPr/>
          <p:nvPr/>
        </p:nvSpPr>
        <p:spPr>
          <a:xfrm>
            <a:off x="548640" y="4956048"/>
            <a:ext cx="11064240" cy="65836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047488"/>
            <a:ext cx="457200" cy="502920"/>
          </a:xfrm>
          <a:prstGeom prst="rect">
            <a:avLst/>
          </a:prstGeom>
          <a:noFill/>
        </p:spPr>
        <p:txBody>
          <a:bodyPr wrap="square">
            <a:spAutoFit/>
          </a:bodyPr>
          <a:lstStyle/>
          <a:p>
            <a:pPr algn="l"/>
            <a:r>
              <a:rPr sz="2000" b="1">
                <a:solidFill>
                  <a:srgbClr val="D47A21"/>
                </a:solidFill>
              </a:rPr>
              <a:t>5</a:t>
            </a:r>
          </a:p>
        </p:txBody>
      </p:sp>
      <p:sp>
        <p:nvSpPr>
          <p:cNvPr id="24" name="TextBox 23"/>
          <p:cNvSpPr txBox="1"/>
          <p:nvPr/>
        </p:nvSpPr>
        <p:spPr>
          <a:xfrm>
            <a:off x="1280160" y="5001768"/>
            <a:ext cx="4114800" cy="365760"/>
          </a:xfrm>
          <a:prstGeom prst="rect">
            <a:avLst/>
          </a:prstGeom>
          <a:noFill/>
        </p:spPr>
        <p:txBody>
          <a:bodyPr wrap="square">
            <a:spAutoFit/>
          </a:bodyPr>
          <a:lstStyle/>
          <a:p>
            <a:pPr algn="l"/>
            <a:r>
              <a:rPr sz="1400" b="1">
                <a:solidFill>
                  <a:srgbClr val="FFFFFF"/>
                </a:solidFill>
              </a:rPr>
              <a:t>PowerShell execution policy error</a:t>
            </a:r>
          </a:p>
        </p:txBody>
      </p:sp>
      <p:sp>
        <p:nvSpPr>
          <p:cNvPr id="25" name="TextBox 24"/>
          <p:cNvSpPr txBox="1"/>
          <p:nvPr/>
        </p:nvSpPr>
        <p:spPr>
          <a:xfrm>
            <a:off x="1280160" y="5340096"/>
            <a:ext cx="9601200" cy="320040"/>
          </a:xfrm>
          <a:prstGeom prst="rect">
            <a:avLst/>
          </a:prstGeom>
          <a:noFill/>
        </p:spPr>
        <p:txBody>
          <a:bodyPr wrap="square">
            <a:spAutoFit/>
          </a:bodyPr>
          <a:lstStyle/>
          <a:p>
            <a:pPr algn="l"/>
            <a:r>
              <a:rPr sz="1200" b="0">
                <a:solidFill>
                  <a:srgbClr val="CCCCCC"/>
                </a:solidFill>
              </a:rPr>
              <a:t>Run: Set-ExecutionPolicy -Scope CurrentUser -ExecutionPolicy RemoteSigned, then retry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2  -  FIRST LAUNCH</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600" b="1">
                <a:solidFill>
                  <a:srgbClr val="FFFFFF"/>
                </a:solidFill>
              </a:rPr>
              <a:t>Login Flow: Three Steps in 60 Seconds</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057400"/>
            <a:ext cx="11064240" cy="69494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148840"/>
            <a:ext cx="457200" cy="548640"/>
          </a:xfrm>
          <a:prstGeom prst="rect">
            <a:avLst/>
          </a:prstGeom>
          <a:noFill/>
        </p:spPr>
        <p:txBody>
          <a:bodyPr wrap="square">
            <a:spAutoFit/>
          </a:bodyPr>
          <a:lstStyle/>
          <a:p>
            <a:pPr algn="l"/>
            <a:r>
              <a:rPr sz="2000" b="1">
                <a:solidFill>
                  <a:srgbClr val="D47A21"/>
                </a:solidFill>
              </a:rPr>
              <a:t>1</a:t>
            </a:r>
          </a:p>
        </p:txBody>
      </p:sp>
      <p:sp>
        <p:nvSpPr>
          <p:cNvPr id="8" name="TextBox 7"/>
          <p:cNvSpPr txBox="1"/>
          <p:nvPr/>
        </p:nvSpPr>
        <p:spPr>
          <a:xfrm>
            <a:off x="1280160" y="2103120"/>
            <a:ext cx="4114800" cy="365760"/>
          </a:xfrm>
          <a:prstGeom prst="rect">
            <a:avLst/>
          </a:prstGeom>
          <a:noFill/>
        </p:spPr>
        <p:txBody>
          <a:bodyPr wrap="square">
            <a:spAutoFit/>
          </a:bodyPr>
          <a:lstStyle/>
          <a:p>
            <a:pPr algn="l"/>
            <a:r>
              <a:rPr sz="1400" b="1">
                <a:solidFill>
                  <a:srgbClr val="FFFFFF"/>
                </a:solidFill>
              </a:rPr>
              <a:t>Run claude in your terminal</a:t>
            </a:r>
          </a:p>
        </p:txBody>
      </p:sp>
      <p:sp>
        <p:nvSpPr>
          <p:cNvPr id="9" name="TextBox 8"/>
          <p:cNvSpPr txBox="1"/>
          <p:nvPr/>
        </p:nvSpPr>
        <p:spPr>
          <a:xfrm>
            <a:off x="1280160" y="2441448"/>
            <a:ext cx="9601200" cy="347472"/>
          </a:xfrm>
          <a:prstGeom prst="rect">
            <a:avLst/>
          </a:prstGeom>
          <a:noFill/>
        </p:spPr>
        <p:txBody>
          <a:bodyPr wrap="square">
            <a:spAutoFit/>
          </a:bodyPr>
          <a:lstStyle/>
          <a:p>
            <a:pPr algn="l"/>
            <a:r>
              <a:rPr sz="1200" b="0">
                <a:solidFill>
                  <a:srgbClr val="CCCCCC"/>
                </a:solidFill>
              </a:rPr>
              <a:t>You will see a welcome screen. It prompts you to log in.</a:t>
            </a:r>
          </a:p>
        </p:txBody>
      </p:sp>
      <p:sp>
        <p:nvSpPr>
          <p:cNvPr id="10" name="Rectangle 9"/>
          <p:cNvSpPr/>
          <p:nvPr/>
        </p:nvSpPr>
        <p:spPr>
          <a:xfrm>
            <a:off x="548640" y="2807208"/>
            <a:ext cx="11064240" cy="69494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898648"/>
            <a:ext cx="457200" cy="548640"/>
          </a:xfrm>
          <a:prstGeom prst="rect">
            <a:avLst/>
          </a:prstGeom>
          <a:noFill/>
        </p:spPr>
        <p:txBody>
          <a:bodyPr wrap="square">
            <a:spAutoFit/>
          </a:bodyPr>
          <a:lstStyle/>
          <a:p>
            <a:pPr algn="l"/>
            <a:r>
              <a:rPr sz="2000" b="1">
                <a:solidFill>
                  <a:srgbClr val="D47A21"/>
                </a:solidFill>
              </a:rPr>
              <a:t>2</a:t>
            </a:r>
          </a:p>
        </p:txBody>
      </p:sp>
      <p:sp>
        <p:nvSpPr>
          <p:cNvPr id="12" name="TextBox 11"/>
          <p:cNvSpPr txBox="1"/>
          <p:nvPr/>
        </p:nvSpPr>
        <p:spPr>
          <a:xfrm>
            <a:off x="1280160" y="2852928"/>
            <a:ext cx="4114800" cy="365760"/>
          </a:xfrm>
          <a:prstGeom prst="rect">
            <a:avLst/>
          </a:prstGeom>
          <a:noFill/>
        </p:spPr>
        <p:txBody>
          <a:bodyPr wrap="square">
            <a:spAutoFit/>
          </a:bodyPr>
          <a:lstStyle/>
          <a:p>
            <a:pPr algn="l"/>
            <a:r>
              <a:rPr sz="1400" b="1">
                <a:solidFill>
                  <a:srgbClr val="FFFFFF"/>
                </a:solidFill>
              </a:rPr>
              <a:t>Select 'Claude account with subscription'</a:t>
            </a:r>
          </a:p>
        </p:txBody>
      </p:sp>
      <p:sp>
        <p:nvSpPr>
          <p:cNvPr id="13" name="TextBox 12"/>
          <p:cNvSpPr txBox="1"/>
          <p:nvPr/>
        </p:nvSpPr>
        <p:spPr>
          <a:xfrm>
            <a:off x="1280160" y="3191256"/>
            <a:ext cx="9601200" cy="347472"/>
          </a:xfrm>
          <a:prstGeom prst="rect">
            <a:avLst/>
          </a:prstGeom>
          <a:noFill/>
        </p:spPr>
        <p:txBody>
          <a:bodyPr wrap="square">
            <a:spAutoFit/>
          </a:bodyPr>
          <a:lstStyle/>
          <a:p>
            <a:pPr algn="l"/>
            <a:r>
              <a:rPr sz="1200" b="0">
                <a:solidFill>
                  <a:srgbClr val="CCCCCC"/>
                </a:solidFill>
              </a:rPr>
              <a:t>Not the API key option. OAuth (open auth) - a browser-based login - is simpler and what most people want.</a:t>
            </a:r>
          </a:p>
        </p:txBody>
      </p:sp>
      <p:sp>
        <p:nvSpPr>
          <p:cNvPr id="14" name="Rectangle 13"/>
          <p:cNvSpPr/>
          <p:nvPr/>
        </p:nvSpPr>
        <p:spPr>
          <a:xfrm>
            <a:off x="548640" y="3557016"/>
            <a:ext cx="11064240" cy="69494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648456"/>
            <a:ext cx="457200" cy="548640"/>
          </a:xfrm>
          <a:prstGeom prst="rect">
            <a:avLst/>
          </a:prstGeom>
          <a:noFill/>
        </p:spPr>
        <p:txBody>
          <a:bodyPr wrap="square">
            <a:spAutoFit/>
          </a:bodyPr>
          <a:lstStyle/>
          <a:p>
            <a:pPr algn="l"/>
            <a:r>
              <a:rPr sz="2000" b="1">
                <a:solidFill>
                  <a:srgbClr val="D47A21"/>
                </a:solidFill>
              </a:rPr>
              <a:t>3</a:t>
            </a:r>
          </a:p>
        </p:txBody>
      </p:sp>
      <p:sp>
        <p:nvSpPr>
          <p:cNvPr id="16" name="TextBox 15"/>
          <p:cNvSpPr txBox="1"/>
          <p:nvPr/>
        </p:nvSpPr>
        <p:spPr>
          <a:xfrm>
            <a:off x="1280160" y="3602736"/>
            <a:ext cx="4114800" cy="365760"/>
          </a:xfrm>
          <a:prstGeom prst="rect">
            <a:avLst/>
          </a:prstGeom>
          <a:noFill/>
        </p:spPr>
        <p:txBody>
          <a:bodyPr wrap="square">
            <a:spAutoFit/>
          </a:bodyPr>
          <a:lstStyle/>
          <a:p>
            <a:pPr algn="l"/>
            <a:r>
              <a:rPr sz="1400" b="1">
                <a:solidFill>
                  <a:srgbClr val="FFFFFF"/>
                </a:solidFill>
              </a:rPr>
              <a:t>Browser opens. Log in with your Claude.ai account.</a:t>
            </a:r>
          </a:p>
        </p:txBody>
      </p:sp>
      <p:sp>
        <p:nvSpPr>
          <p:cNvPr id="17" name="TextBox 16"/>
          <p:cNvSpPr txBox="1"/>
          <p:nvPr/>
        </p:nvSpPr>
        <p:spPr>
          <a:xfrm>
            <a:off x="1280160" y="3941064"/>
            <a:ext cx="9601200" cy="347472"/>
          </a:xfrm>
          <a:prstGeom prst="rect">
            <a:avLst/>
          </a:prstGeom>
          <a:noFill/>
        </p:spPr>
        <p:txBody>
          <a:bodyPr wrap="square">
            <a:spAutoFit/>
          </a:bodyPr>
          <a:lstStyle/>
          <a:p>
            <a:pPr algn="l"/>
            <a:r>
              <a:rPr sz="1200" b="0">
                <a:solidFill>
                  <a:srgbClr val="CCCCCC"/>
                </a:solidFill>
              </a:rPr>
              <a:t>If the browser does not open automatically, press the letter c to copy the URL and paste it yourself.</a:t>
            </a:r>
          </a:p>
        </p:txBody>
      </p:sp>
      <p:sp>
        <p:nvSpPr>
          <p:cNvPr id="18" name="Rectangle 17"/>
          <p:cNvSpPr/>
          <p:nvPr/>
        </p:nvSpPr>
        <p:spPr>
          <a:xfrm>
            <a:off x="548640" y="4306824"/>
            <a:ext cx="11064240" cy="69494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398264"/>
            <a:ext cx="457200" cy="548640"/>
          </a:xfrm>
          <a:prstGeom prst="rect">
            <a:avLst/>
          </a:prstGeom>
          <a:noFill/>
        </p:spPr>
        <p:txBody>
          <a:bodyPr wrap="square">
            <a:spAutoFit/>
          </a:bodyPr>
          <a:lstStyle/>
          <a:p>
            <a:pPr algn="l"/>
            <a:r>
              <a:rPr sz="2000" b="1">
                <a:solidFill>
                  <a:srgbClr val="D47A21"/>
                </a:solidFill>
              </a:rPr>
              <a:t>4</a:t>
            </a:r>
          </a:p>
        </p:txBody>
      </p:sp>
      <p:sp>
        <p:nvSpPr>
          <p:cNvPr id="20" name="TextBox 19"/>
          <p:cNvSpPr txBox="1"/>
          <p:nvPr/>
        </p:nvSpPr>
        <p:spPr>
          <a:xfrm>
            <a:off x="1280160" y="4352544"/>
            <a:ext cx="4114800" cy="365760"/>
          </a:xfrm>
          <a:prstGeom prst="rect">
            <a:avLst/>
          </a:prstGeom>
          <a:noFill/>
        </p:spPr>
        <p:txBody>
          <a:bodyPr wrap="square">
            <a:spAutoFit/>
          </a:bodyPr>
          <a:lstStyle/>
          <a:p>
            <a:pPr algn="l"/>
            <a:r>
              <a:rPr sz="1400" b="1">
                <a:solidFill>
                  <a:srgbClr val="FFFFFF"/>
                </a:solidFill>
              </a:rPr>
              <a:t>Return to terminal. Pick a text style.</a:t>
            </a:r>
          </a:p>
        </p:txBody>
      </p:sp>
      <p:sp>
        <p:nvSpPr>
          <p:cNvPr id="21" name="TextBox 20"/>
          <p:cNvSpPr txBox="1"/>
          <p:nvPr/>
        </p:nvSpPr>
        <p:spPr>
          <a:xfrm>
            <a:off x="1280160" y="4690872"/>
            <a:ext cx="9601200" cy="347472"/>
          </a:xfrm>
          <a:prstGeom prst="rect">
            <a:avLst/>
          </a:prstGeom>
          <a:noFill/>
        </p:spPr>
        <p:txBody>
          <a:bodyPr wrap="square">
            <a:spAutoFit/>
          </a:bodyPr>
          <a:lstStyle/>
          <a:p>
            <a:pPr algn="l"/>
            <a:r>
              <a:rPr sz="1200" b="0">
                <a:solidFill>
                  <a:srgbClr val="CCCCCC"/>
                </a:solidFill>
              </a:rPr>
              <a:t>On first launch, Claude asks: light or dark terminal theme. Pick what matches your background.</a:t>
            </a:r>
          </a:p>
        </p:txBody>
      </p:sp>
      <p:sp>
        <p:nvSpPr>
          <p:cNvPr id="22" name="Rectangle 21"/>
          <p:cNvSpPr/>
          <p:nvPr/>
        </p:nvSpPr>
        <p:spPr>
          <a:xfrm>
            <a:off x="548640" y="5056632"/>
            <a:ext cx="11064240" cy="69494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148072"/>
            <a:ext cx="457200" cy="548640"/>
          </a:xfrm>
          <a:prstGeom prst="rect">
            <a:avLst/>
          </a:prstGeom>
          <a:noFill/>
        </p:spPr>
        <p:txBody>
          <a:bodyPr wrap="square">
            <a:spAutoFit/>
          </a:bodyPr>
          <a:lstStyle/>
          <a:p>
            <a:pPr algn="l"/>
            <a:r>
              <a:rPr sz="2000" b="1">
                <a:solidFill>
                  <a:srgbClr val="D47A21"/>
                </a:solidFill>
              </a:rPr>
              <a:t>5</a:t>
            </a:r>
          </a:p>
        </p:txBody>
      </p:sp>
      <p:sp>
        <p:nvSpPr>
          <p:cNvPr id="24" name="TextBox 23"/>
          <p:cNvSpPr txBox="1"/>
          <p:nvPr/>
        </p:nvSpPr>
        <p:spPr>
          <a:xfrm>
            <a:off x="1280160" y="5102352"/>
            <a:ext cx="4114800" cy="365760"/>
          </a:xfrm>
          <a:prstGeom prst="rect">
            <a:avLst/>
          </a:prstGeom>
          <a:noFill/>
        </p:spPr>
        <p:txBody>
          <a:bodyPr wrap="square">
            <a:spAutoFit/>
          </a:bodyPr>
          <a:lstStyle/>
          <a:p>
            <a:pPr algn="l"/>
            <a:r>
              <a:rPr sz="1400" b="1">
                <a:solidFill>
                  <a:srgbClr val="FFFFFF"/>
                </a:solidFill>
              </a:rPr>
              <a:t>You are in. Credentials are saved.</a:t>
            </a:r>
          </a:p>
        </p:txBody>
      </p:sp>
      <p:sp>
        <p:nvSpPr>
          <p:cNvPr id="25" name="TextBox 24"/>
          <p:cNvSpPr txBox="1"/>
          <p:nvPr/>
        </p:nvSpPr>
        <p:spPr>
          <a:xfrm>
            <a:off x="1280160" y="5440680"/>
            <a:ext cx="9601200" cy="347472"/>
          </a:xfrm>
          <a:prstGeom prst="rect">
            <a:avLst/>
          </a:prstGeom>
          <a:noFill/>
        </p:spPr>
        <p:txBody>
          <a:bodyPr wrap="square">
            <a:spAutoFit/>
          </a:bodyPr>
          <a:lstStyle/>
          <a:p>
            <a:pPr algn="l"/>
            <a:r>
              <a:rPr sz="1200" b="0">
                <a:solidFill>
                  <a:srgbClr val="CCCCCC"/>
                </a:solidFill>
              </a:rPr>
              <a:t>You will not log in again unless you run /logout. On Mac, credentials live in the macOS Keychain.</a:t>
            </a:r>
          </a:p>
        </p:txBody>
      </p:sp>
      <p:sp>
        <p:nvSpPr>
          <p:cNvPr id="26" name="TextBox 25"/>
          <p:cNvSpPr txBox="1"/>
          <p:nvPr/>
        </p:nvSpPr>
        <p:spPr>
          <a:xfrm>
            <a:off x="548640" y="6126480"/>
            <a:ext cx="11430000" cy="548640"/>
          </a:xfrm>
          <a:prstGeom prst="rect">
            <a:avLst/>
          </a:prstGeom>
          <a:noFill/>
        </p:spPr>
        <p:txBody>
          <a:bodyPr wrap="square">
            <a:spAutoFit/>
          </a:bodyPr>
          <a:lstStyle/>
          <a:p>
            <a:pPr algn="l"/>
            <a:r>
              <a:rPr sz="1500" b="1">
                <a:solidFill>
                  <a:srgbClr val="D47A21"/>
                </a:solidFill>
              </a:rPr>
              <a:t>OAuth means you never paste an API key - it is the same login flow as signing into Google.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2  -  FIRST LAUNCH</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400" b="1">
                <a:solidFill>
                  <a:srgbClr val="FFFFFF"/>
                </a:solidFill>
              </a:rPr>
              <a:t>Three Ways to Check Your Install Is Healthy</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2103120"/>
            <a:ext cx="3566160" cy="36576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286000"/>
            <a:ext cx="3291840" cy="548640"/>
          </a:xfrm>
          <a:prstGeom prst="rect">
            <a:avLst/>
          </a:prstGeom>
          <a:noFill/>
        </p:spPr>
        <p:txBody>
          <a:bodyPr wrap="square">
            <a:spAutoFit/>
          </a:bodyPr>
          <a:lstStyle/>
          <a:p>
            <a:pPr algn="l"/>
            <a:r>
              <a:rPr sz="1800" b="1">
                <a:solidFill>
                  <a:srgbClr val="D47A21"/>
                </a:solidFill>
              </a:rPr>
              <a:t>claude --version</a:t>
            </a:r>
          </a:p>
        </p:txBody>
      </p:sp>
      <p:sp>
        <p:nvSpPr>
          <p:cNvPr id="8" name="TextBox 7"/>
          <p:cNvSpPr txBox="1"/>
          <p:nvPr/>
        </p:nvSpPr>
        <p:spPr>
          <a:xfrm>
            <a:off x="548640" y="2880360"/>
            <a:ext cx="3291840" cy="457200"/>
          </a:xfrm>
          <a:prstGeom prst="rect">
            <a:avLst/>
          </a:prstGeom>
          <a:noFill/>
        </p:spPr>
        <p:txBody>
          <a:bodyPr wrap="square">
            <a:spAutoFit/>
          </a:bodyPr>
          <a:lstStyle/>
          <a:p>
            <a:pPr algn="l"/>
            <a:r>
              <a:rPr sz="1200" b="1">
                <a:solidFill>
                  <a:srgbClr val="888888"/>
                </a:solidFill>
              </a:rPr>
              <a:t>Run in terminal before starting a session</a:t>
            </a:r>
          </a:p>
        </p:txBody>
      </p:sp>
      <p:sp>
        <p:nvSpPr>
          <p:cNvPr id="9" name="TextBox 8"/>
          <p:cNvSpPr txBox="1"/>
          <p:nvPr/>
        </p:nvSpPr>
        <p:spPr>
          <a:xfrm>
            <a:off x="548640" y="3429000"/>
            <a:ext cx="3291840" cy="2103120"/>
          </a:xfrm>
          <a:prstGeom prst="rect">
            <a:avLst/>
          </a:prstGeom>
          <a:noFill/>
        </p:spPr>
        <p:txBody>
          <a:bodyPr wrap="square">
            <a:spAutoFit/>
          </a:bodyPr>
          <a:lstStyle/>
          <a:p>
            <a:pPr algn="l"/>
            <a:r>
              <a:rPr sz="1400" b="0">
                <a:solidFill>
                  <a:srgbClr val="CCCCCC"/>
                </a:solidFill>
              </a:rPr>
              <a:t>Prints the installed version number. If you see 'command not found', your PATH needs updating.</a:t>
            </a:r>
          </a:p>
        </p:txBody>
      </p:sp>
      <p:sp>
        <p:nvSpPr>
          <p:cNvPr id="10" name="Rectangle 9"/>
          <p:cNvSpPr/>
          <p:nvPr/>
        </p:nvSpPr>
        <p:spPr>
          <a:xfrm>
            <a:off x="4114800" y="2103120"/>
            <a:ext cx="3566160" cy="36576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2286000"/>
            <a:ext cx="3291840" cy="548640"/>
          </a:xfrm>
          <a:prstGeom prst="rect">
            <a:avLst/>
          </a:prstGeom>
          <a:noFill/>
        </p:spPr>
        <p:txBody>
          <a:bodyPr wrap="square">
            <a:spAutoFit/>
          </a:bodyPr>
          <a:lstStyle/>
          <a:p>
            <a:pPr algn="l"/>
            <a:r>
              <a:rPr sz="1800" b="1">
                <a:solidFill>
                  <a:srgbClr val="D47A21"/>
                </a:solidFill>
              </a:rPr>
              <a:t>claude doctor</a:t>
            </a:r>
          </a:p>
        </p:txBody>
      </p:sp>
      <p:sp>
        <p:nvSpPr>
          <p:cNvPr id="12" name="TextBox 11"/>
          <p:cNvSpPr txBox="1"/>
          <p:nvPr/>
        </p:nvSpPr>
        <p:spPr>
          <a:xfrm>
            <a:off x="4297680" y="2880360"/>
            <a:ext cx="3291840" cy="457200"/>
          </a:xfrm>
          <a:prstGeom prst="rect">
            <a:avLst/>
          </a:prstGeom>
          <a:noFill/>
        </p:spPr>
        <p:txBody>
          <a:bodyPr wrap="square">
            <a:spAutoFit/>
          </a:bodyPr>
          <a:lstStyle/>
          <a:p>
            <a:pPr algn="l"/>
            <a:r>
              <a:rPr sz="1200" b="1">
                <a:solidFill>
                  <a:srgbClr val="888888"/>
                </a:solidFill>
              </a:rPr>
              <a:t>Run in terminal before starting a session</a:t>
            </a:r>
          </a:p>
        </p:txBody>
      </p:sp>
      <p:sp>
        <p:nvSpPr>
          <p:cNvPr id="13" name="TextBox 12"/>
          <p:cNvSpPr txBox="1"/>
          <p:nvPr/>
        </p:nvSpPr>
        <p:spPr>
          <a:xfrm>
            <a:off x="4297680" y="3429000"/>
            <a:ext cx="3291840" cy="2103120"/>
          </a:xfrm>
          <a:prstGeom prst="rect">
            <a:avLst/>
          </a:prstGeom>
          <a:noFill/>
        </p:spPr>
        <p:txBody>
          <a:bodyPr wrap="square">
            <a:spAutoFit/>
          </a:bodyPr>
          <a:lstStyle/>
          <a:p>
            <a:pPr algn="l"/>
            <a:r>
              <a:rPr sz="1400" b="0">
                <a:solidFill>
                  <a:srgbClr val="CCCCCC"/>
                </a:solidFill>
              </a:rPr>
              <a:t>Runs full diagnostics. Checks install, subscription status, network connectivity, and system config. If something is wrong, it tells you what and why.</a:t>
            </a:r>
          </a:p>
        </p:txBody>
      </p:sp>
      <p:sp>
        <p:nvSpPr>
          <p:cNvPr id="14" name="Rectangle 13"/>
          <p:cNvSpPr/>
          <p:nvPr/>
        </p:nvSpPr>
        <p:spPr>
          <a:xfrm>
            <a:off x="7863840" y="2103120"/>
            <a:ext cx="3566160" cy="36576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2286000"/>
            <a:ext cx="3291840" cy="548640"/>
          </a:xfrm>
          <a:prstGeom prst="rect">
            <a:avLst/>
          </a:prstGeom>
          <a:noFill/>
        </p:spPr>
        <p:txBody>
          <a:bodyPr wrap="square">
            <a:spAutoFit/>
          </a:bodyPr>
          <a:lstStyle/>
          <a:p>
            <a:pPr algn="l"/>
            <a:r>
              <a:rPr sz="1800" b="1">
                <a:solidFill>
                  <a:srgbClr val="D47A21"/>
                </a:solidFill>
              </a:rPr>
              <a:t>/doctor</a:t>
            </a:r>
          </a:p>
        </p:txBody>
      </p:sp>
      <p:sp>
        <p:nvSpPr>
          <p:cNvPr id="16" name="TextBox 15"/>
          <p:cNvSpPr txBox="1"/>
          <p:nvPr/>
        </p:nvSpPr>
        <p:spPr>
          <a:xfrm>
            <a:off x="8046720" y="2880360"/>
            <a:ext cx="3291840" cy="457200"/>
          </a:xfrm>
          <a:prstGeom prst="rect">
            <a:avLst/>
          </a:prstGeom>
          <a:noFill/>
        </p:spPr>
        <p:txBody>
          <a:bodyPr wrap="square">
            <a:spAutoFit/>
          </a:bodyPr>
          <a:lstStyle/>
          <a:p>
            <a:pPr algn="l"/>
            <a:r>
              <a:rPr sz="1200" b="1">
                <a:solidFill>
                  <a:srgbClr val="888888"/>
                </a:solidFill>
              </a:rPr>
              <a:t>Run inside an active Claude session</a:t>
            </a:r>
          </a:p>
        </p:txBody>
      </p:sp>
      <p:sp>
        <p:nvSpPr>
          <p:cNvPr id="17" name="TextBox 16"/>
          <p:cNvSpPr txBox="1"/>
          <p:nvPr/>
        </p:nvSpPr>
        <p:spPr>
          <a:xfrm>
            <a:off x="8046720" y="3429000"/>
            <a:ext cx="3291840" cy="2103120"/>
          </a:xfrm>
          <a:prstGeom prst="rect">
            <a:avLst/>
          </a:prstGeom>
          <a:noFill/>
        </p:spPr>
        <p:txBody>
          <a:bodyPr wrap="square">
            <a:spAutoFit/>
          </a:bodyPr>
          <a:lstStyle/>
          <a:p>
            <a:pPr algn="l"/>
            <a:r>
              <a:rPr sz="1400" b="0">
                <a:solidFill>
                  <a:srgbClr val="CCCCCC"/>
                </a:solidFill>
              </a:rPr>
              <a:t>Same diagnostics as claude doctor but runs from within the interactive session (REPL). Use it to re-check status after logging in.</a:t>
            </a:r>
          </a:p>
        </p:txBody>
      </p:sp>
      <p:sp>
        <p:nvSpPr>
          <p:cNvPr id="18" name="TextBox 17"/>
          <p:cNvSpPr txBox="1"/>
          <p:nvPr/>
        </p:nvSpPr>
        <p:spPr>
          <a:xfrm>
            <a:off x="548640" y="6126480"/>
            <a:ext cx="11430000" cy="548640"/>
          </a:xfrm>
          <a:prstGeom prst="rect">
            <a:avLst/>
          </a:prstGeom>
          <a:noFill/>
        </p:spPr>
        <p:txBody>
          <a:bodyPr wrap="square">
            <a:spAutoFit/>
          </a:bodyPr>
          <a:lstStyle/>
          <a:p>
            <a:pPr algn="l"/>
            <a:r>
              <a:rPr sz="1500" b="1">
                <a:solidFill>
                  <a:srgbClr val="D47A21"/>
                </a:solidFill>
              </a:rPr>
              <a:t>run claude doctor whenever something feels off - it is the health check that tells you exactly what to fix.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3  -  CORE COMMANDS</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600" b="1">
                <a:solidFill>
                  <a:srgbClr val="FFFFFF"/>
                </a:solidFill>
              </a:rPr>
              <a:t>Four Commands Every Session Uses</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057400"/>
            <a:ext cx="11064240" cy="7680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148840"/>
            <a:ext cx="1188720" cy="594360"/>
          </a:xfrm>
          <a:prstGeom prst="rect">
            <a:avLst/>
          </a:prstGeom>
          <a:noFill/>
        </p:spPr>
        <p:txBody>
          <a:bodyPr wrap="square">
            <a:spAutoFit/>
          </a:bodyPr>
          <a:lstStyle/>
          <a:p>
            <a:pPr algn="l"/>
            <a:r>
              <a:rPr sz="1600" b="1">
                <a:solidFill>
                  <a:srgbClr val="D47A21"/>
                </a:solidFill>
              </a:rPr>
              <a:t>/help</a:t>
            </a:r>
          </a:p>
        </p:txBody>
      </p:sp>
      <p:sp>
        <p:nvSpPr>
          <p:cNvPr id="8" name="TextBox 7"/>
          <p:cNvSpPr txBox="1"/>
          <p:nvPr/>
        </p:nvSpPr>
        <p:spPr>
          <a:xfrm>
            <a:off x="2011680" y="2121408"/>
            <a:ext cx="4572000" cy="384048"/>
          </a:xfrm>
          <a:prstGeom prst="rect">
            <a:avLst/>
          </a:prstGeom>
          <a:noFill/>
        </p:spPr>
        <p:txBody>
          <a:bodyPr wrap="square">
            <a:spAutoFit/>
          </a:bodyPr>
          <a:lstStyle/>
          <a:p>
            <a:pPr algn="l"/>
            <a:r>
              <a:rPr sz="1400" b="1">
                <a:solidFill>
                  <a:srgbClr val="FFFFFF"/>
                </a:solidFill>
              </a:rPr>
              <a:t>Show all available commands and slash commands</a:t>
            </a:r>
          </a:p>
        </p:txBody>
      </p:sp>
      <p:sp>
        <p:nvSpPr>
          <p:cNvPr id="9" name="TextBox 8"/>
          <p:cNvSpPr txBox="1"/>
          <p:nvPr/>
        </p:nvSpPr>
        <p:spPr>
          <a:xfrm>
            <a:off x="2011680" y="2496312"/>
            <a:ext cx="9144000" cy="384048"/>
          </a:xfrm>
          <a:prstGeom prst="rect">
            <a:avLst/>
          </a:prstGeom>
          <a:noFill/>
        </p:spPr>
        <p:txBody>
          <a:bodyPr wrap="square">
            <a:spAutoFit/>
          </a:bodyPr>
          <a:lstStyle/>
          <a:p>
            <a:pPr algn="l"/>
            <a:r>
              <a:rPr sz="1200" b="0">
                <a:solidFill>
                  <a:srgbClr val="CCCCCC"/>
                </a:solidFill>
              </a:rPr>
              <a:t>Type this any time you are inside a Claude session. Lists every command, including skills you have installed.</a:t>
            </a:r>
          </a:p>
        </p:txBody>
      </p:sp>
      <p:sp>
        <p:nvSpPr>
          <p:cNvPr id="10" name="Rectangle 9"/>
          <p:cNvSpPr/>
          <p:nvPr/>
        </p:nvSpPr>
        <p:spPr>
          <a:xfrm>
            <a:off x="548640" y="2880360"/>
            <a:ext cx="11064240" cy="7680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971800"/>
            <a:ext cx="1188720" cy="594360"/>
          </a:xfrm>
          <a:prstGeom prst="rect">
            <a:avLst/>
          </a:prstGeom>
          <a:noFill/>
        </p:spPr>
        <p:txBody>
          <a:bodyPr wrap="square">
            <a:spAutoFit/>
          </a:bodyPr>
          <a:lstStyle/>
          <a:p>
            <a:pPr algn="l"/>
            <a:r>
              <a:rPr sz="1600" b="1">
                <a:solidFill>
                  <a:srgbClr val="D47A21"/>
                </a:solidFill>
              </a:rPr>
              <a:t>/clear</a:t>
            </a:r>
          </a:p>
        </p:txBody>
      </p:sp>
      <p:sp>
        <p:nvSpPr>
          <p:cNvPr id="12" name="TextBox 11"/>
          <p:cNvSpPr txBox="1"/>
          <p:nvPr/>
        </p:nvSpPr>
        <p:spPr>
          <a:xfrm>
            <a:off x="2011680" y="2944368"/>
            <a:ext cx="4572000" cy="384048"/>
          </a:xfrm>
          <a:prstGeom prst="rect">
            <a:avLst/>
          </a:prstGeom>
          <a:noFill/>
        </p:spPr>
        <p:txBody>
          <a:bodyPr wrap="square">
            <a:spAutoFit/>
          </a:bodyPr>
          <a:lstStyle/>
          <a:p>
            <a:pPr algn="l"/>
            <a:r>
              <a:rPr sz="1400" b="1">
                <a:solidFill>
                  <a:srgbClr val="FFFFFF"/>
                </a:solidFill>
              </a:rPr>
              <a:t>Clear the conversation history</a:t>
            </a:r>
          </a:p>
        </p:txBody>
      </p:sp>
      <p:sp>
        <p:nvSpPr>
          <p:cNvPr id="13" name="TextBox 12"/>
          <p:cNvSpPr txBox="1"/>
          <p:nvPr/>
        </p:nvSpPr>
        <p:spPr>
          <a:xfrm>
            <a:off x="2011680" y="3319272"/>
            <a:ext cx="9144000" cy="384048"/>
          </a:xfrm>
          <a:prstGeom prst="rect">
            <a:avLst/>
          </a:prstGeom>
          <a:noFill/>
        </p:spPr>
        <p:txBody>
          <a:bodyPr wrap="square">
            <a:spAutoFit/>
          </a:bodyPr>
          <a:lstStyle/>
          <a:p>
            <a:pPr algn="l"/>
            <a:r>
              <a:rPr sz="1200" b="0">
                <a:solidFill>
                  <a:srgbClr val="CCCCCC"/>
                </a:solidFill>
              </a:rPr>
              <a:t>Wipes the current context window (the conversation Claude is holding in memory). Does not delete files. Use when Claude is confused or when you want a fresh start on a new topic.</a:t>
            </a:r>
          </a:p>
        </p:txBody>
      </p:sp>
      <p:sp>
        <p:nvSpPr>
          <p:cNvPr id="14" name="Rectangle 13"/>
          <p:cNvSpPr/>
          <p:nvPr/>
        </p:nvSpPr>
        <p:spPr>
          <a:xfrm>
            <a:off x="548640" y="3703320"/>
            <a:ext cx="11064240" cy="7680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794760"/>
            <a:ext cx="1188720" cy="594360"/>
          </a:xfrm>
          <a:prstGeom prst="rect">
            <a:avLst/>
          </a:prstGeom>
          <a:noFill/>
        </p:spPr>
        <p:txBody>
          <a:bodyPr wrap="square">
            <a:spAutoFit/>
          </a:bodyPr>
          <a:lstStyle/>
          <a:p>
            <a:pPr algn="l"/>
            <a:r>
              <a:rPr sz="1600" b="1">
                <a:solidFill>
                  <a:srgbClr val="D47A21"/>
                </a:solidFill>
              </a:rPr>
              <a:t>/exit</a:t>
            </a:r>
          </a:p>
        </p:txBody>
      </p:sp>
      <p:sp>
        <p:nvSpPr>
          <p:cNvPr id="16" name="TextBox 15"/>
          <p:cNvSpPr txBox="1"/>
          <p:nvPr/>
        </p:nvSpPr>
        <p:spPr>
          <a:xfrm>
            <a:off x="2011680" y="3767328"/>
            <a:ext cx="4572000" cy="384048"/>
          </a:xfrm>
          <a:prstGeom prst="rect">
            <a:avLst/>
          </a:prstGeom>
          <a:noFill/>
        </p:spPr>
        <p:txBody>
          <a:bodyPr wrap="square">
            <a:spAutoFit/>
          </a:bodyPr>
          <a:lstStyle/>
          <a:p>
            <a:pPr algn="l"/>
            <a:r>
              <a:rPr sz="1400" b="1">
                <a:solidFill>
                  <a:srgbClr val="FFFFFF"/>
                </a:solidFill>
              </a:rPr>
              <a:t>Exit Claude Code (or use Ctrl+D)</a:t>
            </a:r>
          </a:p>
        </p:txBody>
      </p:sp>
      <p:sp>
        <p:nvSpPr>
          <p:cNvPr id="17" name="TextBox 16"/>
          <p:cNvSpPr txBox="1"/>
          <p:nvPr/>
        </p:nvSpPr>
        <p:spPr>
          <a:xfrm>
            <a:off x="2011680" y="4142232"/>
            <a:ext cx="9144000" cy="384048"/>
          </a:xfrm>
          <a:prstGeom prst="rect">
            <a:avLst/>
          </a:prstGeom>
          <a:noFill/>
        </p:spPr>
        <p:txBody>
          <a:bodyPr wrap="square">
            <a:spAutoFit/>
          </a:bodyPr>
          <a:lstStyle/>
          <a:p>
            <a:pPr algn="l"/>
            <a:r>
              <a:rPr sz="1200" b="0">
                <a:solidFill>
                  <a:srgbClr val="CCCCCC"/>
                </a:solidFill>
              </a:rPr>
              <a:t>Closes the interactive session cleanly. Your files and settings are untouched.</a:t>
            </a:r>
          </a:p>
        </p:txBody>
      </p:sp>
      <p:sp>
        <p:nvSpPr>
          <p:cNvPr id="18" name="Rectangle 17"/>
          <p:cNvSpPr/>
          <p:nvPr/>
        </p:nvSpPr>
        <p:spPr>
          <a:xfrm>
            <a:off x="548640" y="4526280"/>
            <a:ext cx="11064240" cy="7680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617720"/>
            <a:ext cx="1188720" cy="594360"/>
          </a:xfrm>
          <a:prstGeom prst="rect">
            <a:avLst/>
          </a:prstGeom>
          <a:noFill/>
        </p:spPr>
        <p:txBody>
          <a:bodyPr wrap="square">
            <a:spAutoFit/>
          </a:bodyPr>
          <a:lstStyle/>
          <a:p>
            <a:pPr algn="l"/>
            <a:r>
              <a:rPr sz="1600" b="1">
                <a:solidFill>
                  <a:srgbClr val="D47A21"/>
                </a:solidFill>
              </a:rPr>
              <a:t>ESC</a:t>
            </a:r>
          </a:p>
        </p:txBody>
      </p:sp>
      <p:sp>
        <p:nvSpPr>
          <p:cNvPr id="20" name="TextBox 19"/>
          <p:cNvSpPr txBox="1"/>
          <p:nvPr/>
        </p:nvSpPr>
        <p:spPr>
          <a:xfrm>
            <a:off x="2011680" y="4590288"/>
            <a:ext cx="4572000" cy="384048"/>
          </a:xfrm>
          <a:prstGeom prst="rect">
            <a:avLst/>
          </a:prstGeom>
          <a:noFill/>
        </p:spPr>
        <p:txBody>
          <a:bodyPr wrap="square">
            <a:spAutoFit/>
          </a:bodyPr>
          <a:lstStyle/>
          <a:p>
            <a:pPr algn="l"/>
            <a:r>
              <a:rPr sz="1400" b="1">
                <a:solidFill>
                  <a:srgbClr val="FFFFFF"/>
                </a:solidFill>
              </a:rPr>
              <a:t>Interrupt - stop the current response immediately</a:t>
            </a:r>
          </a:p>
        </p:txBody>
      </p:sp>
      <p:sp>
        <p:nvSpPr>
          <p:cNvPr id="21" name="TextBox 20"/>
          <p:cNvSpPr txBox="1"/>
          <p:nvPr/>
        </p:nvSpPr>
        <p:spPr>
          <a:xfrm>
            <a:off x="2011680" y="4965192"/>
            <a:ext cx="9144000" cy="384048"/>
          </a:xfrm>
          <a:prstGeom prst="rect">
            <a:avLst/>
          </a:prstGeom>
          <a:noFill/>
        </p:spPr>
        <p:txBody>
          <a:bodyPr wrap="square">
            <a:spAutoFit/>
          </a:bodyPr>
          <a:lstStyle/>
          <a:p>
            <a:pPr algn="l"/>
            <a:r>
              <a:rPr sz="1200" b="0">
                <a:solidFill>
                  <a:srgbClr val="CCCCCC"/>
                </a:solidFill>
              </a:rPr>
              <a:t>Press Escape while Claude is generating to stop it mid-sentence. Useful when Claude goes in the wrong direction or when a command is taking too long.</a:t>
            </a:r>
          </a:p>
        </p:txBody>
      </p:sp>
      <p:sp>
        <p:nvSpPr>
          <p:cNvPr id="22" name="TextBox 21"/>
          <p:cNvSpPr txBox="1"/>
          <p:nvPr/>
        </p:nvSpPr>
        <p:spPr>
          <a:xfrm>
            <a:off x="548640" y="6126480"/>
            <a:ext cx="11430000" cy="548640"/>
          </a:xfrm>
          <a:prstGeom prst="rect">
            <a:avLst/>
          </a:prstGeom>
          <a:noFill/>
        </p:spPr>
        <p:txBody>
          <a:bodyPr wrap="square">
            <a:spAutoFit/>
          </a:bodyPr>
          <a:lstStyle/>
          <a:p>
            <a:pPr algn="l"/>
            <a:r>
              <a:rPr sz="1500" b="1">
                <a:solidFill>
                  <a:srgbClr val="D47A21"/>
                </a:solidFill>
              </a:rPr>
              <a:t>ESC is your undo button - press it the moment Claude starts going somewhere wrong, before it writes a file you did not want.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3  -  CORE COMMANDS</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400" b="1">
                <a:solidFill>
                  <a:srgbClr val="FFFFFF"/>
                </a:solidFill>
              </a:rPr>
              <a:t>Plan Mode: Claude Shows Its Work Before Acting</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103120"/>
            <a:ext cx="5577840" cy="3291840"/>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40280"/>
            <a:ext cx="5120640" cy="365760"/>
          </a:xfrm>
          <a:prstGeom prst="rect">
            <a:avLst/>
          </a:prstGeom>
          <a:noFill/>
        </p:spPr>
        <p:txBody>
          <a:bodyPr wrap="square">
            <a:spAutoFit/>
          </a:bodyPr>
          <a:lstStyle/>
          <a:p>
            <a:pPr algn="l"/>
            <a:r>
              <a:rPr sz="1300" b="1">
                <a:solidFill>
                  <a:srgbClr val="FF8888"/>
                </a:solidFill>
              </a:rPr>
              <a:t>DEFAULT MODE</a:t>
            </a:r>
          </a:p>
        </p:txBody>
      </p:sp>
      <p:sp>
        <p:nvSpPr>
          <p:cNvPr id="8" name="TextBox 7"/>
          <p:cNvSpPr txBox="1"/>
          <p:nvPr/>
        </p:nvSpPr>
        <p:spPr>
          <a:xfrm>
            <a:off x="685800" y="2651760"/>
            <a:ext cx="5120640" cy="548640"/>
          </a:xfrm>
          <a:prstGeom prst="rect">
            <a:avLst/>
          </a:prstGeom>
          <a:noFill/>
        </p:spPr>
        <p:txBody>
          <a:bodyPr wrap="square">
            <a:spAutoFit/>
          </a:bodyPr>
          <a:lstStyle/>
          <a:p>
            <a:pPr algn="l"/>
            <a:r>
              <a:rPr sz="2000" b="1">
                <a:solidFill>
                  <a:srgbClr val="FFAAAA"/>
                </a:solidFill>
              </a:rPr>
              <a:t>Claude acts immediately</a:t>
            </a:r>
          </a:p>
        </p:txBody>
      </p:sp>
      <p:sp>
        <p:nvSpPr>
          <p:cNvPr id="9" name="TextBox 8"/>
          <p:cNvSpPr txBox="1"/>
          <p:nvPr/>
        </p:nvSpPr>
        <p:spPr>
          <a:xfrm>
            <a:off x="594360" y="3291840"/>
            <a:ext cx="5303520" cy="1828800"/>
          </a:xfrm>
          <a:prstGeom prst="rect">
            <a:avLst/>
          </a:prstGeom>
          <a:noFill/>
        </p:spPr>
        <p:txBody>
          <a:bodyPr wrap="square">
            <a:spAutoFit/>
          </a:bodyPr>
          <a:lstStyle/>
          <a:p>
            <a:pPr algn="l">
              <a:spcAft>
                <a:spcPts val="600"/>
              </a:spcAft>
            </a:pPr>
            <a:r>
              <a:rPr sz="1400">
                <a:solidFill>
                  <a:srgbClr val="FFAAAA"/>
                </a:solidFill>
              </a:rPr>
              <a:t>  You say 'update this doc'</a:t>
            </a:r>
          </a:p>
          <a:p>
            <a:pPr algn="l">
              <a:spcAft>
                <a:spcPts val="600"/>
              </a:spcAft>
            </a:pPr>
            <a:r>
              <a:rPr sz="1400">
                <a:solidFill>
                  <a:srgbClr val="FFAAAA"/>
                </a:solidFill>
              </a:rPr>
              <a:t>  Claude edits the file right away</a:t>
            </a:r>
          </a:p>
          <a:p>
            <a:pPr algn="l">
              <a:spcAft>
                <a:spcPts val="600"/>
              </a:spcAft>
            </a:pPr>
            <a:r>
              <a:rPr sz="1400">
                <a:solidFill>
                  <a:srgbClr val="FFAAAA"/>
                </a:solidFill>
              </a:rPr>
              <a:t>  You see changes after the fact</a:t>
            </a:r>
          </a:p>
          <a:p>
            <a:pPr algn="l">
              <a:spcAft>
                <a:spcPts val="600"/>
              </a:spcAft>
            </a:pPr>
            <a:r>
              <a:rPr sz="1400">
                <a:solidFill>
                  <a:srgbClr val="FFAAAA"/>
                </a:solidFill>
              </a:rPr>
              <a:t>  Good for quick, trusted tasks</a:t>
            </a:r>
          </a:p>
        </p:txBody>
      </p:sp>
      <p:sp>
        <p:nvSpPr>
          <p:cNvPr id="10" name="Rectangle 9"/>
          <p:cNvSpPr/>
          <p:nvPr/>
        </p:nvSpPr>
        <p:spPr>
          <a:xfrm>
            <a:off x="6309360" y="2103120"/>
            <a:ext cx="5577840" cy="3291840"/>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2240280"/>
            <a:ext cx="5120640" cy="365760"/>
          </a:xfrm>
          <a:prstGeom prst="rect">
            <a:avLst/>
          </a:prstGeom>
          <a:noFill/>
        </p:spPr>
        <p:txBody>
          <a:bodyPr wrap="square">
            <a:spAutoFit/>
          </a:bodyPr>
          <a:lstStyle/>
          <a:p>
            <a:pPr algn="l"/>
            <a:r>
              <a:rPr sz="1300" b="1">
                <a:solidFill>
                  <a:srgbClr val="88DD88"/>
                </a:solidFill>
              </a:rPr>
              <a:t>PLAN MODE (Shift+Tab or /plan)</a:t>
            </a:r>
          </a:p>
        </p:txBody>
      </p:sp>
      <p:sp>
        <p:nvSpPr>
          <p:cNvPr id="12" name="TextBox 11"/>
          <p:cNvSpPr txBox="1"/>
          <p:nvPr/>
        </p:nvSpPr>
        <p:spPr>
          <a:xfrm>
            <a:off x="6537960" y="2651760"/>
            <a:ext cx="5120640" cy="548640"/>
          </a:xfrm>
          <a:prstGeom prst="rect">
            <a:avLst/>
          </a:prstGeom>
          <a:noFill/>
        </p:spPr>
        <p:txBody>
          <a:bodyPr wrap="square">
            <a:spAutoFit/>
          </a:bodyPr>
          <a:lstStyle/>
          <a:p>
            <a:pPr algn="l"/>
            <a:r>
              <a:rPr sz="2000" b="1">
                <a:solidFill>
                  <a:srgbClr val="AADDAA"/>
                </a:solidFill>
              </a:rPr>
              <a:t>Claude proposes first, then waits</a:t>
            </a:r>
          </a:p>
        </p:txBody>
      </p:sp>
      <p:sp>
        <p:nvSpPr>
          <p:cNvPr id="13" name="TextBox 12"/>
          <p:cNvSpPr txBox="1"/>
          <p:nvPr/>
        </p:nvSpPr>
        <p:spPr>
          <a:xfrm>
            <a:off x="6446520" y="3291840"/>
            <a:ext cx="5303520" cy="1828800"/>
          </a:xfrm>
          <a:prstGeom prst="rect">
            <a:avLst/>
          </a:prstGeom>
          <a:noFill/>
        </p:spPr>
        <p:txBody>
          <a:bodyPr wrap="square">
            <a:spAutoFit/>
          </a:bodyPr>
          <a:lstStyle/>
          <a:p>
            <a:pPr algn="l">
              <a:spcAft>
                <a:spcPts val="600"/>
              </a:spcAft>
            </a:pPr>
            <a:r>
              <a:rPr sz="1400">
                <a:solidFill>
                  <a:srgbClr val="AADDAA"/>
                </a:solidFill>
              </a:rPr>
              <a:t>  You say 'update this doc'</a:t>
            </a:r>
          </a:p>
          <a:p>
            <a:pPr algn="l">
              <a:spcAft>
                <a:spcPts val="600"/>
              </a:spcAft>
            </a:pPr>
            <a:r>
              <a:rPr sz="1400">
                <a:solidFill>
                  <a:srgbClr val="AADDAA"/>
                </a:solidFill>
              </a:rPr>
              <a:t>  Claude describes what it will do</a:t>
            </a:r>
          </a:p>
          <a:p>
            <a:pPr algn="l">
              <a:spcAft>
                <a:spcPts val="600"/>
              </a:spcAft>
            </a:pPr>
            <a:r>
              <a:rPr sz="1400">
                <a:solidFill>
                  <a:srgbClr val="AADDAA"/>
                </a:solidFill>
              </a:rPr>
              <a:t>  You review and approve</a:t>
            </a:r>
          </a:p>
          <a:p>
            <a:pPr algn="l">
              <a:spcAft>
                <a:spcPts val="600"/>
              </a:spcAft>
            </a:pPr>
            <a:r>
              <a:rPr sz="1400">
                <a:solidFill>
                  <a:srgbClr val="AADDAA"/>
                </a:solidFill>
              </a:rPr>
              <a:t>  Then Claude acts - nothing before that</a:t>
            </a:r>
          </a:p>
        </p:txBody>
      </p:sp>
      <p:sp>
        <p:nvSpPr>
          <p:cNvPr id="14" name="TextBox 13"/>
          <p:cNvSpPr txBox="1"/>
          <p:nvPr/>
        </p:nvSpPr>
        <p:spPr>
          <a:xfrm>
            <a:off x="548640" y="5577840"/>
            <a:ext cx="11430000" cy="411480"/>
          </a:xfrm>
          <a:prstGeom prst="rect">
            <a:avLst/>
          </a:prstGeom>
          <a:noFill/>
        </p:spPr>
        <p:txBody>
          <a:bodyPr wrap="square">
            <a:spAutoFit/>
          </a:bodyPr>
          <a:lstStyle/>
          <a:p>
            <a:pPr algn="l"/>
            <a:r>
              <a:rPr sz="1400" b="0">
                <a:solidFill>
                  <a:srgbClr val="CCCCCC"/>
                </a:solidFill>
              </a:rPr>
              <a:t>Shift+Tab cycles through modes: default, plan, auto. Use /plan to toggle plan mode on or off.</a:t>
            </a:r>
          </a:p>
        </p:txBody>
      </p:sp>
      <p:sp>
        <p:nvSpPr>
          <p:cNvPr id="15" name="TextBox 14"/>
          <p:cNvSpPr txBox="1"/>
          <p:nvPr/>
        </p:nvSpPr>
        <p:spPr>
          <a:xfrm>
            <a:off x="548640" y="6126480"/>
            <a:ext cx="11430000" cy="548640"/>
          </a:xfrm>
          <a:prstGeom prst="rect">
            <a:avLst/>
          </a:prstGeom>
          <a:noFill/>
        </p:spPr>
        <p:txBody>
          <a:bodyPr wrap="square">
            <a:spAutoFit/>
          </a:bodyPr>
          <a:lstStyle/>
          <a:p>
            <a:pPr algn="l"/>
            <a:r>
              <a:rPr sz="1500" b="1">
                <a:solidFill>
                  <a:srgbClr val="D47A21"/>
                </a:solidFill>
              </a:rPr>
              <a:t>use plan mode when stakes are high - before Claude touches a live document or an important file.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4  -  CLAUDE.md</a:t>
            </a:r>
          </a:p>
        </p:txBody>
      </p:sp>
      <p:sp>
        <p:nvSpPr>
          <p:cNvPr id="4" name="TextBox 3"/>
          <p:cNvSpPr txBox="1"/>
          <p:nvPr/>
        </p:nvSpPr>
        <p:spPr>
          <a:xfrm>
            <a:off x="548640" y="914400"/>
            <a:ext cx="6858000" cy="1097280"/>
          </a:xfrm>
          <a:prstGeom prst="rect">
            <a:avLst/>
          </a:prstGeom>
          <a:noFill/>
        </p:spPr>
        <p:txBody>
          <a:bodyPr wrap="square">
            <a:spAutoFit/>
          </a:bodyPr>
          <a:lstStyle/>
          <a:p>
            <a:pPr algn="l"/>
            <a:r>
              <a:rPr sz="3200" b="1">
                <a:solidFill>
                  <a:srgbClr val="FFFFFF"/>
                </a:solidFill>
              </a:rPr>
              <a:t>CLAUDE.md: The File Claude Reads Before Every Session</a:t>
            </a:r>
          </a:p>
        </p:txBody>
      </p:sp>
      <p:sp>
        <p:nvSpPr>
          <p:cNvPr id="5" name="Rectangle 4"/>
          <p:cNvSpPr/>
          <p:nvPr/>
        </p:nvSpPr>
        <p:spPr>
          <a:xfrm>
            <a:off x="548640" y="210312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286000"/>
            <a:ext cx="6858000" cy="3474720"/>
          </a:xfrm>
          <a:prstGeom prst="rect">
            <a:avLst/>
          </a:prstGeom>
          <a:noFill/>
        </p:spPr>
        <p:txBody>
          <a:bodyPr wrap="square">
            <a:spAutoFit/>
          </a:bodyPr>
          <a:lstStyle/>
          <a:p>
            <a:pPr algn="l">
              <a:spcAft>
                <a:spcPts val="1000"/>
              </a:spcAft>
            </a:pPr>
            <a:r>
              <a:rPr sz="1700">
                <a:solidFill>
                  <a:srgbClr val="CCCCCC"/>
                </a:solidFill>
              </a:rPr>
              <a:t>  A plain text file you write once, Claude reads every time</a:t>
            </a:r>
          </a:p>
          <a:p>
            <a:pPr algn="l">
              <a:spcAft>
                <a:spcPts val="1000"/>
              </a:spcAft>
            </a:pPr>
            <a:r>
              <a:rPr sz="1700">
                <a:solidFill>
                  <a:srgbClr val="CCCCCC"/>
                </a:solidFill>
              </a:rPr>
              <a:t>  Lives at the root of your project folder</a:t>
            </a:r>
          </a:p>
          <a:p>
            <a:pPr algn="l">
              <a:spcAft>
                <a:spcPts val="1000"/>
              </a:spcAft>
            </a:pPr>
            <a:r>
              <a:rPr sz="1700">
                <a:solidFill>
                  <a:srgbClr val="CCCCCC"/>
                </a:solidFill>
              </a:rPr>
              <a:t>  Loaded automatically - you never have to re-explain context</a:t>
            </a:r>
          </a:p>
          <a:p>
            <a:pPr algn="l">
              <a:spcAft>
                <a:spcPts val="1000"/>
              </a:spcAft>
            </a:pPr>
            <a:r>
              <a:rPr sz="1700">
                <a:solidFill>
                  <a:srgbClr val="CCCCCC"/>
                </a:solidFill>
              </a:rPr>
              <a:t>  Think of it as a briefing doc that survives every session</a:t>
            </a:r>
          </a:p>
          <a:p>
            <a:pPr algn="l">
              <a:spcAft>
                <a:spcPts val="1000"/>
              </a:spcAft>
            </a:pPr>
            <a:r>
              <a:rPr sz="1700">
                <a:solidFill>
                  <a:srgbClr val="CCCCCC"/>
                </a:solidFill>
              </a:rPr>
              <a:t>  Without it: Claude has no memory of your project</a:t>
            </a:r>
          </a:p>
          <a:p>
            <a:pPr algn="l">
              <a:spcAft>
                <a:spcPts val="1000"/>
              </a:spcAft>
            </a:pPr>
            <a:r>
              <a:rPr sz="1700">
                <a:solidFill>
                  <a:srgbClr val="CCCCCC"/>
                </a:solidFill>
              </a:rPr>
              <a:t>  With it: Claude knows your stack, rules, and role from word one</a:t>
            </a:r>
          </a:p>
        </p:txBody>
      </p:sp>
      <p:sp>
        <p:nvSpPr>
          <p:cNvPr id="7" name="Rectangle 6"/>
          <p:cNvSpPr/>
          <p:nvPr/>
        </p:nvSpPr>
        <p:spPr>
          <a:xfrm>
            <a:off x="7772400" y="2103120"/>
            <a:ext cx="4023360" cy="3657600"/>
          </a:xfrm>
          <a:prstGeom prst="rect">
            <a:avLst/>
          </a:prstGeom>
          <a:solidFill>
            <a:srgbClr val="0A0A0A"/>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2240280"/>
            <a:ext cx="3749039" cy="3291840"/>
          </a:xfrm>
          <a:prstGeom prst="rect">
            <a:avLst/>
          </a:prstGeom>
          <a:noFill/>
        </p:spPr>
        <p:txBody>
          <a:bodyPr wrap="square">
            <a:spAutoFit/>
          </a:bodyPr>
          <a:lstStyle/>
          <a:p>
            <a:pPr algn="l"/>
            <a:r>
              <a:rPr sz="1300" b="0">
                <a:solidFill>
                  <a:srgbClr val="D47A21"/>
                </a:solidFill>
              </a:rPr>
              <a:t>project-root/
  CLAUDE.md   &lt;- reads first
  src/
  outputs/
  .claude/
    settings.json
    rules/
~/.claude/
  CLAUDE.md   &lt;- global</a:t>
            </a:r>
          </a:p>
        </p:txBody>
      </p:sp>
      <p:sp>
        <p:nvSpPr>
          <p:cNvPr id="9" name="TextBox 8"/>
          <p:cNvSpPr txBox="1"/>
          <p:nvPr/>
        </p:nvSpPr>
        <p:spPr>
          <a:xfrm>
            <a:off x="548640" y="6126480"/>
            <a:ext cx="11430000" cy="548640"/>
          </a:xfrm>
          <a:prstGeom prst="rect">
            <a:avLst/>
          </a:prstGeom>
          <a:noFill/>
        </p:spPr>
        <p:txBody>
          <a:bodyPr wrap="square">
            <a:spAutoFit/>
          </a:bodyPr>
          <a:lstStyle/>
          <a:p>
            <a:pPr algn="l"/>
            <a:r>
              <a:rPr sz="1500" b="1">
                <a:solidFill>
                  <a:srgbClr val="D47A21"/>
                </a:solidFill>
              </a:rPr>
              <a:t>CLAUDE.md is the onboarding doc you write once that means every Claude session starts already knowing your project.</a:t>
            </a:r>
          </a:p>
        </p:txBody>
      </p:sp>
      <p:sp>
        <p:nvSpPr>
          <p:cNvPr id="10" name="Rectangle 9"/>
          <p:cNvSpPr/>
          <p:nvPr/>
        </p:nvSpPr>
        <p:spPr>
          <a:xfrm>
            <a:off x="10698480" y="384048"/>
            <a:ext cx="1005840" cy="292608"/>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000" b="1">
                <a:solidFill>
                  <a:srgbClr val="0D0D0D"/>
                </a:solidFill>
              </a:rPr>
              <a:t>LIVE DEMO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4  -  CLAUDE.md</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400" b="1">
                <a:solidFill>
                  <a:srgbClr val="FFFFFF"/>
                </a:solidFill>
              </a:rPr>
              <a:t>Three Levels of Memory - Most Specific Wins</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11430000" cy="365760"/>
          </a:xfrm>
          <a:prstGeom prst="rect">
            <a:avLst/>
          </a:prstGeom>
          <a:noFill/>
        </p:spPr>
        <p:txBody>
          <a:bodyPr wrap="square">
            <a:spAutoFit/>
          </a:bodyPr>
          <a:lstStyle/>
          <a:p>
            <a:pPr algn="l"/>
            <a:r>
              <a:rPr sz="1500" b="0">
                <a:solidFill>
                  <a:srgbClr val="CCCCCC"/>
                </a:solidFill>
              </a:rPr>
              <a:t>Claude reads all three files and merges them. More specific overrides less specific.</a:t>
            </a:r>
          </a:p>
        </p:txBody>
      </p:sp>
      <p:sp>
        <p:nvSpPr>
          <p:cNvPr id="7" name="Rectangle 6"/>
          <p:cNvSpPr/>
          <p:nvPr/>
        </p:nvSpPr>
        <p:spPr>
          <a:xfrm>
            <a:off x="365760" y="2514600"/>
            <a:ext cx="3566160" cy="356616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697480"/>
            <a:ext cx="3291840" cy="411480"/>
          </a:xfrm>
          <a:prstGeom prst="rect">
            <a:avLst/>
          </a:prstGeom>
          <a:noFill/>
        </p:spPr>
        <p:txBody>
          <a:bodyPr wrap="square">
            <a:spAutoFit/>
          </a:bodyPr>
          <a:lstStyle/>
          <a:p>
            <a:pPr algn="l"/>
            <a:r>
              <a:rPr sz="1300" b="1">
                <a:solidFill>
                  <a:srgbClr val="D47A21"/>
                </a:solidFill>
              </a:rPr>
              <a:t>GLOBAL</a:t>
            </a:r>
          </a:p>
        </p:txBody>
      </p:sp>
      <p:sp>
        <p:nvSpPr>
          <p:cNvPr id="9" name="TextBox 8"/>
          <p:cNvSpPr txBox="1"/>
          <p:nvPr/>
        </p:nvSpPr>
        <p:spPr>
          <a:xfrm>
            <a:off x="548640" y="3154680"/>
            <a:ext cx="3291840" cy="457200"/>
          </a:xfrm>
          <a:prstGeom prst="rect">
            <a:avLst/>
          </a:prstGeom>
          <a:noFill/>
        </p:spPr>
        <p:txBody>
          <a:bodyPr wrap="square">
            <a:spAutoFit/>
          </a:bodyPr>
          <a:lstStyle/>
          <a:p>
            <a:pPr algn="l"/>
            <a:r>
              <a:rPr sz="1400" b="1">
                <a:solidFill>
                  <a:srgbClr val="FFFFFF"/>
                </a:solidFill>
              </a:rPr>
              <a:t>~/.claude/CLAUDE.md</a:t>
            </a:r>
          </a:p>
        </p:txBody>
      </p:sp>
      <p:sp>
        <p:nvSpPr>
          <p:cNvPr id="10" name="TextBox 9"/>
          <p:cNvSpPr txBox="1"/>
          <p:nvPr/>
        </p:nvSpPr>
        <p:spPr>
          <a:xfrm>
            <a:off x="548640" y="3657600"/>
            <a:ext cx="3291840" cy="457200"/>
          </a:xfrm>
          <a:prstGeom prst="rect">
            <a:avLst/>
          </a:prstGeom>
          <a:noFill/>
        </p:spPr>
        <p:txBody>
          <a:bodyPr wrap="square">
            <a:spAutoFit/>
          </a:bodyPr>
          <a:lstStyle/>
          <a:p>
            <a:pPr algn="l"/>
            <a:r>
              <a:rPr sz="1200" b="0">
                <a:solidFill>
                  <a:srgbClr val="888888"/>
                </a:solidFill>
              </a:rPr>
              <a:t>When: Every Claude session on your machine</a:t>
            </a:r>
          </a:p>
        </p:txBody>
      </p:sp>
      <p:sp>
        <p:nvSpPr>
          <p:cNvPr id="11" name="TextBox 10"/>
          <p:cNvSpPr txBox="1"/>
          <p:nvPr/>
        </p:nvSpPr>
        <p:spPr>
          <a:xfrm>
            <a:off x="548640" y="4206240"/>
            <a:ext cx="3291840" cy="1737360"/>
          </a:xfrm>
          <a:prstGeom prst="rect">
            <a:avLst/>
          </a:prstGeom>
          <a:noFill/>
        </p:spPr>
        <p:txBody>
          <a:bodyPr wrap="square">
            <a:spAutoFit/>
          </a:bodyPr>
          <a:lstStyle/>
          <a:p>
            <a:pPr algn="l"/>
            <a:r>
              <a:rPr sz="1300" b="0">
                <a:solidFill>
                  <a:srgbClr val="CCCCCC"/>
                </a:solidFill>
              </a:rPr>
              <a:t>Your personal preferences, writing rules, tools you use across all projects. Private - never committed to git.</a:t>
            </a:r>
          </a:p>
        </p:txBody>
      </p:sp>
      <p:sp>
        <p:nvSpPr>
          <p:cNvPr id="12" name="Rectangle 11"/>
          <p:cNvSpPr/>
          <p:nvPr/>
        </p:nvSpPr>
        <p:spPr>
          <a:xfrm>
            <a:off x="4114800" y="2514600"/>
            <a:ext cx="3566160" cy="356616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0" y="2697480"/>
            <a:ext cx="3291840" cy="411480"/>
          </a:xfrm>
          <a:prstGeom prst="rect">
            <a:avLst/>
          </a:prstGeom>
          <a:noFill/>
        </p:spPr>
        <p:txBody>
          <a:bodyPr wrap="square">
            <a:spAutoFit/>
          </a:bodyPr>
          <a:lstStyle/>
          <a:p>
            <a:pPr algn="l"/>
            <a:r>
              <a:rPr sz="1300" b="1">
                <a:solidFill>
                  <a:srgbClr val="D47A21"/>
                </a:solidFill>
              </a:rPr>
              <a:t>PROJECT</a:t>
            </a:r>
          </a:p>
        </p:txBody>
      </p:sp>
      <p:sp>
        <p:nvSpPr>
          <p:cNvPr id="14" name="TextBox 13"/>
          <p:cNvSpPr txBox="1"/>
          <p:nvPr/>
        </p:nvSpPr>
        <p:spPr>
          <a:xfrm>
            <a:off x="4297680" y="3154680"/>
            <a:ext cx="3291840" cy="457200"/>
          </a:xfrm>
          <a:prstGeom prst="rect">
            <a:avLst/>
          </a:prstGeom>
          <a:noFill/>
        </p:spPr>
        <p:txBody>
          <a:bodyPr wrap="square">
            <a:spAutoFit/>
          </a:bodyPr>
          <a:lstStyle/>
          <a:p>
            <a:pPr algn="l"/>
            <a:r>
              <a:rPr sz="1400" b="1">
                <a:solidFill>
                  <a:srgbClr val="FFFFFF"/>
                </a:solidFill>
              </a:rPr>
              <a:t>./CLAUDE.md</a:t>
            </a:r>
          </a:p>
        </p:txBody>
      </p:sp>
      <p:sp>
        <p:nvSpPr>
          <p:cNvPr id="15" name="TextBox 14"/>
          <p:cNvSpPr txBox="1"/>
          <p:nvPr/>
        </p:nvSpPr>
        <p:spPr>
          <a:xfrm>
            <a:off x="4297680" y="3657600"/>
            <a:ext cx="3291840" cy="457200"/>
          </a:xfrm>
          <a:prstGeom prst="rect">
            <a:avLst/>
          </a:prstGeom>
          <a:noFill/>
        </p:spPr>
        <p:txBody>
          <a:bodyPr wrap="square">
            <a:spAutoFit/>
          </a:bodyPr>
          <a:lstStyle/>
          <a:p>
            <a:pPr algn="l"/>
            <a:r>
              <a:rPr sz="1200" b="0">
                <a:solidFill>
                  <a:srgbClr val="888888"/>
                </a:solidFill>
              </a:rPr>
              <a:t>When: Any session in this project folder</a:t>
            </a:r>
          </a:p>
        </p:txBody>
      </p:sp>
      <p:sp>
        <p:nvSpPr>
          <p:cNvPr id="16" name="TextBox 15"/>
          <p:cNvSpPr txBox="1"/>
          <p:nvPr/>
        </p:nvSpPr>
        <p:spPr>
          <a:xfrm>
            <a:off x="4297680" y="4206240"/>
            <a:ext cx="3291840" cy="1737360"/>
          </a:xfrm>
          <a:prstGeom prst="rect">
            <a:avLst/>
          </a:prstGeom>
          <a:noFill/>
        </p:spPr>
        <p:txBody>
          <a:bodyPr wrap="square">
            <a:spAutoFit/>
          </a:bodyPr>
          <a:lstStyle/>
          <a:p>
            <a:pPr algn="l"/>
            <a:r>
              <a:rPr sz="1300" b="0">
                <a:solidFill>
                  <a:srgbClr val="CCCCCC"/>
                </a:solidFill>
              </a:rPr>
              <a:t>Project context, tech stack, file conventions, hard rules. Committed to git - shared with your team.</a:t>
            </a:r>
          </a:p>
        </p:txBody>
      </p:sp>
      <p:sp>
        <p:nvSpPr>
          <p:cNvPr id="17" name="Rectangle 16"/>
          <p:cNvSpPr/>
          <p:nvPr/>
        </p:nvSpPr>
        <p:spPr>
          <a:xfrm>
            <a:off x="7863840" y="2514600"/>
            <a:ext cx="3566160" cy="356616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0" y="2697480"/>
            <a:ext cx="3291840" cy="411480"/>
          </a:xfrm>
          <a:prstGeom prst="rect">
            <a:avLst/>
          </a:prstGeom>
          <a:noFill/>
        </p:spPr>
        <p:txBody>
          <a:bodyPr wrap="square">
            <a:spAutoFit/>
          </a:bodyPr>
          <a:lstStyle/>
          <a:p>
            <a:pPr algn="l"/>
            <a:r>
              <a:rPr sz="1300" b="1">
                <a:solidFill>
                  <a:srgbClr val="D47A21"/>
                </a:solidFill>
              </a:rPr>
              <a:t>SUBFOLDER</a:t>
            </a:r>
          </a:p>
        </p:txBody>
      </p:sp>
      <p:sp>
        <p:nvSpPr>
          <p:cNvPr id="19" name="TextBox 18"/>
          <p:cNvSpPr txBox="1"/>
          <p:nvPr/>
        </p:nvSpPr>
        <p:spPr>
          <a:xfrm>
            <a:off x="8046720" y="3154680"/>
            <a:ext cx="3291840" cy="457200"/>
          </a:xfrm>
          <a:prstGeom prst="rect">
            <a:avLst/>
          </a:prstGeom>
          <a:noFill/>
        </p:spPr>
        <p:txBody>
          <a:bodyPr wrap="square">
            <a:spAutoFit/>
          </a:bodyPr>
          <a:lstStyle/>
          <a:p>
            <a:pPr algn="l"/>
            <a:r>
              <a:rPr sz="1400" b="1">
                <a:solidFill>
                  <a:srgbClr val="FFFFFF"/>
                </a:solidFill>
              </a:rPr>
              <a:t>./src/CLAUDE.md</a:t>
            </a:r>
          </a:p>
        </p:txBody>
      </p:sp>
      <p:sp>
        <p:nvSpPr>
          <p:cNvPr id="20" name="TextBox 19"/>
          <p:cNvSpPr txBox="1"/>
          <p:nvPr/>
        </p:nvSpPr>
        <p:spPr>
          <a:xfrm>
            <a:off x="8046720" y="3657600"/>
            <a:ext cx="3291840" cy="457200"/>
          </a:xfrm>
          <a:prstGeom prst="rect">
            <a:avLst/>
          </a:prstGeom>
          <a:noFill/>
        </p:spPr>
        <p:txBody>
          <a:bodyPr wrap="square">
            <a:spAutoFit/>
          </a:bodyPr>
          <a:lstStyle/>
          <a:p>
            <a:pPr algn="l"/>
            <a:r>
              <a:rPr sz="1200" b="0">
                <a:solidFill>
                  <a:srgbClr val="888888"/>
                </a:solidFill>
              </a:rPr>
              <a:t>When: Only when working inside that folder</a:t>
            </a:r>
          </a:p>
        </p:txBody>
      </p:sp>
      <p:sp>
        <p:nvSpPr>
          <p:cNvPr id="21" name="TextBox 20"/>
          <p:cNvSpPr txBox="1"/>
          <p:nvPr/>
        </p:nvSpPr>
        <p:spPr>
          <a:xfrm>
            <a:off x="8046720" y="4206240"/>
            <a:ext cx="3291840" cy="1737360"/>
          </a:xfrm>
          <a:prstGeom prst="rect">
            <a:avLst/>
          </a:prstGeom>
          <a:noFill/>
        </p:spPr>
        <p:txBody>
          <a:bodyPr wrap="square">
            <a:spAutoFit/>
          </a:bodyPr>
          <a:lstStyle/>
          <a:p>
            <a:pPr algn="l"/>
            <a:r>
              <a:rPr sz="1300" b="0">
                <a:solidFill>
                  <a:srgbClr val="CCCCCC"/>
                </a:solidFill>
              </a:rPr>
              <a:t>Module-specific overrides. Loads on demand when Claude reads files in that subfolder. Not loaded at launch.</a:t>
            </a:r>
          </a:p>
        </p:txBody>
      </p:sp>
      <p:sp>
        <p:nvSpPr>
          <p:cNvPr id="22" name="TextBox 21"/>
          <p:cNvSpPr txBox="1"/>
          <p:nvPr/>
        </p:nvSpPr>
        <p:spPr>
          <a:xfrm>
            <a:off x="548640" y="6263640"/>
            <a:ext cx="11430000" cy="365760"/>
          </a:xfrm>
          <a:prstGeom prst="rect">
            <a:avLst/>
          </a:prstGeom>
          <a:noFill/>
        </p:spPr>
        <p:txBody>
          <a:bodyPr wrap="square">
            <a:spAutoFit/>
          </a:bodyPr>
          <a:lstStyle/>
          <a:p>
            <a:pPr algn="l"/>
            <a:r>
              <a:rPr sz="1500" b="1">
                <a:solidFill>
                  <a:srgbClr val="D47A21"/>
                </a:solidFill>
              </a:rPr>
              <a:t>start with a project CLAUDE.md. Add a global one when you work across multiple projects.</a:t>
            </a:r>
          </a:p>
        </p:txBody>
      </p:sp>
      <p:sp>
        <p:nvSpPr>
          <p:cNvPr id="23" name="Rectangle 22"/>
          <p:cNvSpPr/>
          <p:nvPr/>
        </p:nvSpPr>
        <p:spPr>
          <a:xfrm>
            <a:off x="10698480" y="384048"/>
            <a:ext cx="1005840" cy="292608"/>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000" b="1">
                <a:solidFill>
                  <a:srgbClr val="0D0D0D"/>
                </a:solidFill>
              </a:rPr>
              <a:t>LIVE DEMO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5  -  SETTINGS</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400" b="1">
                <a:solidFill>
                  <a:srgbClr val="FFFFFF"/>
                </a:solidFill>
              </a:rPr>
              <a:t>Two Settings Files - One Shared, One Private</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103120"/>
            <a:ext cx="5577840" cy="3474720"/>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40280"/>
            <a:ext cx="5120640" cy="365760"/>
          </a:xfrm>
          <a:prstGeom prst="rect">
            <a:avLst/>
          </a:prstGeom>
          <a:noFill/>
        </p:spPr>
        <p:txBody>
          <a:bodyPr wrap="square">
            <a:spAutoFit/>
          </a:bodyPr>
          <a:lstStyle/>
          <a:p>
            <a:pPr algn="l"/>
            <a:r>
              <a:rPr sz="1300" b="1">
                <a:solidFill>
                  <a:srgbClr val="88DD88"/>
                </a:solidFill>
              </a:rPr>
              <a:t>.claude/settings.json</a:t>
            </a:r>
          </a:p>
        </p:txBody>
      </p:sp>
      <p:sp>
        <p:nvSpPr>
          <p:cNvPr id="8" name="TextBox 7"/>
          <p:cNvSpPr txBox="1"/>
          <p:nvPr/>
        </p:nvSpPr>
        <p:spPr>
          <a:xfrm>
            <a:off x="685800" y="2651760"/>
            <a:ext cx="5120640" cy="502920"/>
          </a:xfrm>
          <a:prstGeom prst="rect">
            <a:avLst/>
          </a:prstGeom>
          <a:noFill/>
        </p:spPr>
        <p:txBody>
          <a:bodyPr wrap="square">
            <a:spAutoFit/>
          </a:bodyPr>
          <a:lstStyle/>
          <a:p>
            <a:pPr algn="l"/>
            <a:r>
              <a:rPr sz="1800" b="1">
                <a:solidFill>
                  <a:srgbClr val="AADDAA"/>
                </a:solidFill>
              </a:rPr>
              <a:t>Project settings - commit to git</a:t>
            </a:r>
          </a:p>
        </p:txBody>
      </p:sp>
      <p:sp>
        <p:nvSpPr>
          <p:cNvPr id="9" name="TextBox 8"/>
          <p:cNvSpPr txBox="1"/>
          <p:nvPr/>
        </p:nvSpPr>
        <p:spPr>
          <a:xfrm>
            <a:off x="594360" y="3246120"/>
            <a:ext cx="5303520" cy="2194560"/>
          </a:xfrm>
          <a:prstGeom prst="rect">
            <a:avLst/>
          </a:prstGeom>
          <a:noFill/>
        </p:spPr>
        <p:txBody>
          <a:bodyPr wrap="square">
            <a:spAutoFit/>
          </a:bodyPr>
          <a:lstStyle/>
          <a:p>
            <a:pPr algn="l">
              <a:spcAft>
                <a:spcPts val="600"/>
              </a:spcAft>
            </a:pPr>
            <a:r>
              <a:rPr sz="1400">
                <a:solidFill>
                  <a:srgbClr val="AADDAA"/>
                </a:solidFill>
              </a:rPr>
              <a:t>  Shared with your whole team</a:t>
            </a:r>
          </a:p>
          <a:p>
            <a:pPr algn="l">
              <a:spcAft>
                <a:spcPts val="600"/>
              </a:spcAft>
            </a:pPr>
            <a:r>
              <a:rPr sz="1400">
                <a:solidFill>
                  <a:srgbClr val="AADDAA"/>
                </a:solidFill>
              </a:rPr>
              <a:t>  Allowed commands everyone can run</a:t>
            </a:r>
          </a:p>
          <a:p>
            <a:pPr algn="l">
              <a:spcAft>
                <a:spcPts val="600"/>
              </a:spcAft>
            </a:pPr>
            <a:r>
              <a:rPr sz="1400">
                <a:solidFill>
                  <a:srgbClr val="AADDAA"/>
                </a:solidFill>
              </a:rPr>
              <a:t>  Denied commands (e.g. never curl *)</a:t>
            </a:r>
          </a:p>
          <a:p>
            <a:pPr algn="l">
              <a:spcAft>
                <a:spcPts val="600"/>
              </a:spcAft>
            </a:pPr>
            <a:r>
              <a:rPr sz="1400">
                <a:solidFill>
                  <a:srgbClr val="AADDAA"/>
                </a:solidFill>
              </a:rPr>
              <a:t>  MCP server config for the project</a:t>
            </a:r>
          </a:p>
          <a:p>
            <a:pPr algn="l">
              <a:spcAft>
                <a:spcPts val="600"/>
              </a:spcAft>
            </a:pPr>
            <a:r>
              <a:rPr sz="1400">
                <a:solidFill>
                  <a:srgbClr val="AADDAA"/>
                </a:solidFill>
              </a:rPr>
              <a:t>  Default permission mode</a:t>
            </a:r>
          </a:p>
        </p:txBody>
      </p:sp>
      <p:sp>
        <p:nvSpPr>
          <p:cNvPr id="10" name="Rectangle 9"/>
          <p:cNvSpPr/>
          <p:nvPr/>
        </p:nvSpPr>
        <p:spPr>
          <a:xfrm>
            <a:off x="6309360" y="2103120"/>
            <a:ext cx="5577840" cy="347472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2240280"/>
            <a:ext cx="5120640" cy="365760"/>
          </a:xfrm>
          <a:prstGeom prst="rect">
            <a:avLst/>
          </a:prstGeom>
          <a:noFill/>
        </p:spPr>
        <p:txBody>
          <a:bodyPr wrap="square">
            <a:spAutoFit/>
          </a:bodyPr>
          <a:lstStyle/>
          <a:p>
            <a:pPr algn="l"/>
            <a:r>
              <a:rPr sz="1300" b="1">
                <a:solidFill>
                  <a:srgbClr val="D47A21"/>
                </a:solidFill>
              </a:rPr>
              <a:t>.claude/settings.local.json</a:t>
            </a:r>
          </a:p>
        </p:txBody>
      </p:sp>
      <p:sp>
        <p:nvSpPr>
          <p:cNvPr id="12" name="TextBox 11"/>
          <p:cNvSpPr txBox="1"/>
          <p:nvPr/>
        </p:nvSpPr>
        <p:spPr>
          <a:xfrm>
            <a:off x="6537960" y="2651760"/>
            <a:ext cx="5120640" cy="502920"/>
          </a:xfrm>
          <a:prstGeom prst="rect">
            <a:avLst/>
          </a:prstGeom>
          <a:noFill/>
        </p:spPr>
        <p:txBody>
          <a:bodyPr wrap="square">
            <a:spAutoFit/>
          </a:bodyPr>
          <a:lstStyle/>
          <a:p>
            <a:pPr algn="l"/>
            <a:r>
              <a:rPr sz="1800" b="1">
                <a:solidFill>
                  <a:srgbClr val="FFFFFF"/>
                </a:solidFill>
              </a:rPr>
              <a:t>Personal settings - gitignored</a:t>
            </a:r>
          </a:p>
        </p:txBody>
      </p:sp>
      <p:sp>
        <p:nvSpPr>
          <p:cNvPr id="13" name="TextBox 12"/>
          <p:cNvSpPr txBox="1"/>
          <p:nvPr/>
        </p:nvSpPr>
        <p:spPr>
          <a:xfrm>
            <a:off x="6446520" y="3246120"/>
            <a:ext cx="5303520" cy="2194560"/>
          </a:xfrm>
          <a:prstGeom prst="rect">
            <a:avLst/>
          </a:prstGeom>
          <a:noFill/>
        </p:spPr>
        <p:txBody>
          <a:bodyPr wrap="square">
            <a:spAutoFit/>
          </a:bodyPr>
          <a:lstStyle/>
          <a:p>
            <a:pPr algn="l">
              <a:spcAft>
                <a:spcPts val="600"/>
              </a:spcAft>
            </a:pPr>
            <a:r>
              <a:rPr sz="1400">
                <a:solidFill>
                  <a:srgbClr val="CCCCCC"/>
                </a:solidFill>
              </a:rPr>
              <a:t>  Only on your machine</a:t>
            </a:r>
          </a:p>
          <a:p>
            <a:pPr algn="l">
              <a:spcAft>
                <a:spcPts val="600"/>
              </a:spcAft>
            </a:pPr>
            <a:r>
              <a:rPr sz="1400">
                <a:solidFill>
                  <a:srgbClr val="CCCCCC"/>
                </a:solidFill>
              </a:rPr>
              <a:t>  Your sandbox URLs and test data</a:t>
            </a:r>
          </a:p>
          <a:p>
            <a:pPr algn="l">
              <a:spcAft>
                <a:spcPts val="600"/>
              </a:spcAft>
            </a:pPr>
            <a:r>
              <a:rPr sz="1400">
                <a:solidFill>
                  <a:srgbClr val="CCCCCC"/>
                </a:solidFill>
              </a:rPr>
              <a:t>  Personal allow/deny overrides</a:t>
            </a:r>
          </a:p>
          <a:p>
            <a:pPr algn="l">
              <a:spcAft>
                <a:spcPts val="600"/>
              </a:spcAft>
            </a:pPr>
            <a:r>
              <a:rPr sz="1400">
                <a:solidFill>
                  <a:srgbClr val="CCCCCC"/>
                </a:solidFill>
              </a:rPr>
              <a:t>  Overrides project settings locally</a:t>
            </a:r>
          </a:p>
          <a:p>
            <a:pPr algn="l">
              <a:spcAft>
                <a:spcPts val="600"/>
              </a:spcAft>
            </a:pPr>
            <a:r>
              <a:rPr sz="1400">
                <a:solidFill>
                  <a:srgbClr val="CCCCCC"/>
                </a:solidFill>
              </a:rPr>
              <a:t>  Auto-gitignored - safe to be specific</a:t>
            </a:r>
          </a:p>
        </p:txBody>
      </p:sp>
      <p:sp>
        <p:nvSpPr>
          <p:cNvPr id="14" name="TextBox 13"/>
          <p:cNvSpPr txBox="1"/>
          <p:nvPr/>
        </p:nvSpPr>
        <p:spPr>
          <a:xfrm>
            <a:off x="548640" y="6126480"/>
            <a:ext cx="11430000" cy="548640"/>
          </a:xfrm>
          <a:prstGeom prst="rect">
            <a:avLst/>
          </a:prstGeom>
          <a:noFill/>
        </p:spPr>
        <p:txBody>
          <a:bodyPr wrap="square">
            <a:spAutoFit/>
          </a:bodyPr>
          <a:lstStyle/>
          <a:p>
            <a:pPr algn="l"/>
            <a:r>
              <a:rPr sz="1500" b="1">
                <a:solidFill>
                  <a:srgbClr val="D47A21"/>
                </a:solidFill>
              </a:rPr>
              <a:t>use settings.json for team rules, settings.local.json for your personal machine preferences.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5  -  SETTINGS</a:t>
            </a:r>
          </a:p>
        </p:txBody>
      </p:sp>
      <p:sp>
        <p:nvSpPr>
          <p:cNvPr id="4" name="TextBox 3"/>
          <p:cNvSpPr txBox="1"/>
          <p:nvPr/>
        </p:nvSpPr>
        <p:spPr>
          <a:xfrm>
            <a:off x="548640" y="914400"/>
            <a:ext cx="6858000" cy="1097280"/>
          </a:xfrm>
          <a:prstGeom prst="rect">
            <a:avLst/>
          </a:prstGeom>
          <a:noFill/>
        </p:spPr>
        <p:txBody>
          <a:bodyPr wrap="square">
            <a:spAutoFit/>
          </a:bodyPr>
          <a:lstStyle/>
          <a:p>
            <a:pPr algn="l"/>
            <a:r>
              <a:rPr sz="3200" b="1">
                <a:solidFill>
                  <a:srgbClr val="FFFFFF"/>
                </a:solidFill>
              </a:rPr>
              <a:t>Permissions Let You Pre-Approve What Claude Can Run</a:t>
            </a:r>
          </a:p>
        </p:txBody>
      </p:sp>
      <p:sp>
        <p:nvSpPr>
          <p:cNvPr id="5" name="Rectangle 4"/>
          <p:cNvSpPr/>
          <p:nvPr/>
        </p:nvSpPr>
        <p:spPr>
          <a:xfrm>
            <a:off x="548640" y="210312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286000"/>
            <a:ext cx="6858000" cy="3474720"/>
          </a:xfrm>
          <a:prstGeom prst="rect">
            <a:avLst/>
          </a:prstGeom>
          <a:noFill/>
        </p:spPr>
        <p:txBody>
          <a:bodyPr wrap="square">
            <a:spAutoFit/>
          </a:bodyPr>
          <a:lstStyle/>
          <a:p>
            <a:pPr algn="l">
              <a:spcAft>
                <a:spcPts val="1000"/>
              </a:spcAft>
            </a:pPr>
            <a:r>
              <a:rPr sz="1700">
                <a:solidFill>
                  <a:srgbClr val="CCCCCC"/>
                </a:solidFill>
              </a:rPr>
              <a:t>  By default: Claude asks permission before every file edit or command</a:t>
            </a:r>
          </a:p>
          <a:p>
            <a:pPr algn="l">
              <a:spcAft>
                <a:spcPts val="1000"/>
              </a:spcAft>
            </a:pPr>
            <a:r>
              <a:rPr sz="1700">
                <a:solidFill>
                  <a:srgbClr val="CCCCCC"/>
                </a:solidFill>
              </a:rPr>
              <a:t>  Allow list: pre-approve commands Claude can always run without asking</a:t>
            </a:r>
          </a:p>
          <a:p>
            <a:pPr algn="l">
              <a:spcAft>
                <a:spcPts val="1000"/>
              </a:spcAft>
            </a:pPr>
            <a:r>
              <a:rPr sz="1700">
                <a:solidFill>
                  <a:srgbClr val="CCCCCC"/>
                </a:solidFill>
              </a:rPr>
              <a:t>  Deny list: hard-block commands Claude can never run in this project</a:t>
            </a:r>
          </a:p>
          <a:p>
            <a:pPr algn="l">
              <a:spcAft>
                <a:spcPts val="1000"/>
              </a:spcAft>
            </a:pPr>
            <a:r>
              <a:rPr sz="1700">
                <a:solidFill>
                  <a:srgbClr val="CCCCCC"/>
                </a:solidFill>
              </a:rPr>
              <a:t>  Format: Bash(command) or Read(path) or WebFetch(domain:url)</a:t>
            </a:r>
          </a:p>
          <a:p>
            <a:pPr algn="l">
              <a:spcAft>
                <a:spcPts val="1000"/>
              </a:spcAft>
            </a:pPr>
            <a:r>
              <a:rPr sz="1700">
                <a:solidFill>
                  <a:srgbClr val="CCCCCC"/>
                </a:solidFill>
              </a:rPr>
              <a:t>  First match wins: deny is checked before ask, ask before allow</a:t>
            </a:r>
          </a:p>
          <a:p>
            <a:pPr algn="l">
              <a:spcAft>
                <a:spcPts val="1000"/>
              </a:spcAft>
            </a:pPr>
            <a:r>
              <a:rPr sz="1700">
                <a:solidFill>
                  <a:srgbClr val="CCCCCC"/>
                </a:solidFill>
              </a:rPr>
              <a:t>  Use /config inside a session to open the settings interface</a:t>
            </a:r>
          </a:p>
        </p:txBody>
      </p:sp>
      <p:sp>
        <p:nvSpPr>
          <p:cNvPr id="7" name="Rectangle 6"/>
          <p:cNvSpPr/>
          <p:nvPr/>
        </p:nvSpPr>
        <p:spPr>
          <a:xfrm>
            <a:off x="7772400" y="2103120"/>
            <a:ext cx="4023360" cy="3840480"/>
          </a:xfrm>
          <a:prstGeom prst="rect">
            <a:avLst/>
          </a:prstGeom>
          <a:solidFill>
            <a:srgbClr val="0A0A0A"/>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2240280"/>
            <a:ext cx="3749039" cy="3566160"/>
          </a:xfrm>
          <a:prstGeom prst="rect">
            <a:avLst/>
          </a:prstGeom>
          <a:noFill/>
        </p:spPr>
        <p:txBody>
          <a:bodyPr wrap="square">
            <a:spAutoFit/>
          </a:bodyPr>
          <a:lstStyle/>
          <a:p>
            <a:pPr algn="l"/>
            <a:r>
              <a:rPr sz="1200" b="0">
                <a:solidFill>
                  <a:srgbClr val="D47A21"/>
                </a:solidFill>
              </a:rPr>
              <a:t>{
  "permissions": {
    "allow": [
      "Bash(npm run lint)",
      "Bash(npm run test *)",
      "Read(~/.zshrc)"
    ],
    "deny": [
      "Bash(curl *)",
      "Read(./.env)",
      "Read(./secrets/**)"
    ]
  }
}</a:t>
            </a:r>
          </a:p>
        </p:txBody>
      </p:sp>
      <p:sp>
        <p:nvSpPr>
          <p:cNvPr id="9" name="TextBox 8"/>
          <p:cNvSpPr txBox="1"/>
          <p:nvPr/>
        </p:nvSpPr>
        <p:spPr>
          <a:xfrm>
            <a:off x="548640" y="6126480"/>
            <a:ext cx="11430000" cy="548640"/>
          </a:xfrm>
          <a:prstGeom prst="rect">
            <a:avLst/>
          </a:prstGeom>
          <a:noFill/>
        </p:spPr>
        <p:txBody>
          <a:bodyPr wrap="square">
            <a:spAutoFit/>
          </a:bodyPr>
          <a:lstStyle/>
          <a:p>
            <a:pPr algn="l"/>
            <a:r>
              <a:rPr sz="1500" b="1">
                <a:solidFill>
                  <a:srgbClr val="D47A21"/>
                </a:solidFill>
              </a:rPr>
              <a:t>the deny list is your safety net - block .env files and secret folders before you forget.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6  -  MCP</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400" b="1">
                <a:solidFill>
                  <a:srgbClr val="FFFFFF"/>
                </a:solidFill>
              </a:rPr>
              <a:t>MCP: Claude's Standard Plug for External Tools</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11430000" cy="502920"/>
          </a:xfrm>
          <a:prstGeom prst="rect">
            <a:avLst/>
          </a:prstGeom>
          <a:noFill/>
        </p:spPr>
        <p:txBody>
          <a:bodyPr wrap="square">
            <a:spAutoFit/>
          </a:bodyPr>
          <a:lstStyle/>
          <a:p>
            <a:pPr algn="l"/>
            <a:r>
              <a:rPr sz="1600" b="0">
                <a:solidFill>
                  <a:srgbClr val="CCCCCC"/>
                </a:solidFill>
              </a:rPr>
              <a:t>MCP stands for Model Context Protocol. It is an open standard that lets Claude Code connect to external tools and data sources.</a:t>
            </a:r>
          </a:p>
        </p:txBody>
      </p:sp>
      <p:sp>
        <p:nvSpPr>
          <p:cNvPr id="7" name="Rectangle 6"/>
          <p:cNvSpPr/>
          <p:nvPr/>
        </p:nvSpPr>
        <p:spPr>
          <a:xfrm>
            <a:off x="365760" y="2651760"/>
            <a:ext cx="2651760" cy="32004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880360"/>
            <a:ext cx="2377440" cy="548640"/>
          </a:xfrm>
          <a:prstGeom prst="rect">
            <a:avLst/>
          </a:prstGeom>
          <a:noFill/>
        </p:spPr>
        <p:txBody>
          <a:bodyPr wrap="square">
            <a:spAutoFit/>
          </a:bodyPr>
          <a:lstStyle/>
          <a:p>
            <a:pPr algn="l"/>
            <a:r>
              <a:rPr sz="1500" b="1">
                <a:solidFill>
                  <a:srgbClr val="D47A21"/>
                </a:solidFill>
              </a:rPr>
              <a:t>Jira + Confluence</a:t>
            </a:r>
          </a:p>
        </p:txBody>
      </p:sp>
      <p:sp>
        <p:nvSpPr>
          <p:cNvPr id="9" name="TextBox 8"/>
          <p:cNvSpPr txBox="1"/>
          <p:nvPr/>
        </p:nvSpPr>
        <p:spPr>
          <a:xfrm>
            <a:off x="548640" y="3566160"/>
            <a:ext cx="2377440" cy="2103120"/>
          </a:xfrm>
          <a:prstGeom prst="rect">
            <a:avLst/>
          </a:prstGeom>
          <a:noFill/>
        </p:spPr>
        <p:txBody>
          <a:bodyPr wrap="square">
            <a:spAutoFit/>
          </a:bodyPr>
          <a:lstStyle/>
          <a:p>
            <a:pPr algn="l"/>
            <a:r>
              <a:rPr sz="1300" b="0">
                <a:solidFill>
                  <a:srgbClr val="CCCCCC"/>
                </a:solidFill>
              </a:rPr>
              <a:t>Create tickets, search issues, publish pages - all from the terminal without copy-pasting</a:t>
            </a:r>
          </a:p>
        </p:txBody>
      </p:sp>
      <p:sp>
        <p:nvSpPr>
          <p:cNvPr id="10" name="Rectangle 9"/>
          <p:cNvSpPr/>
          <p:nvPr/>
        </p:nvSpPr>
        <p:spPr>
          <a:xfrm>
            <a:off x="3264408" y="2651760"/>
            <a:ext cx="2651760" cy="32004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47288" y="2880360"/>
            <a:ext cx="2377440" cy="548640"/>
          </a:xfrm>
          <a:prstGeom prst="rect">
            <a:avLst/>
          </a:prstGeom>
          <a:noFill/>
        </p:spPr>
        <p:txBody>
          <a:bodyPr wrap="square">
            <a:spAutoFit/>
          </a:bodyPr>
          <a:lstStyle/>
          <a:p>
            <a:pPr algn="l"/>
            <a:r>
              <a:rPr sz="1500" b="1">
                <a:solidFill>
                  <a:srgbClr val="D47A21"/>
                </a:solidFill>
              </a:rPr>
              <a:t>GitHub</a:t>
            </a:r>
          </a:p>
        </p:txBody>
      </p:sp>
      <p:sp>
        <p:nvSpPr>
          <p:cNvPr id="12" name="TextBox 11"/>
          <p:cNvSpPr txBox="1"/>
          <p:nvPr/>
        </p:nvSpPr>
        <p:spPr>
          <a:xfrm>
            <a:off x="3447288" y="3566160"/>
            <a:ext cx="2377440" cy="2103120"/>
          </a:xfrm>
          <a:prstGeom prst="rect">
            <a:avLst/>
          </a:prstGeom>
          <a:noFill/>
        </p:spPr>
        <p:txBody>
          <a:bodyPr wrap="square">
            <a:spAutoFit/>
          </a:bodyPr>
          <a:lstStyle/>
          <a:p>
            <a:pPr algn="l"/>
            <a:r>
              <a:rPr sz="1300" b="0">
                <a:solidFill>
                  <a:srgbClr val="CCCCCC"/>
                </a:solidFill>
              </a:rPr>
              <a:t>Review PRs, create issues, push commits - Claude reads the PR, writes the review</a:t>
            </a:r>
          </a:p>
        </p:txBody>
      </p:sp>
      <p:sp>
        <p:nvSpPr>
          <p:cNvPr id="13" name="Rectangle 12"/>
          <p:cNvSpPr/>
          <p:nvPr/>
        </p:nvSpPr>
        <p:spPr>
          <a:xfrm>
            <a:off x="6163056" y="2651760"/>
            <a:ext cx="2651760" cy="32004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5936" y="2880360"/>
            <a:ext cx="2377440" cy="548640"/>
          </a:xfrm>
          <a:prstGeom prst="rect">
            <a:avLst/>
          </a:prstGeom>
          <a:noFill/>
        </p:spPr>
        <p:txBody>
          <a:bodyPr wrap="square">
            <a:spAutoFit/>
          </a:bodyPr>
          <a:lstStyle/>
          <a:p>
            <a:pPr algn="l"/>
            <a:r>
              <a:rPr sz="1500" b="1">
                <a:solidFill>
                  <a:srgbClr val="D47A21"/>
                </a:solidFill>
              </a:rPr>
              <a:t>Slack + Notion</a:t>
            </a:r>
          </a:p>
        </p:txBody>
      </p:sp>
      <p:sp>
        <p:nvSpPr>
          <p:cNvPr id="15" name="TextBox 14"/>
          <p:cNvSpPr txBox="1"/>
          <p:nvPr/>
        </p:nvSpPr>
        <p:spPr>
          <a:xfrm>
            <a:off x="6345936" y="3566160"/>
            <a:ext cx="2377440" cy="2103120"/>
          </a:xfrm>
          <a:prstGeom prst="rect">
            <a:avLst/>
          </a:prstGeom>
          <a:noFill/>
        </p:spPr>
        <p:txBody>
          <a:bodyPr wrap="square">
            <a:spAutoFit/>
          </a:bodyPr>
          <a:lstStyle/>
          <a:p>
            <a:pPr algn="l"/>
            <a:r>
              <a:rPr sz="1300" b="0">
                <a:solidFill>
                  <a:srgbClr val="CCCCCC"/>
                </a:solidFill>
              </a:rPr>
              <a:t>Read channel summaries, create Notion pages, post updates - no browser tab switching</a:t>
            </a:r>
          </a:p>
        </p:txBody>
      </p:sp>
      <p:sp>
        <p:nvSpPr>
          <p:cNvPr id="16" name="Rectangle 15"/>
          <p:cNvSpPr/>
          <p:nvPr/>
        </p:nvSpPr>
        <p:spPr>
          <a:xfrm>
            <a:off x="9061704" y="2651760"/>
            <a:ext cx="2651760" cy="32004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44584" y="2880360"/>
            <a:ext cx="2377440" cy="548640"/>
          </a:xfrm>
          <a:prstGeom prst="rect">
            <a:avLst/>
          </a:prstGeom>
          <a:noFill/>
        </p:spPr>
        <p:txBody>
          <a:bodyPr wrap="square">
            <a:spAutoFit/>
          </a:bodyPr>
          <a:lstStyle/>
          <a:p>
            <a:pPr algn="l"/>
            <a:r>
              <a:rPr sz="1500" b="1">
                <a:solidFill>
                  <a:srgbClr val="D47A21"/>
                </a:solidFill>
              </a:rPr>
              <a:t>Your own data</a:t>
            </a:r>
          </a:p>
        </p:txBody>
      </p:sp>
      <p:sp>
        <p:nvSpPr>
          <p:cNvPr id="18" name="TextBox 17"/>
          <p:cNvSpPr txBox="1"/>
          <p:nvPr/>
        </p:nvSpPr>
        <p:spPr>
          <a:xfrm>
            <a:off x="9244584" y="3566160"/>
            <a:ext cx="2377440" cy="2103120"/>
          </a:xfrm>
          <a:prstGeom prst="rect">
            <a:avLst/>
          </a:prstGeom>
          <a:noFill/>
        </p:spPr>
        <p:txBody>
          <a:bodyPr wrap="square">
            <a:spAutoFit/>
          </a:bodyPr>
          <a:lstStyle/>
          <a:p>
            <a:pPr algn="l"/>
            <a:r>
              <a:rPr sz="1300" b="0">
                <a:solidFill>
                  <a:srgbClr val="CCCCCC"/>
                </a:solidFill>
              </a:rPr>
              <a:t>Connect a database, an internal API, or a custom script. MCP is an open standard - anything goes.</a:t>
            </a:r>
          </a:p>
        </p:txBody>
      </p:sp>
      <p:sp>
        <p:nvSpPr>
          <p:cNvPr id="19" name="TextBox 18"/>
          <p:cNvSpPr txBox="1"/>
          <p:nvPr/>
        </p:nvSpPr>
        <p:spPr>
          <a:xfrm>
            <a:off x="548640" y="6126480"/>
            <a:ext cx="11430000" cy="548640"/>
          </a:xfrm>
          <a:prstGeom prst="rect">
            <a:avLst/>
          </a:prstGeom>
          <a:noFill/>
        </p:spPr>
        <p:txBody>
          <a:bodyPr wrap="square">
            <a:spAutoFit/>
          </a:bodyPr>
          <a:lstStyle/>
          <a:p>
            <a:pPr algn="l"/>
            <a:r>
              <a:rPr sz="1500" b="1">
                <a:solidFill>
                  <a:srgbClr val="D47A21"/>
                </a:solidFill>
              </a:rPr>
              <a:t>MCP is why Claude Code beats copy-pasting into a chat window - it reads and writes your real tools.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6  -  MCP</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400" b="1">
                <a:solidFill>
                  <a:srgbClr val="FFFFFF"/>
                </a:solidFill>
              </a:rPr>
              <a:t>Adding an MCP Server: Four-Step Pattern</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11430000" cy="365760"/>
          </a:xfrm>
          <a:prstGeom prst="rect">
            <a:avLst/>
          </a:prstGeom>
          <a:noFill/>
        </p:spPr>
        <p:txBody>
          <a:bodyPr wrap="square">
            <a:spAutoFit/>
          </a:bodyPr>
          <a:lstStyle/>
          <a:p>
            <a:pPr algn="l"/>
            <a:r>
              <a:rPr sz="1400" b="0">
                <a:solidFill>
                  <a:srgbClr val="888888"/>
                </a:solidFill>
              </a:rPr>
              <a:t>Example: adding the Atlassian server (Jira + Confluence)</a:t>
            </a:r>
          </a:p>
        </p:txBody>
      </p:sp>
      <p:sp>
        <p:nvSpPr>
          <p:cNvPr id="7" name="Rectangle 6"/>
          <p:cNvSpPr/>
          <p:nvPr/>
        </p:nvSpPr>
        <p:spPr>
          <a:xfrm>
            <a:off x="548640" y="2514600"/>
            <a:ext cx="11064240" cy="83210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624328"/>
            <a:ext cx="457200" cy="548640"/>
          </a:xfrm>
          <a:prstGeom prst="rect">
            <a:avLst/>
          </a:prstGeom>
          <a:noFill/>
        </p:spPr>
        <p:txBody>
          <a:bodyPr wrap="square">
            <a:spAutoFit/>
          </a:bodyPr>
          <a:lstStyle/>
          <a:p>
            <a:pPr algn="l"/>
            <a:r>
              <a:rPr sz="2000" b="1">
                <a:solidFill>
                  <a:srgbClr val="D47A21"/>
                </a:solidFill>
              </a:rPr>
              <a:t>1</a:t>
            </a:r>
          </a:p>
        </p:txBody>
      </p:sp>
      <p:sp>
        <p:nvSpPr>
          <p:cNvPr id="9" name="TextBox 8"/>
          <p:cNvSpPr txBox="1"/>
          <p:nvPr/>
        </p:nvSpPr>
        <p:spPr>
          <a:xfrm>
            <a:off x="1280160" y="2606040"/>
            <a:ext cx="9601200" cy="365760"/>
          </a:xfrm>
          <a:prstGeom prst="rect">
            <a:avLst/>
          </a:prstGeom>
          <a:noFill/>
        </p:spPr>
        <p:txBody>
          <a:bodyPr wrap="square">
            <a:spAutoFit/>
          </a:bodyPr>
          <a:lstStyle/>
          <a:p>
            <a:pPr algn="l"/>
            <a:r>
              <a:rPr sz="1300" b="1">
                <a:solidFill>
                  <a:srgbClr val="FFFFFF"/>
                </a:solidFill>
              </a:rPr>
              <a:t>Run the add command in your terminal (outside Claude Code)</a:t>
            </a:r>
          </a:p>
        </p:txBody>
      </p:sp>
      <p:sp>
        <p:nvSpPr>
          <p:cNvPr id="10" name="TextBox 9"/>
          <p:cNvSpPr txBox="1"/>
          <p:nvPr/>
        </p:nvSpPr>
        <p:spPr>
          <a:xfrm>
            <a:off x="1280160" y="2971800"/>
            <a:ext cx="9601200" cy="365760"/>
          </a:xfrm>
          <a:prstGeom prst="rect">
            <a:avLst/>
          </a:prstGeom>
          <a:noFill/>
        </p:spPr>
        <p:txBody>
          <a:bodyPr wrap="square">
            <a:spAutoFit/>
          </a:bodyPr>
          <a:lstStyle/>
          <a:p>
            <a:pPr algn="l"/>
            <a:r>
              <a:rPr sz="1200" b="0">
                <a:solidFill>
                  <a:srgbClr val="D47A21"/>
                </a:solidFill>
              </a:rPr>
              <a:t>claude mcp add --transport http atlassian https://mcp.atlassian.com/v1/mcp</a:t>
            </a:r>
          </a:p>
        </p:txBody>
      </p:sp>
      <p:sp>
        <p:nvSpPr>
          <p:cNvPr id="11" name="Rectangle 10"/>
          <p:cNvSpPr/>
          <p:nvPr/>
        </p:nvSpPr>
        <p:spPr>
          <a:xfrm>
            <a:off x="548640" y="3401568"/>
            <a:ext cx="11064240" cy="83210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511296"/>
            <a:ext cx="457200" cy="548640"/>
          </a:xfrm>
          <a:prstGeom prst="rect">
            <a:avLst/>
          </a:prstGeom>
          <a:noFill/>
        </p:spPr>
        <p:txBody>
          <a:bodyPr wrap="square">
            <a:spAutoFit/>
          </a:bodyPr>
          <a:lstStyle/>
          <a:p>
            <a:pPr algn="l"/>
            <a:r>
              <a:rPr sz="2000" b="1">
                <a:solidFill>
                  <a:srgbClr val="D47A21"/>
                </a:solidFill>
              </a:rPr>
              <a:t>2</a:t>
            </a:r>
          </a:p>
        </p:txBody>
      </p:sp>
      <p:sp>
        <p:nvSpPr>
          <p:cNvPr id="13" name="TextBox 12"/>
          <p:cNvSpPr txBox="1"/>
          <p:nvPr/>
        </p:nvSpPr>
        <p:spPr>
          <a:xfrm>
            <a:off x="1280160" y="3493008"/>
            <a:ext cx="9601200" cy="365760"/>
          </a:xfrm>
          <a:prstGeom prst="rect">
            <a:avLst/>
          </a:prstGeom>
          <a:noFill/>
        </p:spPr>
        <p:txBody>
          <a:bodyPr wrap="square">
            <a:spAutoFit/>
          </a:bodyPr>
          <a:lstStyle/>
          <a:p>
            <a:pPr algn="l"/>
            <a:r>
              <a:rPr sz="1300" b="1">
                <a:solidFill>
                  <a:srgbClr val="FFFFFF"/>
                </a:solidFill>
              </a:rPr>
              <a:t>Verify it was added</a:t>
            </a:r>
          </a:p>
        </p:txBody>
      </p:sp>
      <p:sp>
        <p:nvSpPr>
          <p:cNvPr id="14" name="TextBox 13"/>
          <p:cNvSpPr txBox="1"/>
          <p:nvPr/>
        </p:nvSpPr>
        <p:spPr>
          <a:xfrm>
            <a:off x="1280160" y="3858768"/>
            <a:ext cx="9601200" cy="365760"/>
          </a:xfrm>
          <a:prstGeom prst="rect">
            <a:avLst/>
          </a:prstGeom>
          <a:noFill/>
        </p:spPr>
        <p:txBody>
          <a:bodyPr wrap="square">
            <a:spAutoFit/>
          </a:bodyPr>
          <a:lstStyle/>
          <a:p>
            <a:pPr algn="l"/>
            <a:r>
              <a:rPr sz="1200" b="0">
                <a:solidFill>
                  <a:srgbClr val="D47A21"/>
                </a:solidFill>
              </a:rPr>
              <a:t>claude mcp list   -&gt;   you should see atlassian listed as 'Needs authentication'</a:t>
            </a:r>
          </a:p>
        </p:txBody>
      </p:sp>
      <p:sp>
        <p:nvSpPr>
          <p:cNvPr id="15" name="Rectangle 14"/>
          <p:cNvSpPr/>
          <p:nvPr/>
        </p:nvSpPr>
        <p:spPr>
          <a:xfrm>
            <a:off x="548640" y="4288536"/>
            <a:ext cx="11064240" cy="83210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398264"/>
            <a:ext cx="457200" cy="548640"/>
          </a:xfrm>
          <a:prstGeom prst="rect">
            <a:avLst/>
          </a:prstGeom>
          <a:noFill/>
        </p:spPr>
        <p:txBody>
          <a:bodyPr wrap="square">
            <a:spAutoFit/>
          </a:bodyPr>
          <a:lstStyle/>
          <a:p>
            <a:pPr algn="l"/>
            <a:r>
              <a:rPr sz="2000" b="1">
                <a:solidFill>
                  <a:srgbClr val="D47A21"/>
                </a:solidFill>
              </a:rPr>
              <a:t>3</a:t>
            </a:r>
          </a:p>
        </p:txBody>
      </p:sp>
      <p:sp>
        <p:nvSpPr>
          <p:cNvPr id="17" name="TextBox 16"/>
          <p:cNvSpPr txBox="1"/>
          <p:nvPr/>
        </p:nvSpPr>
        <p:spPr>
          <a:xfrm>
            <a:off x="1280160" y="4379976"/>
            <a:ext cx="9601200" cy="365760"/>
          </a:xfrm>
          <a:prstGeom prst="rect">
            <a:avLst/>
          </a:prstGeom>
          <a:noFill/>
        </p:spPr>
        <p:txBody>
          <a:bodyPr wrap="square">
            <a:spAutoFit/>
          </a:bodyPr>
          <a:lstStyle/>
          <a:p>
            <a:pPr algn="l"/>
            <a:r>
              <a:rPr sz="1300" b="1">
                <a:solidFill>
                  <a:srgbClr val="FFFFFF"/>
                </a:solidFill>
              </a:rPr>
              <a:t>Start a Claude session, run /mcp to trigger OAuth login</a:t>
            </a:r>
          </a:p>
        </p:txBody>
      </p:sp>
      <p:sp>
        <p:nvSpPr>
          <p:cNvPr id="18" name="TextBox 17"/>
          <p:cNvSpPr txBox="1"/>
          <p:nvPr/>
        </p:nvSpPr>
        <p:spPr>
          <a:xfrm>
            <a:off x="1280160" y="4745736"/>
            <a:ext cx="9601200" cy="365760"/>
          </a:xfrm>
          <a:prstGeom prst="rect">
            <a:avLst/>
          </a:prstGeom>
          <a:noFill/>
        </p:spPr>
        <p:txBody>
          <a:bodyPr wrap="square">
            <a:spAutoFit/>
          </a:bodyPr>
          <a:lstStyle/>
          <a:p>
            <a:pPr algn="l"/>
            <a:r>
              <a:rPr sz="1200" b="0">
                <a:solidFill>
                  <a:srgbClr val="D47A21"/>
                </a:solidFill>
              </a:rPr>
              <a:t>/mcp   -&gt;   opens your browser, log in with your Atlassian account, authorize</a:t>
            </a:r>
          </a:p>
        </p:txBody>
      </p:sp>
      <p:sp>
        <p:nvSpPr>
          <p:cNvPr id="19" name="Rectangle 18"/>
          <p:cNvSpPr/>
          <p:nvPr/>
        </p:nvSpPr>
        <p:spPr>
          <a:xfrm>
            <a:off x="548640" y="5175504"/>
            <a:ext cx="11064240" cy="83210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285232"/>
            <a:ext cx="457200" cy="548640"/>
          </a:xfrm>
          <a:prstGeom prst="rect">
            <a:avLst/>
          </a:prstGeom>
          <a:noFill/>
        </p:spPr>
        <p:txBody>
          <a:bodyPr wrap="square">
            <a:spAutoFit/>
          </a:bodyPr>
          <a:lstStyle/>
          <a:p>
            <a:pPr algn="l"/>
            <a:r>
              <a:rPr sz="2000" b="1">
                <a:solidFill>
                  <a:srgbClr val="D47A21"/>
                </a:solidFill>
              </a:rPr>
              <a:t>4</a:t>
            </a:r>
          </a:p>
        </p:txBody>
      </p:sp>
      <p:sp>
        <p:nvSpPr>
          <p:cNvPr id="21" name="TextBox 20"/>
          <p:cNvSpPr txBox="1"/>
          <p:nvPr/>
        </p:nvSpPr>
        <p:spPr>
          <a:xfrm>
            <a:off x="1280160" y="5266944"/>
            <a:ext cx="9601200" cy="365760"/>
          </a:xfrm>
          <a:prstGeom prst="rect">
            <a:avLst/>
          </a:prstGeom>
          <a:noFill/>
        </p:spPr>
        <p:txBody>
          <a:bodyPr wrap="square">
            <a:spAutoFit/>
          </a:bodyPr>
          <a:lstStyle/>
          <a:p>
            <a:pPr algn="l"/>
            <a:r>
              <a:rPr sz="1300" b="1">
                <a:solidFill>
                  <a:srgbClr val="FFFFFF"/>
                </a:solidFill>
              </a:rPr>
              <a:t>Confirm connection</a:t>
            </a:r>
          </a:p>
        </p:txBody>
      </p:sp>
      <p:sp>
        <p:nvSpPr>
          <p:cNvPr id="22" name="TextBox 21"/>
          <p:cNvSpPr txBox="1"/>
          <p:nvPr/>
        </p:nvSpPr>
        <p:spPr>
          <a:xfrm>
            <a:off x="1280160" y="5632704"/>
            <a:ext cx="9601200" cy="365760"/>
          </a:xfrm>
          <a:prstGeom prst="rect">
            <a:avLst/>
          </a:prstGeom>
          <a:noFill/>
        </p:spPr>
        <p:txBody>
          <a:bodyPr wrap="square">
            <a:spAutoFit/>
          </a:bodyPr>
          <a:lstStyle/>
          <a:p>
            <a:pPr algn="l"/>
            <a:r>
              <a:rPr sz="1200" b="0">
                <a:solidFill>
                  <a:srgbClr val="D47A21"/>
                </a:solidFill>
              </a:rPr>
              <a:t>claude mcp list again   -&gt;   atlassian should now show 'Connected'</a:t>
            </a:r>
          </a:p>
        </p:txBody>
      </p:sp>
      <p:sp>
        <p:nvSpPr>
          <p:cNvPr id="23" name="TextBox 22"/>
          <p:cNvSpPr txBox="1"/>
          <p:nvPr/>
        </p:nvSpPr>
        <p:spPr>
          <a:xfrm>
            <a:off x="548640" y="6126480"/>
            <a:ext cx="11430000" cy="548640"/>
          </a:xfrm>
          <a:prstGeom prst="rect">
            <a:avLst/>
          </a:prstGeom>
          <a:noFill/>
        </p:spPr>
        <p:txBody>
          <a:bodyPr wrap="square">
            <a:spAutoFit/>
          </a:bodyPr>
          <a:lstStyle/>
          <a:p>
            <a:pPr algn="l"/>
            <a:r>
              <a:rPr sz="1500" b="1">
                <a:solidFill>
                  <a:srgbClr val="D47A21"/>
                </a:solidFill>
              </a:rPr>
              <a:t>one command adds a server, /mcp connects it, and then Claude can talk to your tools directly.</a:t>
            </a:r>
          </a:p>
        </p:txBody>
      </p:sp>
      <p:sp>
        <p:nvSpPr>
          <p:cNvPr id="24" name="Rectangle 23"/>
          <p:cNvSpPr/>
          <p:nvPr/>
        </p:nvSpPr>
        <p:spPr>
          <a:xfrm>
            <a:off x="10698480" y="384048"/>
            <a:ext cx="1005840" cy="292608"/>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000" b="1">
                <a:solidFill>
                  <a:srgbClr val="0D0D0D"/>
                </a:solidFill>
              </a:rPr>
              <a:t>LIVE DEMO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7  -  IDE INTEGRATION</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400" b="1">
                <a:solidFill>
                  <a:srgbClr val="FFFFFF"/>
                </a:solidFill>
              </a:rPr>
              <a:t>Antigravity IDE: Claude Inline in Your Editor</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6858000" cy="457200"/>
          </a:xfrm>
          <a:prstGeom prst="rect">
            <a:avLst/>
          </a:prstGeom>
          <a:noFill/>
        </p:spPr>
        <p:txBody>
          <a:bodyPr wrap="square">
            <a:spAutoFit/>
          </a:bodyPr>
          <a:lstStyle/>
          <a:p>
            <a:pPr algn="l"/>
            <a:r>
              <a:rPr sz="1400" b="0">
                <a:solidFill>
                  <a:srgbClr val="CCCCCC"/>
                </a:solidFill>
              </a:rPr>
              <a:t>Antigravity IDE supports the extension marketplace, so the Claude Code extension installs without extra configuration.</a:t>
            </a:r>
          </a:p>
        </p:txBody>
      </p:sp>
      <p:sp>
        <p:nvSpPr>
          <p:cNvPr id="7" name="TextBox 6"/>
          <p:cNvSpPr txBox="1"/>
          <p:nvPr/>
        </p:nvSpPr>
        <p:spPr>
          <a:xfrm>
            <a:off x="548640" y="2651760"/>
            <a:ext cx="6858000" cy="3291840"/>
          </a:xfrm>
          <a:prstGeom prst="rect">
            <a:avLst/>
          </a:prstGeom>
          <a:noFill/>
        </p:spPr>
        <p:txBody>
          <a:bodyPr wrap="square">
            <a:spAutoFit/>
          </a:bodyPr>
          <a:lstStyle/>
          <a:p>
            <a:pPr algn="l">
              <a:spcAft>
                <a:spcPts val="1000"/>
              </a:spcAft>
            </a:pPr>
            <a:r>
              <a:rPr sz="1600">
                <a:solidFill>
                  <a:srgbClr val="CCCCCC"/>
                </a:solidFill>
              </a:rPr>
              <a:t>  What you get: inline diffs, @-mentions, conversation history in your editor</a:t>
            </a:r>
          </a:p>
          <a:p>
            <a:pPr algn="l">
              <a:spcAft>
                <a:spcPts val="1000"/>
              </a:spcAft>
            </a:pPr>
            <a:r>
              <a:rPr sz="1600">
                <a:solidFill>
                  <a:srgbClr val="CCCCCC"/>
                </a:solidFill>
              </a:rPr>
              <a:t>  Mac install: Cmd+Shift+X to open Extensions, search Claude Code, click Install</a:t>
            </a:r>
          </a:p>
          <a:p>
            <a:pPr algn="l">
              <a:spcAft>
                <a:spcPts val="1000"/>
              </a:spcAft>
            </a:pPr>
            <a:r>
              <a:rPr sz="1600">
                <a:solidFill>
                  <a:srgbClr val="CCCCCC"/>
                </a:solidFill>
              </a:rPr>
              <a:t>  Windows install: Ctrl+Shift+X, search Claude Code, click Install</a:t>
            </a:r>
          </a:p>
          <a:p>
            <a:pPr algn="l">
              <a:spcAft>
                <a:spcPts val="1000"/>
              </a:spcAft>
            </a:pPr>
            <a:r>
              <a:rPr sz="1600">
                <a:solidFill>
                  <a:srgbClr val="CCCCCC"/>
                </a:solidFill>
              </a:rPr>
              <a:t>  After install: Cmd/Ctrl+Shift+P &gt; type Claude Code &gt; Open in New Tab</a:t>
            </a:r>
          </a:p>
          <a:p>
            <a:pPr algn="l">
              <a:spcAft>
                <a:spcPts val="1000"/>
              </a:spcAft>
            </a:pPr>
            <a:r>
              <a:rPr sz="1600">
                <a:solidFill>
                  <a:srgbClr val="CCCCCC"/>
                </a:solidFill>
              </a:rPr>
              <a:t>  Same CLAUDE.md and settings apply - no duplicate setup needed</a:t>
            </a:r>
          </a:p>
          <a:p>
            <a:pPr algn="l">
              <a:spcAft>
                <a:spcPts val="1000"/>
              </a:spcAft>
            </a:pPr>
            <a:r>
              <a:rPr sz="1600">
                <a:solidFill>
                  <a:srgbClr val="CCCCCC"/>
                </a:solidFill>
              </a:rPr>
              <a:t>  Prefer the terminal? You do not need the IDE extension at all</a:t>
            </a:r>
          </a:p>
        </p:txBody>
      </p:sp>
      <p:sp>
        <p:nvSpPr>
          <p:cNvPr id="8" name="Rectangle 7"/>
          <p:cNvSpPr/>
          <p:nvPr/>
        </p:nvSpPr>
        <p:spPr>
          <a:xfrm>
            <a:off x="7772400" y="2103120"/>
            <a:ext cx="4023360" cy="38404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79" y="2286000"/>
            <a:ext cx="3657600" cy="365760"/>
          </a:xfrm>
          <a:prstGeom prst="rect">
            <a:avLst/>
          </a:prstGeom>
          <a:noFill/>
        </p:spPr>
        <p:txBody>
          <a:bodyPr wrap="square">
            <a:spAutoFit/>
          </a:bodyPr>
          <a:lstStyle/>
          <a:p>
            <a:pPr algn="l"/>
            <a:r>
              <a:rPr sz="1300" b="1">
                <a:solidFill>
                  <a:srgbClr val="D47A21"/>
                </a:solidFill>
              </a:rPr>
              <a:t>IDE vs Terminal</a:t>
            </a:r>
          </a:p>
        </p:txBody>
      </p:sp>
      <p:sp>
        <p:nvSpPr>
          <p:cNvPr id="10" name="TextBox 9"/>
          <p:cNvSpPr txBox="1"/>
          <p:nvPr/>
        </p:nvSpPr>
        <p:spPr>
          <a:xfrm>
            <a:off x="7818120" y="2743200"/>
            <a:ext cx="3749039" cy="3017520"/>
          </a:xfrm>
          <a:prstGeom prst="rect">
            <a:avLst/>
          </a:prstGeom>
          <a:noFill/>
        </p:spPr>
        <p:txBody>
          <a:bodyPr wrap="square">
            <a:spAutoFit/>
          </a:bodyPr>
          <a:lstStyle/>
          <a:p>
            <a:pPr algn="l">
              <a:spcAft>
                <a:spcPts val="600"/>
              </a:spcAft>
            </a:pPr>
            <a:r>
              <a:rPr sz="1300">
                <a:solidFill>
                  <a:srgbClr val="CCCCCC"/>
                </a:solidFill>
              </a:rPr>
              <a:t>  IDE: visual diffs, side panel</a:t>
            </a:r>
          </a:p>
          <a:p>
            <a:pPr algn="l">
              <a:spcAft>
                <a:spcPts val="600"/>
              </a:spcAft>
            </a:pPr>
            <a:r>
              <a:rPr sz="1300">
                <a:solidFill>
                  <a:srgbClr val="CCCCCC"/>
                </a:solidFill>
              </a:rPr>
              <a:t>  IDE: @-mention files with cursor</a:t>
            </a:r>
          </a:p>
          <a:p>
            <a:pPr algn="l">
              <a:spcAft>
                <a:spcPts val="600"/>
              </a:spcAft>
            </a:pPr>
            <a:r>
              <a:rPr sz="1300">
                <a:solidFill>
                  <a:srgbClr val="CCCCCC"/>
                </a:solidFill>
              </a:rPr>
              <a:t>  IDE: plan review as markdown doc</a:t>
            </a:r>
          </a:p>
          <a:p>
            <a:pPr algn="l">
              <a:spcAft>
                <a:spcPts val="600"/>
              </a:spcAft>
            </a:pPr>
            <a:r>
              <a:rPr sz="1300">
                <a:solidFill>
                  <a:srgbClr val="CCCCCC"/>
                </a:solidFill>
              </a:rPr>
              <a:t>  Terminal: full command set</a:t>
            </a:r>
          </a:p>
          <a:p>
            <a:pPr algn="l">
              <a:spcAft>
                <a:spcPts val="600"/>
              </a:spcAft>
            </a:pPr>
            <a:r>
              <a:rPr sz="1300">
                <a:solidFill>
                  <a:srgbClr val="CCCCCC"/>
                </a:solidFill>
              </a:rPr>
              <a:t>  Terminal: MCP config via CLI</a:t>
            </a:r>
          </a:p>
          <a:p>
            <a:pPr algn="l">
              <a:spcAft>
                <a:spcPts val="600"/>
              </a:spcAft>
            </a:pPr>
            <a:r>
              <a:rPr sz="1300">
                <a:solidFill>
                  <a:srgbClr val="CCCCCC"/>
                </a:solidFill>
              </a:rPr>
              <a:t>  Both share history and settings</a:t>
            </a:r>
          </a:p>
        </p:txBody>
      </p:sp>
      <p:sp>
        <p:nvSpPr>
          <p:cNvPr id="11" name="TextBox 10"/>
          <p:cNvSpPr txBox="1"/>
          <p:nvPr/>
        </p:nvSpPr>
        <p:spPr>
          <a:xfrm>
            <a:off x="548640" y="6126480"/>
            <a:ext cx="11430000" cy="548640"/>
          </a:xfrm>
          <a:prstGeom prst="rect">
            <a:avLst/>
          </a:prstGeom>
          <a:noFill/>
        </p:spPr>
        <p:txBody>
          <a:bodyPr wrap="square">
            <a:spAutoFit/>
          </a:bodyPr>
          <a:lstStyle/>
          <a:p>
            <a:pPr algn="l"/>
            <a:r>
              <a:rPr sz="1500" b="1">
                <a:solidFill>
                  <a:srgbClr val="D47A21"/>
                </a:solidFill>
              </a:rPr>
              <a:t>start in the IDE if you find terminals intimidating - it gives you visual diffs before Claude edits your files.</a:t>
            </a:r>
          </a:p>
        </p:txBody>
      </p:sp>
      <p:sp>
        <p:nvSpPr>
          <p:cNvPr id="12" name="Rectangle 11"/>
          <p:cNvSpPr/>
          <p:nvPr/>
        </p:nvSpPr>
        <p:spPr>
          <a:xfrm>
            <a:off x="10698480" y="384048"/>
            <a:ext cx="1005840" cy="292608"/>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000" b="1">
                <a:solidFill>
                  <a:srgbClr val="0D0D0D"/>
                </a:solidFill>
              </a:rPr>
              <a:t>LIVE DEMO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8  -  FIRST 10 MINUTES</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400" b="1">
                <a:solidFill>
                  <a:srgbClr val="FFFFFF"/>
                </a:solidFill>
              </a:rPr>
              <a:t>Your First 10 Minutes With Claude Code</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11430000" cy="365760"/>
          </a:xfrm>
          <a:prstGeom prst="rect">
            <a:avLst/>
          </a:prstGeom>
          <a:noFill/>
        </p:spPr>
        <p:txBody>
          <a:bodyPr wrap="square">
            <a:spAutoFit/>
          </a:bodyPr>
          <a:lstStyle/>
          <a:p>
            <a:pPr algn="l"/>
            <a:r>
              <a:rPr sz="1400" b="0">
                <a:solidFill>
                  <a:srgbClr val="888888"/>
                </a:solidFill>
              </a:rPr>
              <a:t>Run these in order. Each step builds on the last.</a:t>
            </a:r>
          </a:p>
        </p:txBody>
      </p:sp>
      <p:sp>
        <p:nvSpPr>
          <p:cNvPr id="7" name="Rectangle 6"/>
          <p:cNvSpPr/>
          <p:nvPr/>
        </p:nvSpPr>
        <p:spPr>
          <a:xfrm>
            <a:off x="548640" y="2423160"/>
            <a:ext cx="11064240" cy="5394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487168"/>
            <a:ext cx="457200" cy="41148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478024"/>
            <a:ext cx="420624" cy="411480"/>
          </a:xfrm>
          <a:prstGeom prst="rect">
            <a:avLst/>
          </a:prstGeom>
          <a:noFill/>
        </p:spPr>
        <p:txBody>
          <a:bodyPr wrap="square">
            <a:spAutoFit/>
          </a:bodyPr>
          <a:lstStyle/>
          <a:p>
            <a:pPr algn="ctr"/>
            <a:r>
              <a:rPr sz="1400" b="1">
                <a:solidFill>
                  <a:srgbClr val="0D0D0D"/>
                </a:solidFill>
              </a:rPr>
              <a:t>1</a:t>
            </a:r>
          </a:p>
        </p:txBody>
      </p:sp>
      <p:sp>
        <p:nvSpPr>
          <p:cNvPr id="10" name="TextBox 9"/>
          <p:cNvSpPr txBox="1"/>
          <p:nvPr/>
        </p:nvSpPr>
        <p:spPr>
          <a:xfrm>
            <a:off x="1143000" y="2459736"/>
            <a:ext cx="3291840" cy="256032"/>
          </a:xfrm>
          <a:prstGeom prst="rect">
            <a:avLst/>
          </a:prstGeom>
          <a:noFill/>
        </p:spPr>
        <p:txBody>
          <a:bodyPr wrap="square">
            <a:spAutoFit/>
          </a:bodyPr>
          <a:lstStyle/>
          <a:p>
            <a:pPr algn="l"/>
            <a:r>
              <a:rPr sz="1200" b="1">
                <a:solidFill>
                  <a:srgbClr val="FFFFFF"/>
                </a:solidFill>
              </a:rPr>
              <a:t>Install + verify</a:t>
            </a:r>
          </a:p>
        </p:txBody>
      </p:sp>
      <p:sp>
        <p:nvSpPr>
          <p:cNvPr id="11" name="TextBox 10"/>
          <p:cNvSpPr txBox="1"/>
          <p:nvPr/>
        </p:nvSpPr>
        <p:spPr>
          <a:xfrm>
            <a:off x="1143000" y="2715768"/>
            <a:ext cx="10058400" cy="237744"/>
          </a:xfrm>
          <a:prstGeom prst="rect">
            <a:avLst/>
          </a:prstGeom>
          <a:noFill/>
        </p:spPr>
        <p:txBody>
          <a:bodyPr wrap="square">
            <a:spAutoFit/>
          </a:bodyPr>
          <a:lstStyle/>
          <a:p>
            <a:pPr algn="l"/>
            <a:r>
              <a:rPr sz="1000" b="0">
                <a:solidFill>
                  <a:srgbClr val="CCCCCC"/>
                </a:solidFill>
              </a:rPr>
              <a:t>curl -fsSL https://claude.ai/install.sh | bash   -&gt;   claude --version   -&gt;   claude doctor</a:t>
            </a:r>
          </a:p>
        </p:txBody>
      </p:sp>
      <p:sp>
        <p:nvSpPr>
          <p:cNvPr id="12" name="Rectangle 11"/>
          <p:cNvSpPr/>
          <p:nvPr/>
        </p:nvSpPr>
        <p:spPr>
          <a:xfrm>
            <a:off x="548640" y="3017520"/>
            <a:ext cx="11064240" cy="5394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081528"/>
            <a:ext cx="457200" cy="41148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072384"/>
            <a:ext cx="420624" cy="411480"/>
          </a:xfrm>
          <a:prstGeom prst="rect">
            <a:avLst/>
          </a:prstGeom>
          <a:noFill/>
        </p:spPr>
        <p:txBody>
          <a:bodyPr wrap="square">
            <a:spAutoFit/>
          </a:bodyPr>
          <a:lstStyle/>
          <a:p>
            <a:pPr algn="ctr"/>
            <a:r>
              <a:rPr sz="1400" b="1">
                <a:solidFill>
                  <a:srgbClr val="0D0D0D"/>
                </a:solidFill>
              </a:rPr>
              <a:t>2</a:t>
            </a:r>
          </a:p>
        </p:txBody>
      </p:sp>
      <p:sp>
        <p:nvSpPr>
          <p:cNvPr id="15" name="TextBox 14"/>
          <p:cNvSpPr txBox="1"/>
          <p:nvPr/>
        </p:nvSpPr>
        <p:spPr>
          <a:xfrm>
            <a:off x="1143000" y="3054096"/>
            <a:ext cx="3291840" cy="256032"/>
          </a:xfrm>
          <a:prstGeom prst="rect">
            <a:avLst/>
          </a:prstGeom>
          <a:noFill/>
        </p:spPr>
        <p:txBody>
          <a:bodyPr wrap="square">
            <a:spAutoFit/>
          </a:bodyPr>
          <a:lstStyle/>
          <a:p>
            <a:pPr algn="l"/>
            <a:r>
              <a:rPr sz="1200" b="1">
                <a:solidFill>
                  <a:srgbClr val="FFFFFF"/>
                </a:solidFill>
              </a:rPr>
              <a:t>First launch + login</a:t>
            </a:r>
          </a:p>
        </p:txBody>
      </p:sp>
      <p:sp>
        <p:nvSpPr>
          <p:cNvPr id="16" name="TextBox 15"/>
          <p:cNvSpPr txBox="1"/>
          <p:nvPr/>
        </p:nvSpPr>
        <p:spPr>
          <a:xfrm>
            <a:off x="1143000" y="3310128"/>
            <a:ext cx="10058400" cy="237744"/>
          </a:xfrm>
          <a:prstGeom prst="rect">
            <a:avLst/>
          </a:prstGeom>
          <a:noFill/>
        </p:spPr>
        <p:txBody>
          <a:bodyPr wrap="square">
            <a:spAutoFit/>
          </a:bodyPr>
          <a:lstStyle/>
          <a:p>
            <a:pPr algn="l"/>
            <a:r>
              <a:rPr sz="1000" b="0">
                <a:solidFill>
                  <a:srgbClr val="CCCCCC"/>
                </a:solidFill>
              </a:rPr>
              <a:t>Navigate to a project folder: cd ~/Desktop/my-project   then: claude</a:t>
            </a:r>
          </a:p>
        </p:txBody>
      </p:sp>
      <p:sp>
        <p:nvSpPr>
          <p:cNvPr id="17" name="Rectangle 16"/>
          <p:cNvSpPr/>
          <p:nvPr/>
        </p:nvSpPr>
        <p:spPr>
          <a:xfrm>
            <a:off x="548640" y="3611880"/>
            <a:ext cx="11064240" cy="5394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675888"/>
            <a:ext cx="457200" cy="41148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666744"/>
            <a:ext cx="420624" cy="411480"/>
          </a:xfrm>
          <a:prstGeom prst="rect">
            <a:avLst/>
          </a:prstGeom>
          <a:noFill/>
        </p:spPr>
        <p:txBody>
          <a:bodyPr wrap="square">
            <a:spAutoFit/>
          </a:bodyPr>
          <a:lstStyle/>
          <a:p>
            <a:pPr algn="ctr"/>
            <a:r>
              <a:rPr sz="1400" b="1">
                <a:solidFill>
                  <a:srgbClr val="0D0D0D"/>
                </a:solidFill>
              </a:rPr>
              <a:t>3</a:t>
            </a:r>
          </a:p>
        </p:txBody>
      </p:sp>
      <p:sp>
        <p:nvSpPr>
          <p:cNvPr id="20" name="TextBox 19"/>
          <p:cNvSpPr txBox="1"/>
          <p:nvPr/>
        </p:nvSpPr>
        <p:spPr>
          <a:xfrm>
            <a:off x="1143000" y="3648456"/>
            <a:ext cx="3291840" cy="256032"/>
          </a:xfrm>
          <a:prstGeom prst="rect">
            <a:avLst/>
          </a:prstGeom>
          <a:noFill/>
        </p:spPr>
        <p:txBody>
          <a:bodyPr wrap="square">
            <a:spAutoFit/>
          </a:bodyPr>
          <a:lstStyle/>
          <a:p>
            <a:pPr algn="l"/>
            <a:r>
              <a:rPr sz="1200" b="1">
                <a:solidFill>
                  <a:srgbClr val="FFFFFF"/>
                </a:solidFill>
              </a:rPr>
              <a:t>Pick Claude account with subscription, complete browser OAuth</a:t>
            </a:r>
          </a:p>
        </p:txBody>
      </p:sp>
      <p:sp>
        <p:nvSpPr>
          <p:cNvPr id="21" name="TextBox 20"/>
          <p:cNvSpPr txBox="1"/>
          <p:nvPr/>
        </p:nvSpPr>
        <p:spPr>
          <a:xfrm>
            <a:off x="1143000" y="3904488"/>
            <a:ext cx="10058400" cy="237744"/>
          </a:xfrm>
          <a:prstGeom prst="rect">
            <a:avLst/>
          </a:prstGeom>
          <a:noFill/>
        </p:spPr>
        <p:txBody>
          <a:bodyPr wrap="square">
            <a:spAutoFit/>
          </a:bodyPr>
          <a:lstStyle/>
          <a:p>
            <a:pPr algn="l"/>
            <a:r>
              <a:rPr sz="1000" b="0">
                <a:solidFill>
                  <a:srgbClr val="CCCCCC"/>
                </a:solidFill>
              </a:rPr>
              <a:t>Press c if browser does not open. Choose light or dark theme when prompted.</a:t>
            </a:r>
          </a:p>
        </p:txBody>
      </p:sp>
      <p:sp>
        <p:nvSpPr>
          <p:cNvPr id="22" name="Rectangle 21"/>
          <p:cNvSpPr/>
          <p:nvPr/>
        </p:nvSpPr>
        <p:spPr>
          <a:xfrm>
            <a:off x="548640" y="4206240"/>
            <a:ext cx="11064240" cy="5394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4270248"/>
            <a:ext cx="457200" cy="41148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4261104"/>
            <a:ext cx="420624" cy="411480"/>
          </a:xfrm>
          <a:prstGeom prst="rect">
            <a:avLst/>
          </a:prstGeom>
          <a:noFill/>
        </p:spPr>
        <p:txBody>
          <a:bodyPr wrap="square">
            <a:spAutoFit/>
          </a:bodyPr>
          <a:lstStyle/>
          <a:p>
            <a:pPr algn="ctr"/>
            <a:r>
              <a:rPr sz="1400" b="1">
                <a:solidFill>
                  <a:srgbClr val="0D0D0D"/>
                </a:solidFill>
              </a:rPr>
              <a:t>4</a:t>
            </a:r>
          </a:p>
        </p:txBody>
      </p:sp>
      <p:sp>
        <p:nvSpPr>
          <p:cNvPr id="25" name="TextBox 24"/>
          <p:cNvSpPr txBox="1"/>
          <p:nvPr/>
        </p:nvSpPr>
        <p:spPr>
          <a:xfrm>
            <a:off x="1143000" y="4242816"/>
            <a:ext cx="3291840" cy="256032"/>
          </a:xfrm>
          <a:prstGeom prst="rect">
            <a:avLst/>
          </a:prstGeom>
          <a:noFill/>
        </p:spPr>
        <p:txBody>
          <a:bodyPr wrap="square">
            <a:spAutoFit/>
          </a:bodyPr>
          <a:lstStyle/>
          <a:p>
            <a:pPr algn="l"/>
            <a:r>
              <a:rPr sz="1200" b="1">
                <a:solidFill>
                  <a:srgbClr val="FFFFFF"/>
                </a:solidFill>
              </a:rPr>
              <a:t>Run your first prompt</a:t>
            </a:r>
          </a:p>
        </p:txBody>
      </p:sp>
      <p:sp>
        <p:nvSpPr>
          <p:cNvPr id="26" name="TextBox 25"/>
          <p:cNvSpPr txBox="1"/>
          <p:nvPr/>
        </p:nvSpPr>
        <p:spPr>
          <a:xfrm>
            <a:off x="1143000" y="4498848"/>
            <a:ext cx="10058400" cy="237744"/>
          </a:xfrm>
          <a:prstGeom prst="rect">
            <a:avLst/>
          </a:prstGeom>
          <a:noFill/>
        </p:spPr>
        <p:txBody>
          <a:bodyPr wrap="square">
            <a:spAutoFit/>
          </a:bodyPr>
          <a:lstStyle/>
          <a:p>
            <a:pPr algn="l"/>
            <a:r>
              <a:rPr sz="1000" b="0">
                <a:solidFill>
                  <a:srgbClr val="CCCCCC"/>
                </a:solidFill>
              </a:rPr>
              <a:t>Type: what does this project do?   Claude reads your files and responds. No file-pointing needed.</a:t>
            </a:r>
          </a:p>
        </p:txBody>
      </p:sp>
      <p:sp>
        <p:nvSpPr>
          <p:cNvPr id="27" name="Rectangle 26"/>
          <p:cNvSpPr/>
          <p:nvPr/>
        </p:nvSpPr>
        <p:spPr>
          <a:xfrm>
            <a:off x="548640" y="4800600"/>
            <a:ext cx="11064240" cy="5394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4864608"/>
            <a:ext cx="457200" cy="41148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855464"/>
            <a:ext cx="420624" cy="411480"/>
          </a:xfrm>
          <a:prstGeom prst="rect">
            <a:avLst/>
          </a:prstGeom>
          <a:noFill/>
        </p:spPr>
        <p:txBody>
          <a:bodyPr wrap="square">
            <a:spAutoFit/>
          </a:bodyPr>
          <a:lstStyle/>
          <a:p>
            <a:pPr algn="ctr"/>
            <a:r>
              <a:rPr sz="1400" b="1">
                <a:solidFill>
                  <a:srgbClr val="0D0D0D"/>
                </a:solidFill>
              </a:rPr>
              <a:t>5</a:t>
            </a:r>
          </a:p>
        </p:txBody>
      </p:sp>
      <p:sp>
        <p:nvSpPr>
          <p:cNvPr id="30" name="TextBox 29"/>
          <p:cNvSpPr txBox="1"/>
          <p:nvPr/>
        </p:nvSpPr>
        <p:spPr>
          <a:xfrm>
            <a:off x="1143000" y="4837176"/>
            <a:ext cx="3291840" cy="256032"/>
          </a:xfrm>
          <a:prstGeom prst="rect">
            <a:avLst/>
          </a:prstGeom>
          <a:noFill/>
        </p:spPr>
        <p:txBody>
          <a:bodyPr wrap="square">
            <a:spAutoFit/>
          </a:bodyPr>
          <a:lstStyle/>
          <a:p>
            <a:pPr algn="l"/>
            <a:r>
              <a:rPr sz="1200" b="1">
                <a:solidFill>
                  <a:srgbClr val="FFFFFF"/>
                </a:solidFill>
              </a:rPr>
              <a:t>Test /help, /clear, ESC</a:t>
            </a:r>
          </a:p>
        </p:txBody>
      </p:sp>
      <p:sp>
        <p:nvSpPr>
          <p:cNvPr id="31" name="TextBox 30"/>
          <p:cNvSpPr txBox="1"/>
          <p:nvPr/>
        </p:nvSpPr>
        <p:spPr>
          <a:xfrm>
            <a:off x="1143000" y="5093208"/>
            <a:ext cx="10058400" cy="237744"/>
          </a:xfrm>
          <a:prstGeom prst="rect">
            <a:avLst/>
          </a:prstGeom>
          <a:noFill/>
        </p:spPr>
        <p:txBody>
          <a:bodyPr wrap="square">
            <a:spAutoFit/>
          </a:bodyPr>
          <a:lstStyle/>
          <a:p>
            <a:pPr algn="l"/>
            <a:r>
              <a:rPr sz="1000" b="0">
                <a:solidFill>
                  <a:srgbClr val="CCCCCC"/>
                </a:solidFill>
              </a:rPr>
              <a:t>/help to see commands. /clear to reset context. Press ESC mid-response to interrupt.</a:t>
            </a:r>
          </a:p>
        </p:txBody>
      </p:sp>
      <p:sp>
        <p:nvSpPr>
          <p:cNvPr id="32" name="Rectangle 31"/>
          <p:cNvSpPr/>
          <p:nvPr/>
        </p:nvSpPr>
        <p:spPr>
          <a:xfrm>
            <a:off x="548640" y="5394960"/>
            <a:ext cx="11064240" cy="5394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458968"/>
            <a:ext cx="457200" cy="41148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 y="5449824"/>
            <a:ext cx="420624" cy="411480"/>
          </a:xfrm>
          <a:prstGeom prst="rect">
            <a:avLst/>
          </a:prstGeom>
          <a:noFill/>
        </p:spPr>
        <p:txBody>
          <a:bodyPr wrap="square">
            <a:spAutoFit/>
          </a:bodyPr>
          <a:lstStyle/>
          <a:p>
            <a:pPr algn="ctr"/>
            <a:r>
              <a:rPr sz="1400" b="1">
                <a:solidFill>
                  <a:srgbClr val="0D0D0D"/>
                </a:solidFill>
              </a:rPr>
              <a:t>6</a:t>
            </a:r>
          </a:p>
        </p:txBody>
      </p:sp>
      <p:sp>
        <p:nvSpPr>
          <p:cNvPr id="35" name="TextBox 34"/>
          <p:cNvSpPr txBox="1"/>
          <p:nvPr/>
        </p:nvSpPr>
        <p:spPr>
          <a:xfrm>
            <a:off x="1143000" y="5431536"/>
            <a:ext cx="3291840" cy="256032"/>
          </a:xfrm>
          <a:prstGeom prst="rect">
            <a:avLst/>
          </a:prstGeom>
          <a:noFill/>
        </p:spPr>
        <p:txBody>
          <a:bodyPr wrap="square">
            <a:spAutoFit/>
          </a:bodyPr>
          <a:lstStyle/>
          <a:p>
            <a:pPr algn="l"/>
            <a:r>
              <a:rPr sz="1200" b="1">
                <a:solidFill>
                  <a:srgbClr val="FFFFFF"/>
                </a:solidFill>
              </a:rPr>
              <a:t>Set up plan mode</a:t>
            </a:r>
          </a:p>
        </p:txBody>
      </p:sp>
      <p:sp>
        <p:nvSpPr>
          <p:cNvPr id="36" name="TextBox 35"/>
          <p:cNvSpPr txBox="1"/>
          <p:nvPr/>
        </p:nvSpPr>
        <p:spPr>
          <a:xfrm>
            <a:off x="1143000" y="5687568"/>
            <a:ext cx="10058400" cy="237744"/>
          </a:xfrm>
          <a:prstGeom prst="rect">
            <a:avLst/>
          </a:prstGeom>
          <a:noFill/>
        </p:spPr>
        <p:txBody>
          <a:bodyPr wrap="square">
            <a:spAutoFit/>
          </a:bodyPr>
          <a:lstStyle/>
          <a:p>
            <a:pPr algn="l"/>
            <a:r>
              <a:rPr sz="1000" b="0">
                <a:solidFill>
                  <a:srgbClr val="CCCCCC"/>
                </a:solidFill>
              </a:rPr>
              <a:t>Press Shift+Tab to cycle to Plan mode. Try: summarize this folder. Review the plan before approving.</a:t>
            </a:r>
          </a:p>
        </p:txBody>
      </p:sp>
      <p:sp>
        <p:nvSpPr>
          <p:cNvPr id="37" name="TextBox 36"/>
          <p:cNvSpPr txBox="1"/>
          <p:nvPr/>
        </p:nvSpPr>
        <p:spPr>
          <a:xfrm>
            <a:off x="548640" y="6172200"/>
            <a:ext cx="11430000" cy="411480"/>
          </a:xfrm>
          <a:prstGeom prst="rect">
            <a:avLst/>
          </a:prstGeom>
          <a:noFill/>
        </p:spPr>
        <p:txBody>
          <a:bodyPr wrap="square">
            <a:spAutoFit/>
          </a:bodyPr>
          <a:lstStyle/>
          <a:p>
            <a:pPr algn="l"/>
            <a:r>
              <a:rPr sz="1400" b="1">
                <a:solidFill>
                  <a:srgbClr val="D47A21"/>
                </a:solidFill>
              </a:rPr>
              <a:t>10 minutes of setup pays back in every session after - do not skip the verify steps.</a:t>
            </a:r>
          </a:p>
        </p:txBody>
      </p:sp>
      <p:sp>
        <p:nvSpPr>
          <p:cNvPr id="38" name="Rectangle 37"/>
          <p:cNvSpPr/>
          <p:nvPr/>
        </p:nvSpPr>
        <p:spPr>
          <a:xfrm>
            <a:off x="10698480" y="384048"/>
            <a:ext cx="1005840" cy="292608"/>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000" b="1">
                <a:solidFill>
                  <a:srgbClr val="0D0D0D"/>
                </a:solidFill>
              </a:rPr>
              <a:t>LIVE DEMO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8  -  FIRST 10 MINUTES</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400" b="1">
                <a:solidFill>
                  <a:srgbClr val="FFFFFF"/>
                </a:solidFill>
              </a:rPr>
              <a:t>Ten Prompts to Run in Your First Session</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11430000" cy="365760"/>
          </a:xfrm>
          <a:prstGeom prst="rect">
            <a:avLst/>
          </a:prstGeom>
          <a:noFill/>
        </p:spPr>
        <p:txBody>
          <a:bodyPr wrap="square">
            <a:spAutoFit/>
          </a:bodyPr>
          <a:lstStyle/>
          <a:p>
            <a:pPr algn="l"/>
            <a:r>
              <a:rPr sz="1400" b="0">
                <a:solidFill>
                  <a:srgbClr val="888888"/>
                </a:solidFill>
              </a:rPr>
              <a:t>Copy-paste these. They show what Claude Code can do without any coding required.</a:t>
            </a:r>
          </a:p>
        </p:txBody>
      </p:sp>
      <p:sp>
        <p:nvSpPr>
          <p:cNvPr id="7" name="Rectangle 6"/>
          <p:cNvSpPr/>
          <p:nvPr/>
        </p:nvSpPr>
        <p:spPr>
          <a:xfrm>
            <a:off x="457200" y="2514600"/>
            <a:ext cx="5669280" cy="5943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587752"/>
            <a:ext cx="365760" cy="457200"/>
          </a:xfrm>
          <a:prstGeom prst="rect">
            <a:avLst/>
          </a:prstGeom>
          <a:noFill/>
        </p:spPr>
        <p:txBody>
          <a:bodyPr wrap="square">
            <a:spAutoFit/>
          </a:bodyPr>
          <a:lstStyle/>
          <a:p>
            <a:pPr algn="l"/>
            <a:r>
              <a:rPr sz="1300" b="1">
                <a:solidFill>
                  <a:srgbClr val="D47A21"/>
                </a:solidFill>
              </a:rPr>
              <a:t>1.</a:t>
            </a:r>
          </a:p>
        </p:txBody>
      </p:sp>
      <p:sp>
        <p:nvSpPr>
          <p:cNvPr id="9" name="TextBox 8"/>
          <p:cNvSpPr txBox="1"/>
          <p:nvPr/>
        </p:nvSpPr>
        <p:spPr>
          <a:xfrm>
            <a:off x="1005840" y="2587752"/>
            <a:ext cx="4937760" cy="457200"/>
          </a:xfrm>
          <a:prstGeom prst="rect">
            <a:avLst/>
          </a:prstGeom>
          <a:noFill/>
        </p:spPr>
        <p:txBody>
          <a:bodyPr wrap="square">
            <a:spAutoFit/>
          </a:bodyPr>
          <a:lstStyle/>
          <a:p>
            <a:pPr algn="l"/>
            <a:r>
              <a:rPr sz="1200" b="0">
                <a:solidFill>
                  <a:srgbClr val="CCCCCC"/>
                </a:solidFill>
              </a:rPr>
              <a:t>What project is this and what is my role?</a:t>
            </a:r>
          </a:p>
        </p:txBody>
      </p:sp>
      <p:sp>
        <p:nvSpPr>
          <p:cNvPr id="10" name="Rectangle 9"/>
          <p:cNvSpPr/>
          <p:nvPr/>
        </p:nvSpPr>
        <p:spPr>
          <a:xfrm>
            <a:off x="457200" y="3200400"/>
            <a:ext cx="5669280" cy="5943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273552"/>
            <a:ext cx="365760" cy="457200"/>
          </a:xfrm>
          <a:prstGeom prst="rect">
            <a:avLst/>
          </a:prstGeom>
          <a:noFill/>
        </p:spPr>
        <p:txBody>
          <a:bodyPr wrap="square">
            <a:spAutoFit/>
          </a:bodyPr>
          <a:lstStyle/>
          <a:p>
            <a:pPr algn="l"/>
            <a:r>
              <a:rPr sz="1300" b="1">
                <a:solidFill>
                  <a:srgbClr val="D47A21"/>
                </a:solidFill>
              </a:rPr>
              <a:t>2.</a:t>
            </a:r>
          </a:p>
        </p:txBody>
      </p:sp>
      <p:sp>
        <p:nvSpPr>
          <p:cNvPr id="12" name="TextBox 11"/>
          <p:cNvSpPr txBox="1"/>
          <p:nvPr/>
        </p:nvSpPr>
        <p:spPr>
          <a:xfrm>
            <a:off x="1005840" y="3273552"/>
            <a:ext cx="4937760" cy="457200"/>
          </a:xfrm>
          <a:prstGeom prst="rect">
            <a:avLst/>
          </a:prstGeom>
          <a:noFill/>
        </p:spPr>
        <p:txBody>
          <a:bodyPr wrap="square">
            <a:spAutoFit/>
          </a:bodyPr>
          <a:lstStyle/>
          <a:p>
            <a:pPr algn="l"/>
            <a:r>
              <a:rPr sz="1200" b="0">
                <a:solidFill>
                  <a:srgbClr val="CCCCCC"/>
                </a:solidFill>
              </a:rPr>
              <a:t>Read 03-product-knowledge/competitive.md - where are we most at risk?</a:t>
            </a:r>
          </a:p>
        </p:txBody>
      </p:sp>
      <p:sp>
        <p:nvSpPr>
          <p:cNvPr id="13" name="Rectangle 12"/>
          <p:cNvSpPr/>
          <p:nvPr/>
        </p:nvSpPr>
        <p:spPr>
          <a:xfrm>
            <a:off x="457200" y="3886200"/>
            <a:ext cx="5669280" cy="5943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959352"/>
            <a:ext cx="365760" cy="457200"/>
          </a:xfrm>
          <a:prstGeom prst="rect">
            <a:avLst/>
          </a:prstGeom>
          <a:noFill/>
        </p:spPr>
        <p:txBody>
          <a:bodyPr wrap="square">
            <a:spAutoFit/>
          </a:bodyPr>
          <a:lstStyle/>
          <a:p>
            <a:pPr algn="l"/>
            <a:r>
              <a:rPr sz="1300" b="1">
                <a:solidFill>
                  <a:srgbClr val="D47A21"/>
                </a:solidFill>
              </a:rPr>
              <a:t>3.</a:t>
            </a:r>
          </a:p>
        </p:txBody>
      </p:sp>
      <p:sp>
        <p:nvSpPr>
          <p:cNvPr id="15" name="TextBox 14"/>
          <p:cNvSpPr txBox="1"/>
          <p:nvPr/>
        </p:nvSpPr>
        <p:spPr>
          <a:xfrm>
            <a:off x="1005840" y="3959352"/>
            <a:ext cx="4937760" cy="457200"/>
          </a:xfrm>
          <a:prstGeom prst="rect">
            <a:avLst/>
          </a:prstGeom>
          <a:noFill/>
        </p:spPr>
        <p:txBody>
          <a:bodyPr wrap="square">
            <a:spAutoFit/>
          </a:bodyPr>
          <a:lstStyle/>
          <a:p>
            <a:pPr algn="l"/>
            <a:r>
              <a:rPr sz="1200" b="0">
                <a:solidFill>
                  <a:srgbClr val="CCCCCC"/>
                </a:solidFill>
              </a:rPr>
              <a:t>Read all files in 07-user-interviews/ - top 3 user frustrations</a:t>
            </a:r>
          </a:p>
        </p:txBody>
      </p:sp>
      <p:sp>
        <p:nvSpPr>
          <p:cNvPr id="16" name="Rectangle 15"/>
          <p:cNvSpPr/>
          <p:nvPr/>
        </p:nvSpPr>
        <p:spPr>
          <a:xfrm>
            <a:off x="457200" y="4572000"/>
            <a:ext cx="5669280" cy="5943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4645152"/>
            <a:ext cx="365760" cy="457200"/>
          </a:xfrm>
          <a:prstGeom prst="rect">
            <a:avLst/>
          </a:prstGeom>
          <a:noFill/>
        </p:spPr>
        <p:txBody>
          <a:bodyPr wrap="square">
            <a:spAutoFit/>
          </a:bodyPr>
          <a:lstStyle/>
          <a:p>
            <a:pPr algn="l"/>
            <a:r>
              <a:rPr sz="1300" b="1">
                <a:solidFill>
                  <a:srgbClr val="D47A21"/>
                </a:solidFill>
              </a:rPr>
              <a:t>4.</a:t>
            </a:r>
          </a:p>
        </p:txBody>
      </p:sp>
      <p:sp>
        <p:nvSpPr>
          <p:cNvPr id="18" name="TextBox 17"/>
          <p:cNvSpPr txBox="1"/>
          <p:nvPr/>
        </p:nvSpPr>
        <p:spPr>
          <a:xfrm>
            <a:off x="1005840" y="4645152"/>
            <a:ext cx="4937760" cy="457200"/>
          </a:xfrm>
          <a:prstGeom prst="rect">
            <a:avLst/>
          </a:prstGeom>
          <a:noFill/>
        </p:spPr>
        <p:txBody>
          <a:bodyPr wrap="square">
            <a:spAutoFit/>
          </a:bodyPr>
          <a:lstStyle/>
          <a:p>
            <a:pPr algn="l"/>
            <a:r>
              <a:rPr sz="1200" b="0">
                <a:solidFill>
                  <a:srgbClr val="CCCCCC"/>
                </a:solidFill>
              </a:rPr>
              <a:t>Is there anyone in the interviews who does not have a persona file?</a:t>
            </a:r>
          </a:p>
        </p:txBody>
      </p:sp>
      <p:sp>
        <p:nvSpPr>
          <p:cNvPr id="19" name="Rectangle 18"/>
          <p:cNvSpPr/>
          <p:nvPr/>
        </p:nvSpPr>
        <p:spPr>
          <a:xfrm>
            <a:off x="457200" y="5257800"/>
            <a:ext cx="5669280" cy="5943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5330952"/>
            <a:ext cx="365760" cy="457200"/>
          </a:xfrm>
          <a:prstGeom prst="rect">
            <a:avLst/>
          </a:prstGeom>
          <a:noFill/>
        </p:spPr>
        <p:txBody>
          <a:bodyPr wrap="square">
            <a:spAutoFit/>
          </a:bodyPr>
          <a:lstStyle/>
          <a:p>
            <a:pPr algn="l"/>
            <a:r>
              <a:rPr sz="1300" b="1">
                <a:solidFill>
                  <a:srgbClr val="D47A21"/>
                </a:solidFill>
              </a:rPr>
              <a:t>5.</a:t>
            </a:r>
          </a:p>
        </p:txBody>
      </p:sp>
      <p:sp>
        <p:nvSpPr>
          <p:cNvPr id="21" name="TextBox 20"/>
          <p:cNvSpPr txBox="1"/>
          <p:nvPr/>
        </p:nvSpPr>
        <p:spPr>
          <a:xfrm>
            <a:off x="1005840" y="5330952"/>
            <a:ext cx="4937760" cy="457200"/>
          </a:xfrm>
          <a:prstGeom prst="rect">
            <a:avLst/>
          </a:prstGeom>
          <a:noFill/>
        </p:spPr>
        <p:txBody>
          <a:bodyPr wrap="square">
            <a:spAutoFit/>
          </a:bodyPr>
          <a:lstStyle/>
          <a:p>
            <a:pPr algn="l"/>
            <a:r>
              <a:rPr sz="1200" b="0">
                <a:solidFill>
                  <a:srgbClr val="CCCCCC"/>
                </a:solidFill>
              </a:rPr>
              <a:t>NPS went from 22 to 34. What caused the jump?</a:t>
            </a:r>
          </a:p>
        </p:txBody>
      </p:sp>
      <p:sp>
        <p:nvSpPr>
          <p:cNvPr id="22" name="Rectangle 21"/>
          <p:cNvSpPr/>
          <p:nvPr/>
        </p:nvSpPr>
        <p:spPr>
          <a:xfrm>
            <a:off x="6400800" y="2514600"/>
            <a:ext cx="5669280" cy="5943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37960" y="2587752"/>
            <a:ext cx="411480" cy="457200"/>
          </a:xfrm>
          <a:prstGeom prst="rect">
            <a:avLst/>
          </a:prstGeom>
          <a:noFill/>
        </p:spPr>
        <p:txBody>
          <a:bodyPr wrap="square">
            <a:spAutoFit/>
          </a:bodyPr>
          <a:lstStyle/>
          <a:p>
            <a:pPr algn="l"/>
            <a:r>
              <a:rPr sz="1300" b="1">
                <a:solidFill>
                  <a:srgbClr val="D47A21"/>
                </a:solidFill>
              </a:rPr>
              <a:t>6.</a:t>
            </a:r>
          </a:p>
        </p:txBody>
      </p:sp>
      <p:sp>
        <p:nvSpPr>
          <p:cNvPr id="24" name="TextBox 23"/>
          <p:cNvSpPr txBox="1"/>
          <p:nvPr/>
        </p:nvSpPr>
        <p:spPr>
          <a:xfrm>
            <a:off x="6995160" y="2587752"/>
            <a:ext cx="4937760" cy="457200"/>
          </a:xfrm>
          <a:prstGeom prst="rect">
            <a:avLst/>
          </a:prstGeom>
          <a:noFill/>
        </p:spPr>
        <p:txBody>
          <a:bodyPr wrap="square">
            <a:spAutoFit/>
          </a:bodyPr>
          <a:lstStyle/>
          <a:p>
            <a:pPr algn="l"/>
            <a:r>
              <a:rPr sz="1200" b="0">
                <a:solidFill>
                  <a:srgbClr val="CCCCCC"/>
                </a:solidFill>
              </a:rPr>
              <a:t>Read the sprint backlog. Is April still realistic for Smart Follow-Up?</a:t>
            </a:r>
          </a:p>
        </p:txBody>
      </p:sp>
      <p:sp>
        <p:nvSpPr>
          <p:cNvPr id="25" name="Rectangle 24"/>
          <p:cNvSpPr/>
          <p:nvPr/>
        </p:nvSpPr>
        <p:spPr>
          <a:xfrm>
            <a:off x="6400800" y="3200400"/>
            <a:ext cx="5669280" cy="5943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37960" y="3273552"/>
            <a:ext cx="411480" cy="457200"/>
          </a:xfrm>
          <a:prstGeom prst="rect">
            <a:avLst/>
          </a:prstGeom>
          <a:noFill/>
        </p:spPr>
        <p:txBody>
          <a:bodyPr wrap="square">
            <a:spAutoFit/>
          </a:bodyPr>
          <a:lstStyle/>
          <a:p>
            <a:pPr algn="l"/>
            <a:r>
              <a:rPr sz="1300" b="1">
                <a:solidFill>
                  <a:srgbClr val="D47A21"/>
                </a:solidFill>
              </a:rPr>
              <a:t>7.</a:t>
            </a:r>
          </a:p>
        </p:txBody>
      </p:sp>
      <p:sp>
        <p:nvSpPr>
          <p:cNvPr id="27" name="TextBox 26"/>
          <p:cNvSpPr txBox="1"/>
          <p:nvPr/>
        </p:nvSpPr>
        <p:spPr>
          <a:xfrm>
            <a:off x="6995160" y="3273552"/>
            <a:ext cx="4937760" cy="457200"/>
          </a:xfrm>
          <a:prstGeom prst="rect">
            <a:avLst/>
          </a:prstGeom>
          <a:noFill/>
        </p:spPr>
        <p:txBody>
          <a:bodyPr wrap="square">
            <a:spAutoFit/>
          </a:bodyPr>
          <a:lstStyle/>
          <a:p>
            <a:pPr algn="l"/>
            <a:r>
              <a:rPr sz="1200" b="0">
                <a:solidFill>
                  <a:srgbClr val="CCCCCC"/>
                </a:solidFill>
              </a:rPr>
              <a:t>Read Sarah Chen's persona and interview. How much revenue is at risk?</a:t>
            </a:r>
          </a:p>
        </p:txBody>
      </p:sp>
      <p:sp>
        <p:nvSpPr>
          <p:cNvPr id="28" name="Rectangle 27"/>
          <p:cNvSpPr/>
          <p:nvPr/>
        </p:nvSpPr>
        <p:spPr>
          <a:xfrm>
            <a:off x="6400800" y="3886200"/>
            <a:ext cx="5669280" cy="5943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37960" y="3959352"/>
            <a:ext cx="411480" cy="457200"/>
          </a:xfrm>
          <a:prstGeom prst="rect">
            <a:avLst/>
          </a:prstGeom>
          <a:noFill/>
        </p:spPr>
        <p:txBody>
          <a:bodyPr wrap="square">
            <a:spAutoFit/>
          </a:bodyPr>
          <a:lstStyle/>
          <a:p>
            <a:pPr algn="l"/>
            <a:r>
              <a:rPr sz="1300" b="1">
                <a:solidFill>
                  <a:srgbClr val="D47A21"/>
                </a:solidFill>
              </a:rPr>
              <a:t>8.</a:t>
            </a:r>
          </a:p>
        </p:txBody>
      </p:sp>
      <p:sp>
        <p:nvSpPr>
          <p:cNvPr id="30" name="TextBox 29"/>
          <p:cNvSpPr txBox="1"/>
          <p:nvPr/>
        </p:nvSpPr>
        <p:spPr>
          <a:xfrm>
            <a:off x="6995160" y="3959352"/>
            <a:ext cx="4937760" cy="457200"/>
          </a:xfrm>
          <a:prstGeom prst="rect">
            <a:avLst/>
          </a:prstGeom>
          <a:noFill/>
        </p:spPr>
        <p:txBody>
          <a:bodyPr wrap="square">
            <a:spAutoFit/>
          </a:bodyPr>
          <a:lstStyle/>
          <a:p>
            <a:pPr algn="l"/>
            <a:r>
              <a:rPr sz="1200" b="0">
                <a:solidFill>
                  <a:srgbClr val="CCCCCC"/>
                </a:solidFill>
              </a:rPr>
              <a:t>Read the stakeholder sync. What 3 questions will I get in the next meeting?</a:t>
            </a:r>
          </a:p>
        </p:txBody>
      </p:sp>
      <p:sp>
        <p:nvSpPr>
          <p:cNvPr id="31" name="Rectangle 30"/>
          <p:cNvSpPr/>
          <p:nvPr/>
        </p:nvSpPr>
        <p:spPr>
          <a:xfrm>
            <a:off x="6400800" y="4572000"/>
            <a:ext cx="5669280" cy="5943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4645152"/>
            <a:ext cx="411480" cy="457200"/>
          </a:xfrm>
          <a:prstGeom prst="rect">
            <a:avLst/>
          </a:prstGeom>
          <a:noFill/>
        </p:spPr>
        <p:txBody>
          <a:bodyPr wrap="square">
            <a:spAutoFit/>
          </a:bodyPr>
          <a:lstStyle/>
          <a:p>
            <a:pPr algn="l"/>
            <a:r>
              <a:rPr sz="1300" b="1">
                <a:solidFill>
                  <a:srgbClr val="D47A21"/>
                </a:solidFill>
              </a:rPr>
              <a:t>9.</a:t>
            </a:r>
          </a:p>
        </p:txBody>
      </p:sp>
      <p:sp>
        <p:nvSpPr>
          <p:cNvPr id="33" name="TextBox 32"/>
          <p:cNvSpPr txBox="1"/>
          <p:nvPr/>
        </p:nvSpPr>
        <p:spPr>
          <a:xfrm>
            <a:off x="6995160" y="4645152"/>
            <a:ext cx="4937760" cy="457200"/>
          </a:xfrm>
          <a:prstGeom prst="rect">
            <a:avLst/>
          </a:prstGeom>
          <a:noFill/>
        </p:spPr>
        <p:txBody>
          <a:bodyPr wrap="square">
            <a:spAutoFit/>
          </a:bodyPr>
          <a:lstStyle/>
          <a:p>
            <a:pPr algn="l"/>
            <a:r>
              <a:rPr sz="1200" b="0">
                <a:solidFill>
                  <a:srgbClr val="CCCCCC"/>
                </a:solidFill>
              </a:rPr>
              <a:t>James has no persona file yet. Create one using Sarah's format.</a:t>
            </a:r>
          </a:p>
        </p:txBody>
      </p:sp>
      <p:sp>
        <p:nvSpPr>
          <p:cNvPr id="34" name="Rectangle 33"/>
          <p:cNvSpPr/>
          <p:nvPr/>
        </p:nvSpPr>
        <p:spPr>
          <a:xfrm>
            <a:off x="6400800" y="5257800"/>
            <a:ext cx="5669280" cy="5943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37960" y="5330952"/>
            <a:ext cx="411480" cy="457200"/>
          </a:xfrm>
          <a:prstGeom prst="rect">
            <a:avLst/>
          </a:prstGeom>
          <a:noFill/>
        </p:spPr>
        <p:txBody>
          <a:bodyPr wrap="square">
            <a:spAutoFit/>
          </a:bodyPr>
          <a:lstStyle/>
          <a:p>
            <a:pPr algn="l"/>
            <a:r>
              <a:rPr sz="1300" b="1">
                <a:solidFill>
                  <a:srgbClr val="D47A21"/>
                </a:solidFill>
              </a:rPr>
              <a:t>10.</a:t>
            </a:r>
          </a:p>
        </p:txBody>
      </p:sp>
      <p:sp>
        <p:nvSpPr>
          <p:cNvPr id="36" name="TextBox 35"/>
          <p:cNvSpPr txBox="1"/>
          <p:nvPr/>
        </p:nvSpPr>
        <p:spPr>
          <a:xfrm>
            <a:off x="6995160" y="5330952"/>
            <a:ext cx="4937760" cy="457200"/>
          </a:xfrm>
          <a:prstGeom prst="rect">
            <a:avLst/>
          </a:prstGeom>
          <a:noFill/>
        </p:spPr>
        <p:txBody>
          <a:bodyPr wrap="square">
            <a:spAutoFit/>
          </a:bodyPr>
          <a:lstStyle/>
          <a:p>
            <a:pPr algn="l"/>
            <a:r>
              <a:rPr sz="1200" b="0">
                <a:solidFill>
                  <a:srgbClr val="CCCCCC"/>
                </a:solidFill>
              </a:rPr>
              <a:t>Is MeetFlow's free tier defensible against Notion AI? Be honest.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4  -  CLAUDE.md</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400" b="1">
                <a:solidFill>
                  <a:srgbClr val="FFFFFF"/>
                </a:solidFill>
              </a:rPr>
              <a:t>CLAUDE.md: What Works vs What Does Not</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011680"/>
            <a:ext cx="5669280" cy="813816"/>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048256"/>
            <a:ext cx="5303520" cy="320040"/>
          </a:xfrm>
          <a:prstGeom prst="rect">
            <a:avLst/>
          </a:prstGeom>
          <a:noFill/>
        </p:spPr>
        <p:txBody>
          <a:bodyPr wrap="square">
            <a:spAutoFit/>
          </a:bodyPr>
          <a:lstStyle/>
          <a:p>
            <a:pPr algn="l"/>
            <a:r>
              <a:rPr sz="1100" b="1">
                <a:solidFill>
                  <a:srgbClr val="FF8888"/>
                </a:solidFill>
              </a:rPr>
              <a:t>Too vague - Claude guesses</a:t>
            </a:r>
          </a:p>
        </p:txBody>
      </p:sp>
      <p:sp>
        <p:nvSpPr>
          <p:cNvPr id="8" name="TextBox 7"/>
          <p:cNvSpPr txBox="1"/>
          <p:nvPr/>
        </p:nvSpPr>
        <p:spPr>
          <a:xfrm>
            <a:off x="640080" y="2395728"/>
            <a:ext cx="5303520" cy="438912"/>
          </a:xfrm>
          <a:prstGeom prst="rect">
            <a:avLst/>
          </a:prstGeom>
          <a:noFill/>
        </p:spPr>
        <p:txBody>
          <a:bodyPr wrap="square">
            <a:spAutoFit/>
          </a:bodyPr>
          <a:lstStyle/>
          <a:p>
            <a:pPr algn="l"/>
            <a:r>
              <a:rPr sz="1300" b="0">
                <a:solidFill>
                  <a:srgbClr val="FFAAAA"/>
                </a:solidFill>
              </a:rPr>
              <a:t>"Format code properly"</a:t>
            </a:r>
          </a:p>
        </p:txBody>
      </p:sp>
      <p:sp>
        <p:nvSpPr>
          <p:cNvPr id="9" name="Rectangle 8"/>
          <p:cNvSpPr/>
          <p:nvPr/>
        </p:nvSpPr>
        <p:spPr>
          <a:xfrm>
            <a:off x="6400800" y="2011680"/>
            <a:ext cx="5669280" cy="813816"/>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048256"/>
            <a:ext cx="5303520" cy="320040"/>
          </a:xfrm>
          <a:prstGeom prst="rect">
            <a:avLst/>
          </a:prstGeom>
          <a:noFill/>
        </p:spPr>
        <p:txBody>
          <a:bodyPr wrap="square">
            <a:spAutoFit/>
          </a:bodyPr>
          <a:lstStyle/>
          <a:p>
            <a:pPr algn="l"/>
            <a:r>
              <a:rPr sz="1100" b="1">
                <a:solidFill>
                  <a:srgbClr val="88DD88"/>
                </a:solidFill>
              </a:rPr>
              <a:t>Specific - Claude knows exactly</a:t>
            </a:r>
          </a:p>
        </p:txBody>
      </p:sp>
      <p:sp>
        <p:nvSpPr>
          <p:cNvPr id="11" name="TextBox 10"/>
          <p:cNvSpPr txBox="1"/>
          <p:nvPr/>
        </p:nvSpPr>
        <p:spPr>
          <a:xfrm>
            <a:off x="6583680" y="2395728"/>
            <a:ext cx="5303520" cy="438912"/>
          </a:xfrm>
          <a:prstGeom prst="rect">
            <a:avLst/>
          </a:prstGeom>
          <a:noFill/>
        </p:spPr>
        <p:txBody>
          <a:bodyPr wrap="square">
            <a:spAutoFit/>
          </a:bodyPr>
          <a:lstStyle/>
          <a:p>
            <a:pPr algn="l"/>
            <a:r>
              <a:rPr sz="1300" b="0">
                <a:solidFill>
                  <a:srgbClr val="AADDAA"/>
                </a:solidFill>
              </a:rPr>
              <a:t>"Use 2-space indentation"</a:t>
            </a:r>
          </a:p>
        </p:txBody>
      </p:sp>
      <p:sp>
        <p:nvSpPr>
          <p:cNvPr id="12" name="Rectangle 11"/>
          <p:cNvSpPr/>
          <p:nvPr/>
        </p:nvSpPr>
        <p:spPr>
          <a:xfrm>
            <a:off x="457200" y="2898648"/>
            <a:ext cx="5669280" cy="813816"/>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935224"/>
            <a:ext cx="5303520" cy="320040"/>
          </a:xfrm>
          <a:prstGeom prst="rect">
            <a:avLst/>
          </a:prstGeom>
          <a:noFill/>
        </p:spPr>
        <p:txBody>
          <a:bodyPr wrap="square">
            <a:spAutoFit/>
          </a:bodyPr>
          <a:lstStyle/>
          <a:p>
            <a:pPr algn="l"/>
            <a:r>
              <a:rPr sz="1100" b="1">
                <a:solidFill>
                  <a:srgbClr val="FF8888"/>
                </a:solidFill>
              </a:rPr>
              <a:t>Changes every session - do not put here</a:t>
            </a:r>
          </a:p>
        </p:txBody>
      </p:sp>
      <p:sp>
        <p:nvSpPr>
          <p:cNvPr id="14" name="TextBox 13"/>
          <p:cNvSpPr txBox="1"/>
          <p:nvPr/>
        </p:nvSpPr>
        <p:spPr>
          <a:xfrm>
            <a:off x="640080" y="3282696"/>
            <a:ext cx="5303520" cy="438912"/>
          </a:xfrm>
          <a:prstGeom prst="rect">
            <a:avLst/>
          </a:prstGeom>
          <a:noFill/>
        </p:spPr>
        <p:txBody>
          <a:bodyPr wrap="square">
            <a:spAutoFit/>
          </a:bodyPr>
          <a:lstStyle/>
          <a:p>
            <a:pPr algn="l"/>
            <a:r>
              <a:rPr sz="1300" b="0">
                <a:solidFill>
                  <a:srgbClr val="FFAAAA"/>
                </a:solidFill>
              </a:rPr>
              <a:t>"My current priorities are X and Y"</a:t>
            </a:r>
          </a:p>
        </p:txBody>
      </p:sp>
      <p:sp>
        <p:nvSpPr>
          <p:cNvPr id="15" name="Rectangle 14"/>
          <p:cNvSpPr/>
          <p:nvPr/>
        </p:nvSpPr>
        <p:spPr>
          <a:xfrm>
            <a:off x="6400800" y="2898648"/>
            <a:ext cx="5669280" cy="813816"/>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2935224"/>
            <a:ext cx="5303520" cy="320040"/>
          </a:xfrm>
          <a:prstGeom prst="rect">
            <a:avLst/>
          </a:prstGeom>
          <a:noFill/>
        </p:spPr>
        <p:txBody>
          <a:bodyPr wrap="square">
            <a:spAutoFit/>
          </a:bodyPr>
          <a:lstStyle/>
          <a:p>
            <a:pPr algn="l"/>
            <a:r>
              <a:rPr sz="1100" b="1">
                <a:solidFill>
                  <a:srgbClr val="88DD88"/>
                </a:solidFill>
              </a:rPr>
              <a:t>Stable - belongs in CLAUDE.md</a:t>
            </a:r>
          </a:p>
        </p:txBody>
      </p:sp>
      <p:sp>
        <p:nvSpPr>
          <p:cNvPr id="17" name="TextBox 16"/>
          <p:cNvSpPr txBox="1"/>
          <p:nvPr/>
        </p:nvSpPr>
        <p:spPr>
          <a:xfrm>
            <a:off x="6583680" y="3282696"/>
            <a:ext cx="5303520" cy="438912"/>
          </a:xfrm>
          <a:prstGeom prst="rect">
            <a:avLst/>
          </a:prstGeom>
          <a:noFill/>
        </p:spPr>
        <p:txBody>
          <a:bodyPr wrap="square">
            <a:spAutoFit/>
          </a:bodyPr>
          <a:lstStyle/>
          <a:p>
            <a:pPr algn="l"/>
            <a:r>
              <a:rPr sz="1300" b="0">
                <a:solidFill>
                  <a:srgbClr val="AADDAA"/>
                </a:solidFill>
              </a:rPr>
              <a:t>"Tech stack: TypeScript, Next.js 14, PostgreSQL"</a:t>
            </a:r>
          </a:p>
        </p:txBody>
      </p:sp>
      <p:sp>
        <p:nvSpPr>
          <p:cNvPr id="18" name="Rectangle 17"/>
          <p:cNvSpPr/>
          <p:nvPr/>
        </p:nvSpPr>
        <p:spPr>
          <a:xfrm>
            <a:off x="457200" y="3785616"/>
            <a:ext cx="5669280" cy="813816"/>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822192"/>
            <a:ext cx="5303520" cy="320040"/>
          </a:xfrm>
          <a:prstGeom prst="rect">
            <a:avLst/>
          </a:prstGeom>
          <a:noFill/>
        </p:spPr>
        <p:txBody>
          <a:bodyPr wrap="square">
            <a:spAutoFit/>
          </a:bodyPr>
          <a:lstStyle/>
          <a:p>
            <a:pPr algn="l"/>
            <a:r>
              <a:rPr sz="1100" b="1">
                <a:solidFill>
                  <a:srgbClr val="FF8888"/>
                </a:solidFill>
              </a:rPr>
              <a:t>Secret - never in CLAUDE.md</a:t>
            </a:r>
          </a:p>
        </p:txBody>
      </p:sp>
      <p:sp>
        <p:nvSpPr>
          <p:cNvPr id="20" name="TextBox 19"/>
          <p:cNvSpPr txBox="1"/>
          <p:nvPr/>
        </p:nvSpPr>
        <p:spPr>
          <a:xfrm>
            <a:off x="640080" y="4169664"/>
            <a:ext cx="5303520" cy="438912"/>
          </a:xfrm>
          <a:prstGeom prst="rect">
            <a:avLst/>
          </a:prstGeom>
          <a:noFill/>
        </p:spPr>
        <p:txBody>
          <a:bodyPr wrap="square">
            <a:spAutoFit/>
          </a:bodyPr>
          <a:lstStyle/>
          <a:p>
            <a:pPr algn="l"/>
            <a:r>
              <a:rPr sz="1300" b="0">
                <a:solidFill>
                  <a:srgbClr val="FFAAAA"/>
                </a:solidFill>
              </a:rPr>
              <a:t>"API_KEY=sk-abc123 DATABASE_URL=..."</a:t>
            </a:r>
          </a:p>
        </p:txBody>
      </p:sp>
      <p:sp>
        <p:nvSpPr>
          <p:cNvPr id="21" name="Rectangle 20"/>
          <p:cNvSpPr/>
          <p:nvPr/>
        </p:nvSpPr>
        <p:spPr>
          <a:xfrm>
            <a:off x="6400800" y="3785616"/>
            <a:ext cx="5669280" cy="813816"/>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0" y="3822192"/>
            <a:ext cx="5303520" cy="320040"/>
          </a:xfrm>
          <a:prstGeom prst="rect">
            <a:avLst/>
          </a:prstGeom>
          <a:noFill/>
        </p:spPr>
        <p:txBody>
          <a:bodyPr wrap="square">
            <a:spAutoFit/>
          </a:bodyPr>
          <a:lstStyle/>
          <a:p>
            <a:pPr algn="l"/>
            <a:r>
              <a:rPr sz="1100" b="1">
                <a:solidFill>
                  <a:srgbClr val="88DD88"/>
                </a:solidFill>
              </a:rPr>
              <a:t>Safe alternative</a:t>
            </a:r>
          </a:p>
        </p:txBody>
      </p:sp>
      <p:sp>
        <p:nvSpPr>
          <p:cNvPr id="23" name="TextBox 22"/>
          <p:cNvSpPr txBox="1"/>
          <p:nvPr/>
        </p:nvSpPr>
        <p:spPr>
          <a:xfrm>
            <a:off x="6583680" y="4169664"/>
            <a:ext cx="5303520" cy="438912"/>
          </a:xfrm>
          <a:prstGeom prst="rect">
            <a:avLst/>
          </a:prstGeom>
          <a:noFill/>
        </p:spPr>
        <p:txBody>
          <a:bodyPr wrap="square">
            <a:spAutoFit/>
          </a:bodyPr>
          <a:lstStyle/>
          <a:p>
            <a:pPr algn="l"/>
            <a:r>
              <a:rPr sz="1300" b="0">
                <a:solidFill>
                  <a:srgbClr val="AADDAA"/>
                </a:solidFill>
              </a:rPr>
              <a:t>"Secrets live in .env - never commit to git"</a:t>
            </a:r>
          </a:p>
        </p:txBody>
      </p:sp>
      <p:sp>
        <p:nvSpPr>
          <p:cNvPr id="24" name="Rectangle 23"/>
          <p:cNvSpPr/>
          <p:nvPr/>
        </p:nvSpPr>
        <p:spPr>
          <a:xfrm>
            <a:off x="457200" y="4672584"/>
            <a:ext cx="5669280" cy="813816"/>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709160"/>
            <a:ext cx="5303520" cy="320040"/>
          </a:xfrm>
          <a:prstGeom prst="rect">
            <a:avLst/>
          </a:prstGeom>
          <a:noFill/>
        </p:spPr>
        <p:txBody>
          <a:bodyPr wrap="square">
            <a:spAutoFit/>
          </a:bodyPr>
          <a:lstStyle/>
          <a:p>
            <a:pPr algn="l"/>
            <a:r>
              <a:rPr sz="1100" b="1">
                <a:solidFill>
                  <a:srgbClr val="FF8888"/>
                </a:solidFill>
              </a:rPr>
              <a:t>Too long - reduces adherence</a:t>
            </a:r>
          </a:p>
        </p:txBody>
      </p:sp>
      <p:sp>
        <p:nvSpPr>
          <p:cNvPr id="26" name="TextBox 25"/>
          <p:cNvSpPr txBox="1"/>
          <p:nvPr/>
        </p:nvSpPr>
        <p:spPr>
          <a:xfrm>
            <a:off x="640080" y="5056632"/>
            <a:ext cx="5303520" cy="438912"/>
          </a:xfrm>
          <a:prstGeom prst="rect">
            <a:avLst/>
          </a:prstGeom>
          <a:noFill/>
        </p:spPr>
        <p:txBody>
          <a:bodyPr wrap="square">
            <a:spAutoFit/>
          </a:bodyPr>
          <a:lstStyle/>
          <a:p>
            <a:pPr algn="l"/>
            <a:r>
              <a:rPr sz="1300" b="0">
                <a:solidFill>
                  <a:srgbClr val="FFAAAA"/>
                </a:solidFill>
              </a:rPr>
              <a:t>"Here is every edge case and exception..."</a:t>
            </a:r>
          </a:p>
        </p:txBody>
      </p:sp>
      <p:sp>
        <p:nvSpPr>
          <p:cNvPr id="27" name="Rectangle 26"/>
          <p:cNvSpPr/>
          <p:nvPr/>
        </p:nvSpPr>
        <p:spPr>
          <a:xfrm>
            <a:off x="6400800" y="4672584"/>
            <a:ext cx="5669280" cy="813816"/>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4709160"/>
            <a:ext cx="5303520" cy="320040"/>
          </a:xfrm>
          <a:prstGeom prst="rect">
            <a:avLst/>
          </a:prstGeom>
          <a:noFill/>
        </p:spPr>
        <p:txBody>
          <a:bodyPr wrap="square">
            <a:spAutoFit/>
          </a:bodyPr>
          <a:lstStyle/>
          <a:p>
            <a:pPr algn="l"/>
            <a:r>
              <a:rPr sz="1100" b="1">
                <a:solidFill>
                  <a:srgbClr val="88DD88"/>
                </a:solidFill>
              </a:rPr>
              <a:t>Concise - better followed</a:t>
            </a:r>
          </a:p>
        </p:txBody>
      </p:sp>
      <p:sp>
        <p:nvSpPr>
          <p:cNvPr id="29" name="TextBox 28"/>
          <p:cNvSpPr txBox="1"/>
          <p:nvPr/>
        </p:nvSpPr>
        <p:spPr>
          <a:xfrm>
            <a:off x="6583680" y="5056632"/>
            <a:ext cx="5303520" cy="438912"/>
          </a:xfrm>
          <a:prstGeom prst="rect">
            <a:avLst/>
          </a:prstGeom>
          <a:noFill/>
        </p:spPr>
        <p:txBody>
          <a:bodyPr wrap="square">
            <a:spAutoFit/>
          </a:bodyPr>
          <a:lstStyle/>
          <a:p>
            <a:pPr algn="l"/>
            <a:r>
              <a:rPr sz="1300" b="0">
                <a:solidFill>
                  <a:srgbClr val="AADDAA"/>
                </a:solidFill>
              </a:rPr>
              <a:t>"Cover the 80%. Trust Claude for edge cases."</a:t>
            </a:r>
          </a:p>
        </p:txBody>
      </p:sp>
      <p:sp>
        <p:nvSpPr>
          <p:cNvPr id="30" name="TextBox 29"/>
          <p:cNvSpPr txBox="1"/>
          <p:nvPr/>
        </p:nvSpPr>
        <p:spPr>
          <a:xfrm>
            <a:off x="548640" y="5577840"/>
            <a:ext cx="11430000" cy="457200"/>
          </a:xfrm>
          <a:prstGeom prst="rect">
            <a:avLst/>
          </a:prstGeom>
          <a:noFill/>
        </p:spPr>
        <p:txBody>
          <a:bodyPr wrap="square">
            <a:spAutoFit/>
          </a:bodyPr>
          <a:lstStyle/>
          <a:p>
            <a:pPr algn="l"/>
            <a:r>
              <a:rPr sz="1500" b="1">
                <a:solidFill>
                  <a:srgbClr val="D47A21"/>
                </a:solidFill>
              </a:rPr>
              <a:t>treat CLAUDE.md like a briefing doc for a new hire - facts, rules, context. Not a diary.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430000" cy="685800"/>
          </a:xfrm>
          <a:prstGeom prst="rect">
            <a:avLst/>
          </a:prstGeom>
          <a:noFill/>
        </p:spPr>
        <p:txBody>
          <a:bodyPr wrap="square">
            <a:spAutoFit/>
          </a:bodyPr>
          <a:lstStyle/>
          <a:p>
            <a:pPr algn="l"/>
            <a:r>
              <a:rPr sz="3000" b="1">
                <a:solidFill>
                  <a:srgbClr val="FFFFFF"/>
                </a:solidFill>
              </a:rPr>
              <a:t>Glossary - Terms You'll Hear All Workshop</a:t>
            </a:r>
          </a:p>
        </p:txBody>
      </p:sp>
      <p:sp>
        <p:nvSpPr>
          <p:cNvPr id="4" name="Rectangle 3"/>
          <p:cNvSpPr/>
          <p:nvPr/>
        </p:nvSpPr>
        <p:spPr>
          <a:xfrm>
            <a:off x="548640" y="12801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44475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08760"/>
            <a:ext cx="2560320" cy="457200"/>
          </a:xfrm>
          <a:prstGeom prst="rect">
            <a:avLst/>
          </a:prstGeom>
          <a:noFill/>
        </p:spPr>
        <p:txBody>
          <a:bodyPr wrap="square">
            <a:spAutoFit/>
          </a:bodyPr>
          <a:lstStyle/>
          <a:p>
            <a:pPr algn="l"/>
            <a:r>
              <a:rPr sz="1300" b="1">
                <a:solidFill>
                  <a:srgbClr val="D47A21"/>
                </a:solidFill>
              </a:rPr>
              <a:t>CLAUDE.md</a:t>
            </a:r>
          </a:p>
        </p:txBody>
      </p:sp>
      <p:sp>
        <p:nvSpPr>
          <p:cNvPr id="7" name="TextBox 6"/>
          <p:cNvSpPr txBox="1"/>
          <p:nvPr/>
        </p:nvSpPr>
        <p:spPr>
          <a:xfrm>
            <a:off x="3383280" y="1508760"/>
            <a:ext cx="8229600" cy="457200"/>
          </a:xfrm>
          <a:prstGeom prst="rect">
            <a:avLst/>
          </a:prstGeom>
          <a:noFill/>
        </p:spPr>
        <p:txBody>
          <a:bodyPr wrap="square">
            <a:spAutoFit/>
          </a:bodyPr>
          <a:lstStyle/>
          <a:p>
            <a:pPr algn="l"/>
            <a:r>
              <a:rPr sz="1300" b="0">
                <a:solidFill>
                  <a:srgbClr val="CCCCCC"/>
                </a:solidFill>
              </a:rPr>
              <a:t>Persistent project notes Claude reads every session - your briefing doc that never expires.</a:t>
            </a:r>
          </a:p>
        </p:txBody>
      </p:sp>
      <p:sp>
        <p:nvSpPr>
          <p:cNvPr id="8" name="Rectangle 7"/>
          <p:cNvSpPr/>
          <p:nvPr/>
        </p:nvSpPr>
        <p:spPr>
          <a:xfrm>
            <a:off x="457200" y="203911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103120"/>
            <a:ext cx="2560320" cy="457200"/>
          </a:xfrm>
          <a:prstGeom prst="rect">
            <a:avLst/>
          </a:prstGeom>
          <a:noFill/>
        </p:spPr>
        <p:txBody>
          <a:bodyPr wrap="square">
            <a:spAutoFit/>
          </a:bodyPr>
          <a:lstStyle/>
          <a:p>
            <a:pPr algn="l"/>
            <a:r>
              <a:rPr sz="1300" b="1">
                <a:solidFill>
                  <a:srgbClr val="D47A21"/>
                </a:solidFill>
              </a:rPr>
              <a:t>MCP</a:t>
            </a:r>
          </a:p>
        </p:txBody>
      </p:sp>
      <p:sp>
        <p:nvSpPr>
          <p:cNvPr id="10" name="TextBox 9"/>
          <p:cNvSpPr txBox="1"/>
          <p:nvPr/>
        </p:nvSpPr>
        <p:spPr>
          <a:xfrm>
            <a:off x="3383280" y="2103120"/>
            <a:ext cx="8229600" cy="457200"/>
          </a:xfrm>
          <a:prstGeom prst="rect">
            <a:avLst/>
          </a:prstGeom>
          <a:noFill/>
        </p:spPr>
        <p:txBody>
          <a:bodyPr wrap="square">
            <a:spAutoFit/>
          </a:bodyPr>
          <a:lstStyle/>
          <a:p>
            <a:pPr algn="l"/>
            <a:r>
              <a:rPr sz="1300" b="0">
                <a:solidFill>
                  <a:srgbClr val="CCCCCC"/>
                </a:solidFill>
              </a:rPr>
              <a:t>Model Context Protocol - the standard that lets Claude talk to external tools like Jira, Figma, and Chrome.</a:t>
            </a:r>
          </a:p>
        </p:txBody>
      </p:sp>
      <p:sp>
        <p:nvSpPr>
          <p:cNvPr id="11" name="Rectangle 10"/>
          <p:cNvSpPr/>
          <p:nvPr/>
        </p:nvSpPr>
        <p:spPr>
          <a:xfrm>
            <a:off x="457200" y="263347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697480"/>
            <a:ext cx="2560320" cy="457200"/>
          </a:xfrm>
          <a:prstGeom prst="rect">
            <a:avLst/>
          </a:prstGeom>
          <a:noFill/>
        </p:spPr>
        <p:txBody>
          <a:bodyPr wrap="square">
            <a:spAutoFit/>
          </a:bodyPr>
          <a:lstStyle/>
          <a:p>
            <a:pPr algn="l"/>
            <a:r>
              <a:rPr sz="1300" b="1">
                <a:solidFill>
                  <a:srgbClr val="D47A21"/>
                </a:solidFill>
              </a:rPr>
              <a:t>Skill</a:t>
            </a:r>
          </a:p>
        </p:txBody>
      </p:sp>
      <p:sp>
        <p:nvSpPr>
          <p:cNvPr id="13" name="TextBox 12"/>
          <p:cNvSpPr txBox="1"/>
          <p:nvPr/>
        </p:nvSpPr>
        <p:spPr>
          <a:xfrm>
            <a:off x="3383280" y="2697480"/>
            <a:ext cx="8229600" cy="457200"/>
          </a:xfrm>
          <a:prstGeom prst="rect">
            <a:avLst/>
          </a:prstGeom>
          <a:noFill/>
        </p:spPr>
        <p:txBody>
          <a:bodyPr wrap="square">
            <a:spAutoFit/>
          </a:bodyPr>
          <a:lstStyle/>
          <a:p>
            <a:pPr algn="l"/>
            <a:r>
              <a:rPr sz="1300" b="0">
                <a:solidFill>
                  <a:srgbClr val="CCCCCC"/>
                </a:solidFill>
              </a:rPr>
              <a:t>A markdown file with instructions that loads when you type a trigger phrase - like a saved macro.</a:t>
            </a:r>
          </a:p>
        </p:txBody>
      </p:sp>
      <p:sp>
        <p:nvSpPr>
          <p:cNvPr id="14" name="Rectangle 13"/>
          <p:cNvSpPr/>
          <p:nvPr/>
        </p:nvSpPr>
        <p:spPr>
          <a:xfrm>
            <a:off x="457200" y="322783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291840"/>
            <a:ext cx="2560320" cy="457200"/>
          </a:xfrm>
          <a:prstGeom prst="rect">
            <a:avLst/>
          </a:prstGeom>
          <a:noFill/>
        </p:spPr>
        <p:txBody>
          <a:bodyPr wrap="square">
            <a:spAutoFit/>
          </a:bodyPr>
          <a:lstStyle/>
          <a:p>
            <a:pPr algn="l"/>
            <a:r>
              <a:rPr sz="1300" b="1">
                <a:solidFill>
                  <a:srgbClr val="D47A21"/>
                </a:solidFill>
              </a:rPr>
              <a:t>Subagent</a:t>
            </a:r>
          </a:p>
        </p:txBody>
      </p:sp>
      <p:sp>
        <p:nvSpPr>
          <p:cNvPr id="16" name="TextBox 15"/>
          <p:cNvSpPr txBox="1"/>
          <p:nvPr/>
        </p:nvSpPr>
        <p:spPr>
          <a:xfrm>
            <a:off x="3383280" y="3291840"/>
            <a:ext cx="8229600" cy="457200"/>
          </a:xfrm>
          <a:prstGeom prst="rect">
            <a:avLst/>
          </a:prstGeom>
          <a:noFill/>
        </p:spPr>
        <p:txBody>
          <a:bodyPr wrap="square">
            <a:spAutoFit/>
          </a:bodyPr>
          <a:lstStyle/>
          <a:p>
            <a:pPr algn="l"/>
            <a:r>
              <a:rPr sz="1300" b="0">
                <a:solidFill>
                  <a:srgbClr val="CCCCCC"/>
                </a:solidFill>
              </a:rPr>
              <a:t>A separate Claude instance with its own clean context, spun up to handle one focused task.</a:t>
            </a:r>
          </a:p>
        </p:txBody>
      </p:sp>
      <p:sp>
        <p:nvSpPr>
          <p:cNvPr id="17" name="Rectangle 16"/>
          <p:cNvSpPr/>
          <p:nvPr/>
        </p:nvSpPr>
        <p:spPr>
          <a:xfrm>
            <a:off x="457200" y="382219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886200"/>
            <a:ext cx="2560320" cy="457200"/>
          </a:xfrm>
          <a:prstGeom prst="rect">
            <a:avLst/>
          </a:prstGeom>
          <a:noFill/>
        </p:spPr>
        <p:txBody>
          <a:bodyPr wrap="square">
            <a:spAutoFit/>
          </a:bodyPr>
          <a:lstStyle/>
          <a:p>
            <a:pPr algn="l"/>
            <a:r>
              <a:rPr sz="1300" b="1">
                <a:solidFill>
                  <a:srgbClr val="D47A21"/>
                </a:solidFill>
              </a:rPr>
              <a:t>Plan mode</a:t>
            </a:r>
          </a:p>
        </p:txBody>
      </p:sp>
      <p:sp>
        <p:nvSpPr>
          <p:cNvPr id="19" name="TextBox 18"/>
          <p:cNvSpPr txBox="1"/>
          <p:nvPr/>
        </p:nvSpPr>
        <p:spPr>
          <a:xfrm>
            <a:off x="3383280" y="3886200"/>
            <a:ext cx="8229600" cy="457200"/>
          </a:xfrm>
          <a:prstGeom prst="rect">
            <a:avLst/>
          </a:prstGeom>
          <a:noFill/>
        </p:spPr>
        <p:txBody>
          <a:bodyPr wrap="square">
            <a:spAutoFit/>
          </a:bodyPr>
          <a:lstStyle/>
          <a:p>
            <a:pPr algn="l"/>
            <a:r>
              <a:rPr sz="1300" b="0">
                <a:solidFill>
                  <a:srgbClr val="CCCCCC"/>
                </a:solidFill>
              </a:rPr>
              <a:t>Read-only mode where Claude shows the plan and waits for your approval before doing anything.</a:t>
            </a:r>
          </a:p>
        </p:txBody>
      </p:sp>
      <p:sp>
        <p:nvSpPr>
          <p:cNvPr id="20" name="Rectangle 19"/>
          <p:cNvSpPr/>
          <p:nvPr/>
        </p:nvSpPr>
        <p:spPr>
          <a:xfrm>
            <a:off x="457200" y="441655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4480560"/>
            <a:ext cx="2560320" cy="457200"/>
          </a:xfrm>
          <a:prstGeom prst="rect">
            <a:avLst/>
          </a:prstGeom>
          <a:noFill/>
        </p:spPr>
        <p:txBody>
          <a:bodyPr wrap="square">
            <a:spAutoFit/>
          </a:bodyPr>
          <a:lstStyle/>
          <a:p>
            <a:pPr algn="l"/>
            <a:r>
              <a:rPr sz="1300" b="1">
                <a:solidFill>
                  <a:srgbClr val="D47A21"/>
                </a:solidFill>
              </a:rPr>
              <a:t>Slash command</a:t>
            </a:r>
          </a:p>
        </p:txBody>
      </p:sp>
      <p:sp>
        <p:nvSpPr>
          <p:cNvPr id="22" name="TextBox 21"/>
          <p:cNvSpPr txBox="1"/>
          <p:nvPr/>
        </p:nvSpPr>
        <p:spPr>
          <a:xfrm>
            <a:off x="3383280" y="4480560"/>
            <a:ext cx="8229600" cy="457200"/>
          </a:xfrm>
          <a:prstGeom prst="rect">
            <a:avLst/>
          </a:prstGeom>
          <a:noFill/>
        </p:spPr>
        <p:txBody>
          <a:bodyPr wrap="square">
            <a:spAutoFit/>
          </a:bodyPr>
          <a:lstStyle/>
          <a:p>
            <a:pPr algn="l"/>
            <a:r>
              <a:rPr sz="1300" b="0">
                <a:solidFill>
                  <a:srgbClr val="CCCCCC"/>
                </a:solidFill>
              </a:rPr>
              <a:t>A built-in command typed directly inside Claude, starting with /: /help, /clear, /doctor.</a:t>
            </a:r>
          </a:p>
        </p:txBody>
      </p:sp>
      <p:sp>
        <p:nvSpPr>
          <p:cNvPr id="23" name="Rectangle 22"/>
          <p:cNvSpPr/>
          <p:nvPr/>
        </p:nvSpPr>
        <p:spPr>
          <a:xfrm>
            <a:off x="457200" y="501091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074920"/>
            <a:ext cx="2560320" cy="457200"/>
          </a:xfrm>
          <a:prstGeom prst="rect">
            <a:avLst/>
          </a:prstGeom>
          <a:noFill/>
        </p:spPr>
        <p:txBody>
          <a:bodyPr wrap="square">
            <a:spAutoFit/>
          </a:bodyPr>
          <a:lstStyle/>
          <a:p>
            <a:pPr algn="l"/>
            <a:r>
              <a:rPr sz="1300" b="1">
                <a:solidFill>
                  <a:srgbClr val="D47A21"/>
                </a:solidFill>
              </a:rPr>
              <a:t>Permissions</a:t>
            </a:r>
          </a:p>
        </p:txBody>
      </p:sp>
      <p:sp>
        <p:nvSpPr>
          <p:cNvPr id="25" name="TextBox 24"/>
          <p:cNvSpPr txBox="1"/>
          <p:nvPr/>
        </p:nvSpPr>
        <p:spPr>
          <a:xfrm>
            <a:off x="3383280" y="5074920"/>
            <a:ext cx="8229600" cy="457200"/>
          </a:xfrm>
          <a:prstGeom prst="rect">
            <a:avLst/>
          </a:prstGeom>
          <a:noFill/>
        </p:spPr>
        <p:txBody>
          <a:bodyPr wrap="square">
            <a:spAutoFit/>
          </a:bodyPr>
          <a:lstStyle/>
          <a:p>
            <a:pPr algn="l"/>
            <a:r>
              <a:rPr sz="1300" b="0">
                <a:solidFill>
                  <a:srgbClr val="CCCCCC"/>
                </a:solidFill>
              </a:rPr>
              <a:t>Pre-approval rules in settings.json that tell Claude what it can run without asking each time.</a:t>
            </a:r>
          </a:p>
        </p:txBody>
      </p:sp>
      <p:sp>
        <p:nvSpPr>
          <p:cNvPr id="26" name="Rectangle 25"/>
          <p:cNvSpPr/>
          <p:nvPr/>
        </p:nvSpPr>
        <p:spPr>
          <a:xfrm>
            <a:off x="457200" y="560527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5669280"/>
            <a:ext cx="2560320" cy="457200"/>
          </a:xfrm>
          <a:prstGeom prst="rect">
            <a:avLst/>
          </a:prstGeom>
          <a:noFill/>
        </p:spPr>
        <p:txBody>
          <a:bodyPr wrap="square">
            <a:spAutoFit/>
          </a:bodyPr>
          <a:lstStyle/>
          <a:p>
            <a:pPr algn="l"/>
            <a:r>
              <a:rPr sz="1300" b="1">
                <a:solidFill>
                  <a:srgbClr val="D47A21"/>
                </a:solidFill>
              </a:rPr>
              <a:t>settings.json vs settings.local.json</a:t>
            </a:r>
          </a:p>
        </p:txBody>
      </p:sp>
      <p:sp>
        <p:nvSpPr>
          <p:cNvPr id="28" name="TextBox 27"/>
          <p:cNvSpPr txBox="1"/>
          <p:nvPr/>
        </p:nvSpPr>
        <p:spPr>
          <a:xfrm>
            <a:off x="3383280" y="5669280"/>
            <a:ext cx="8229600" cy="457200"/>
          </a:xfrm>
          <a:prstGeom prst="rect">
            <a:avLst/>
          </a:prstGeom>
          <a:noFill/>
        </p:spPr>
        <p:txBody>
          <a:bodyPr wrap="square">
            <a:spAutoFit/>
          </a:bodyPr>
          <a:lstStyle/>
          <a:p>
            <a:pPr algn="l"/>
            <a:r>
              <a:rPr sz="1300" b="0">
                <a:solidFill>
                  <a:srgbClr val="CCCCCC"/>
                </a:solidFill>
              </a:rPr>
              <a:t>settings.json is shared and committed to git. settings.local.json is personal and stays on your machine only.</a:t>
            </a:r>
          </a:p>
        </p:txBody>
      </p:sp>
      <p:sp>
        <p:nvSpPr>
          <p:cNvPr id="29" name="TextBox 28"/>
          <p:cNvSpPr txBox="1"/>
          <p:nvPr/>
        </p:nvSpPr>
        <p:spPr>
          <a:xfrm>
            <a:off x="548640" y="6263640"/>
            <a:ext cx="11430000" cy="411480"/>
          </a:xfrm>
          <a:prstGeom prst="rect">
            <a:avLst/>
          </a:prstGeom>
          <a:noFill/>
        </p:spPr>
        <p:txBody>
          <a:bodyPr wrap="square">
            <a:spAutoFit/>
          </a:bodyPr>
          <a:lstStyle/>
          <a:p>
            <a:pPr algn="l"/>
            <a:r>
              <a:rPr sz="1500" b="1">
                <a:solidFill>
                  <a:srgbClr val="D47A21"/>
                </a:solidFill>
              </a:rPr>
              <a:t>Knowing the names makes every other doc readable.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10972800" cy="1371600"/>
          </a:xfrm>
          <a:prstGeom prst="rect">
            <a:avLst/>
          </a:prstGeom>
          <a:noFill/>
        </p:spPr>
        <p:txBody>
          <a:bodyPr wrap="square">
            <a:spAutoFit/>
          </a:bodyPr>
          <a:lstStyle/>
          <a:p>
            <a:pPr algn="l"/>
            <a:r>
              <a:rPr sz="3600" b="1">
                <a:solidFill>
                  <a:srgbClr val="FFFFFF"/>
                </a:solidFill>
              </a:rPr>
              <a:t>You now have everything you need to run Claude Code.</a:t>
            </a:r>
          </a:p>
        </p:txBody>
      </p:sp>
      <p:sp>
        <p:nvSpPr>
          <p:cNvPr id="4" name="TextBox 3"/>
          <p:cNvSpPr txBox="1"/>
          <p:nvPr/>
        </p:nvSpPr>
        <p:spPr>
          <a:xfrm>
            <a:off x="548640" y="2103120"/>
            <a:ext cx="10972800" cy="731520"/>
          </a:xfrm>
          <a:prstGeom prst="rect">
            <a:avLst/>
          </a:prstGeom>
          <a:noFill/>
        </p:spPr>
        <p:txBody>
          <a:bodyPr wrap="square">
            <a:spAutoFit/>
          </a:bodyPr>
          <a:lstStyle/>
          <a:p>
            <a:pPr algn="l"/>
            <a:r>
              <a:rPr sz="2800" b="1">
                <a:solidFill>
                  <a:srgbClr val="D47A21"/>
                </a:solidFill>
              </a:rPr>
              <a:t>The setup is the hardest part. It is done.</a:t>
            </a:r>
          </a:p>
        </p:txBody>
      </p:sp>
      <p:sp>
        <p:nvSpPr>
          <p:cNvPr id="5" name="Rectangle 4"/>
          <p:cNvSpPr/>
          <p:nvPr/>
        </p:nvSpPr>
        <p:spPr>
          <a:xfrm>
            <a:off x="548640" y="301752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200400"/>
            <a:ext cx="10972800" cy="548640"/>
          </a:xfrm>
          <a:prstGeom prst="rect">
            <a:avLst/>
          </a:prstGeom>
          <a:noFill/>
        </p:spPr>
        <p:txBody>
          <a:bodyPr wrap="square">
            <a:spAutoFit/>
          </a:bodyPr>
          <a:lstStyle/>
          <a:p>
            <a:pPr algn="l"/>
            <a:r>
              <a:rPr sz="2200" b="1">
                <a:solidFill>
                  <a:srgbClr val="D47A21"/>
                </a:solidFill>
              </a:rPr>
              <a:t>Eight things to remember</a:t>
            </a:r>
          </a:p>
        </p:txBody>
      </p:sp>
      <p:sp>
        <p:nvSpPr>
          <p:cNvPr id="7" name="TextBox 6"/>
          <p:cNvSpPr txBox="1"/>
          <p:nvPr/>
        </p:nvSpPr>
        <p:spPr>
          <a:xfrm>
            <a:off x="548640" y="3840480"/>
            <a:ext cx="11430000" cy="2560320"/>
          </a:xfrm>
          <a:prstGeom prst="rect">
            <a:avLst/>
          </a:prstGeom>
          <a:noFill/>
        </p:spPr>
        <p:txBody>
          <a:bodyPr wrap="square">
            <a:spAutoFit/>
          </a:bodyPr>
          <a:lstStyle/>
          <a:p>
            <a:pPr algn="l">
              <a:spcAft>
                <a:spcPts val="500"/>
              </a:spcAft>
            </a:pPr>
            <a:r>
              <a:rPr sz="1500">
                <a:solidFill>
                  <a:srgbClr val="CCCCCC"/>
                </a:solidFill>
              </a:rPr>
              <a:t>  Install: one curl command on Mac, irm command on Windows (Git for Windows required)</a:t>
            </a:r>
          </a:p>
          <a:p>
            <a:pPr algn="l">
              <a:spcAft>
                <a:spcPts val="500"/>
              </a:spcAft>
            </a:pPr>
            <a:r>
              <a:rPr sz="1500">
                <a:solidFill>
                  <a:srgbClr val="CCCCCC"/>
                </a:solidFill>
              </a:rPr>
              <a:t>  Login: pick Claude account with subscription, complete browser OAuth, choose theme</a:t>
            </a:r>
          </a:p>
          <a:p>
            <a:pPr algn="l">
              <a:spcAft>
                <a:spcPts val="500"/>
              </a:spcAft>
            </a:pPr>
            <a:r>
              <a:rPr sz="1500">
                <a:solidFill>
                  <a:srgbClr val="CCCCCC"/>
                </a:solidFill>
              </a:rPr>
              <a:t>  Verify: claude --version, claude doctor, /doctor inside a session</a:t>
            </a:r>
          </a:p>
          <a:p>
            <a:pPr algn="l">
              <a:spcAft>
                <a:spcPts val="500"/>
              </a:spcAft>
            </a:pPr>
            <a:r>
              <a:rPr sz="1500">
                <a:solidFill>
                  <a:srgbClr val="CCCCCC"/>
                </a:solidFill>
              </a:rPr>
              <a:t>  Commands: /help, /clear, /exit (Ctrl+D), and ESC to interrupt</a:t>
            </a:r>
          </a:p>
          <a:p>
            <a:pPr algn="l">
              <a:spcAft>
                <a:spcPts val="500"/>
              </a:spcAft>
            </a:pPr>
            <a:r>
              <a:rPr sz="1500">
                <a:solidFill>
                  <a:srgbClr val="CCCCCC"/>
                </a:solidFill>
              </a:rPr>
              <a:t>  Plan mode: Shift+Tab cycle or /plan - review before Claude acts</a:t>
            </a:r>
          </a:p>
          <a:p>
            <a:pPr algn="l">
              <a:spcAft>
                <a:spcPts val="500"/>
              </a:spcAft>
            </a:pPr>
            <a:r>
              <a:rPr sz="1500">
                <a:solidFill>
                  <a:srgbClr val="CCCCCC"/>
                </a:solidFill>
              </a:rPr>
              <a:t>  CLAUDE.md: global (personal) - project (shared) - subfolder (scoped). More specific wins</a:t>
            </a:r>
          </a:p>
          <a:p>
            <a:pPr algn="l">
              <a:spcAft>
                <a:spcPts val="500"/>
              </a:spcAft>
            </a:pPr>
            <a:r>
              <a:rPr sz="1500">
                <a:solidFill>
                  <a:srgbClr val="CCCCCC"/>
                </a:solidFill>
              </a:rPr>
              <a:t>  Settings: settings.json for team rules, settings.local.json for personal machine only</a:t>
            </a:r>
          </a:p>
          <a:p>
            <a:pPr algn="l">
              <a:spcAft>
                <a:spcPts val="500"/>
              </a:spcAft>
            </a:pPr>
            <a:r>
              <a:rPr sz="1500">
                <a:solidFill>
                  <a:srgbClr val="CCCCCC"/>
                </a:solidFill>
              </a:rPr>
              <a:t>  MCP: claude mcp add --transport http [name] [url] - then /mcp to authenticate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430000" cy="685800"/>
          </a:xfrm>
          <a:prstGeom prst="rect">
            <a:avLst/>
          </a:prstGeom>
          <a:noFill/>
        </p:spPr>
        <p:txBody>
          <a:bodyPr wrap="square">
            <a:spAutoFit/>
          </a:bodyPr>
          <a:lstStyle/>
          <a:p>
            <a:pPr algn="l"/>
            <a:r>
              <a:rPr sz="3000" b="1">
                <a:solidFill>
                  <a:srgbClr val="FFFFFF"/>
                </a:solidFill>
              </a:rPr>
              <a:t>Five Questions You'll Be Asked Back at Work</a:t>
            </a:r>
          </a:p>
        </p:txBody>
      </p:sp>
      <p:sp>
        <p:nvSpPr>
          <p:cNvPr id="4" name="Rectangle 3"/>
          <p:cNvSpPr/>
          <p:nvPr/>
        </p:nvSpPr>
        <p:spPr>
          <a:xfrm>
            <a:off x="548640" y="12801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444752"/>
            <a:ext cx="11247120" cy="84124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554480"/>
            <a:ext cx="411480" cy="548640"/>
          </a:xfrm>
          <a:prstGeom prst="rect">
            <a:avLst/>
          </a:prstGeom>
          <a:noFill/>
        </p:spPr>
        <p:txBody>
          <a:bodyPr wrap="square">
            <a:spAutoFit/>
          </a:bodyPr>
          <a:lstStyle/>
          <a:p>
            <a:pPr algn="l"/>
            <a:r>
              <a:rPr sz="2200" b="1">
                <a:solidFill>
                  <a:srgbClr val="D47A21"/>
                </a:solidFill>
              </a:rPr>
              <a:t>1</a:t>
            </a:r>
          </a:p>
        </p:txBody>
      </p:sp>
      <p:sp>
        <p:nvSpPr>
          <p:cNvPr id="7" name="TextBox 6"/>
          <p:cNvSpPr txBox="1"/>
          <p:nvPr/>
        </p:nvSpPr>
        <p:spPr>
          <a:xfrm>
            <a:off x="1097280" y="1508760"/>
            <a:ext cx="10332720" cy="384048"/>
          </a:xfrm>
          <a:prstGeom prst="rect">
            <a:avLst/>
          </a:prstGeom>
          <a:noFill/>
        </p:spPr>
        <p:txBody>
          <a:bodyPr wrap="square">
            <a:spAutoFit/>
          </a:bodyPr>
          <a:lstStyle/>
          <a:p>
            <a:pPr algn="l"/>
            <a:r>
              <a:rPr sz="1300" b="1">
                <a:solidFill>
                  <a:srgbClr val="FFFFFF"/>
                </a:solidFill>
              </a:rPr>
              <a:t>Claude Code vs Cursor / Windsurf?</a:t>
            </a:r>
          </a:p>
        </p:txBody>
      </p:sp>
      <p:sp>
        <p:nvSpPr>
          <p:cNvPr id="8" name="TextBox 7"/>
          <p:cNvSpPr txBox="1"/>
          <p:nvPr/>
        </p:nvSpPr>
        <p:spPr>
          <a:xfrm>
            <a:off x="1097280" y="1874520"/>
            <a:ext cx="10332720" cy="402336"/>
          </a:xfrm>
          <a:prstGeom prst="rect">
            <a:avLst/>
          </a:prstGeom>
          <a:noFill/>
        </p:spPr>
        <p:txBody>
          <a:bodyPr wrap="square">
            <a:spAutoFit/>
          </a:bodyPr>
          <a:lstStyle/>
          <a:p>
            <a:pPr algn="l"/>
            <a:r>
              <a:rPr sz="1200" b="0">
                <a:solidFill>
                  <a:srgbClr val="CCCCCC"/>
                </a:solidFill>
              </a:rPr>
              <a:t>Anthropic frames Claude Code as an agentic coding tool: it reads your codebase, edits files, runs commands. IDE chat tools suggest; Claude Code executes. CLAUDE.md and auto-memory persist across sessions.</a:t>
            </a:r>
          </a:p>
        </p:txBody>
      </p:sp>
      <p:sp>
        <p:nvSpPr>
          <p:cNvPr id="9" name="Rectangle 8"/>
          <p:cNvSpPr/>
          <p:nvPr/>
        </p:nvSpPr>
        <p:spPr>
          <a:xfrm>
            <a:off x="457200" y="2340864"/>
            <a:ext cx="11247120" cy="84124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450592"/>
            <a:ext cx="411480" cy="548640"/>
          </a:xfrm>
          <a:prstGeom prst="rect">
            <a:avLst/>
          </a:prstGeom>
          <a:noFill/>
        </p:spPr>
        <p:txBody>
          <a:bodyPr wrap="square">
            <a:spAutoFit/>
          </a:bodyPr>
          <a:lstStyle/>
          <a:p>
            <a:pPr algn="l"/>
            <a:r>
              <a:rPr sz="2200" b="1">
                <a:solidFill>
                  <a:srgbClr val="D47A21"/>
                </a:solidFill>
              </a:rPr>
              <a:t>2</a:t>
            </a:r>
          </a:p>
        </p:txBody>
      </p:sp>
      <p:sp>
        <p:nvSpPr>
          <p:cNvPr id="11" name="TextBox 10"/>
          <p:cNvSpPr txBox="1"/>
          <p:nvPr/>
        </p:nvSpPr>
        <p:spPr>
          <a:xfrm>
            <a:off x="1097280" y="2404872"/>
            <a:ext cx="10332720" cy="384048"/>
          </a:xfrm>
          <a:prstGeom prst="rect">
            <a:avLst/>
          </a:prstGeom>
          <a:noFill/>
        </p:spPr>
        <p:txBody>
          <a:bodyPr wrap="square">
            <a:spAutoFit/>
          </a:bodyPr>
          <a:lstStyle/>
          <a:p>
            <a:pPr algn="l"/>
            <a:r>
              <a:rPr sz="1300" b="1">
                <a:solidFill>
                  <a:srgbClr val="FFFFFF"/>
                </a:solidFill>
              </a:rPr>
              <a:t>Is it safe to use Claude with company data and PII?</a:t>
            </a:r>
          </a:p>
        </p:txBody>
      </p:sp>
      <p:sp>
        <p:nvSpPr>
          <p:cNvPr id="12" name="TextBox 11"/>
          <p:cNvSpPr txBox="1"/>
          <p:nvPr/>
        </p:nvSpPr>
        <p:spPr>
          <a:xfrm>
            <a:off x="1097280" y="2770632"/>
            <a:ext cx="10332720" cy="402336"/>
          </a:xfrm>
          <a:prstGeom prst="rect">
            <a:avLst/>
          </a:prstGeom>
          <a:noFill/>
        </p:spPr>
        <p:txBody>
          <a:bodyPr wrap="square">
            <a:spAutoFit/>
          </a:bodyPr>
          <a:lstStyle/>
          <a:p>
            <a:pPr algn="l"/>
            <a:r>
              <a:rPr sz="1200" b="0">
                <a:solidFill>
                  <a:srgbClr val="CCCCCC"/>
                </a:solidFill>
              </a:rPr>
              <a:t>Anthropic policy: Pro and Max chats and coding sessions are NOT used for training by default. Training requires you to opt in via Privacy Settings or thumbs up / down. Teams and Enterprise add admin controls.</a:t>
            </a:r>
          </a:p>
        </p:txBody>
      </p:sp>
      <p:sp>
        <p:nvSpPr>
          <p:cNvPr id="13" name="Rectangle 12"/>
          <p:cNvSpPr/>
          <p:nvPr/>
        </p:nvSpPr>
        <p:spPr>
          <a:xfrm>
            <a:off x="457200" y="3236976"/>
            <a:ext cx="11247120" cy="84124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346704"/>
            <a:ext cx="411480" cy="548640"/>
          </a:xfrm>
          <a:prstGeom prst="rect">
            <a:avLst/>
          </a:prstGeom>
          <a:noFill/>
        </p:spPr>
        <p:txBody>
          <a:bodyPr wrap="square">
            <a:spAutoFit/>
          </a:bodyPr>
          <a:lstStyle/>
          <a:p>
            <a:pPr algn="l"/>
            <a:r>
              <a:rPr sz="2200" b="1">
                <a:solidFill>
                  <a:srgbClr val="D47A21"/>
                </a:solidFill>
              </a:rPr>
              <a:t>3</a:t>
            </a:r>
          </a:p>
        </p:txBody>
      </p:sp>
      <p:sp>
        <p:nvSpPr>
          <p:cNvPr id="15" name="TextBox 14"/>
          <p:cNvSpPr txBox="1"/>
          <p:nvPr/>
        </p:nvSpPr>
        <p:spPr>
          <a:xfrm>
            <a:off x="1097280" y="3300984"/>
            <a:ext cx="10332720" cy="384048"/>
          </a:xfrm>
          <a:prstGeom prst="rect">
            <a:avLst/>
          </a:prstGeom>
          <a:noFill/>
        </p:spPr>
        <p:txBody>
          <a:bodyPr wrap="square">
            <a:spAutoFit/>
          </a:bodyPr>
          <a:lstStyle/>
          <a:p>
            <a:pPr algn="l"/>
            <a:r>
              <a:rPr sz="1300" b="1">
                <a:solidFill>
                  <a:srgbClr val="FFFFFF"/>
                </a:solidFill>
              </a:rPr>
              <a:t>Pro vs Max - which subscription?</a:t>
            </a:r>
          </a:p>
        </p:txBody>
      </p:sp>
      <p:sp>
        <p:nvSpPr>
          <p:cNvPr id="16" name="TextBox 15"/>
          <p:cNvSpPr txBox="1"/>
          <p:nvPr/>
        </p:nvSpPr>
        <p:spPr>
          <a:xfrm>
            <a:off x="1097280" y="3666744"/>
            <a:ext cx="10332720" cy="402336"/>
          </a:xfrm>
          <a:prstGeom prst="rect">
            <a:avLst/>
          </a:prstGeom>
          <a:noFill/>
        </p:spPr>
        <p:txBody>
          <a:bodyPr wrap="square">
            <a:spAutoFit/>
          </a:bodyPr>
          <a:lstStyle/>
          <a:p>
            <a:pPr algn="l"/>
            <a:r>
              <a:rPr sz="1200" b="0">
                <a:solidFill>
                  <a:srgbClr val="CCCCCC"/>
                </a:solidFill>
              </a:rPr>
              <a:t>Pro: $17/mo annual or $20/mo. Max: from $100/mo with 5x or 20x the Pro usage. Both include Claude Code, both run Sonnet and Opus. Start with Pro. Move to Max only if you hit limits.</a:t>
            </a:r>
          </a:p>
        </p:txBody>
      </p:sp>
      <p:sp>
        <p:nvSpPr>
          <p:cNvPr id="17" name="Rectangle 16"/>
          <p:cNvSpPr/>
          <p:nvPr/>
        </p:nvSpPr>
        <p:spPr>
          <a:xfrm>
            <a:off x="457200" y="4133088"/>
            <a:ext cx="11247120" cy="84124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4242816"/>
            <a:ext cx="411480" cy="548640"/>
          </a:xfrm>
          <a:prstGeom prst="rect">
            <a:avLst/>
          </a:prstGeom>
          <a:noFill/>
        </p:spPr>
        <p:txBody>
          <a:bodyPr wrap="square">
            <a:spAutoFit/>
          </a:bodyPr>
          <a:lstStyle/>
          <a:p>
            <a:pPr algn="l"/>
            <a:r>
              <a:rPr sz="2200" b="1">
                <a:solidFill>
                  <a:srgbClr val="D47A21"/>
                </a:solidFill>
              </a:rPr>
              <a:t>4</a:t>
            </a:r>
          </a:p>
        </p:txBody>
      </p:sp>
      <p:sp>
        <p:nvSpPr>
          <p:cNvPr id="19" name="TextBox 18"/>
          <p:cNvSpPr txBox="1"/>
          <p:nvPr/>
        </p:nvSpPr>
        <p:spPr>
          <a:xfrm>
            <a:off x="1097280" y="4197096"/>
            <a:ext cx="10332720" cy="384048"/>
          </a:xfrm>
          <a:prstGeom prst="rect">
            <a:avLst/>
          </a:prstGeom>
          <a:noFill/>
        </p:spPr>
        <p:txBody>
          <a:bodyPr wrap="square">
            <a:spAutoFit/>
          </a:bodyPr>
          <a:lstStyle/>
          <a:p>
            <a:pPr algn="l"/>
            <a:r>
              <a:rPr sz="1300" b="1">
                <a:solidFill>
                  <a:srgbClr val="FFFFFF"/>
                </a:solidFill>
              </a:rPr>
              <a:t>Will my old npm-installed Claude Code conflict with the native install?</a:t>
            </a:r>
          </a:p>
        </p:txBody>
      </p:sp>
      <p:sp>
        <p:nvSpPr>
          <p:cNvPr id="20" name="TextBox 19"/>
          <p:cNvSpPr txBox="1"/>
          <p:nvPr/>
        </p:nvSpPr>
        <p:spPr>
          <a:xfrm>
            <a:off x="1097280" y="4562856"/>
            <a:ext cx="10332720" cy="402336"/>
          </a:xfrm>
          <a:prstGeom prst="rect">
            <a:avLst/>
          </a:prstGeom>
          <a:noFill/>
        </p:spPr>
        <p:txBody>
          <a:bodyPr wrap="square">
            <a:spAutoFit/>
          </a:bodyPr>
          <a:lstStyle/>
          <a:p>
            <a:pPr algn="l"/>
            <a:r>
              <a:rPr sz="1200" b="0">
                <a:solidFill>
                  <a:srgbClr val="CCCCCC"/>
                </a:solidFill>
              </a:rPr>
              <a:t>Both methods install the same binary. If claude --version points to the old install or you see odd behavior, run: npm uninstall -g @anthropic-ai/claude-code, then reinstall native.</a:t>
            </a:r>
          </a:p>
        </p:txBody>
      </p:sp>
      <p:sp>
        <p:nvSpPr>
          <p:cNvPr id="21" name="Rectangle 20"/>
          <p:cNvSpPr/>
          <p:nvPr/>
        </p:nvSpPr>
        <p:spPr>
          <a:xfrm>
            <a:off x="457200" y="5029200"/>
            <a:ext cx="11247120" cy="84124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5138928"/>
            <a:ext cx="411480" cy="548640"/>
          </a:xfrm>
          <a:prstGeom prst="rect">
            <a:avLst/>
          </a:prstGeom>
          <a:noFill/>
        </p:spPr>
        <p:txBody>
          <a:bodyPr wrap="square">
            <a:spAutoFit/>
          </a:bodyPr>
          <a:lstStyle/>
          <a:p>
            <a:pPr algn="l"/>
            <a:r>
              <a:rPr sz="2200" b="1">
                <a:solidFill>
                  <a:srgbClr val="D47A21"/>
                </a:solidFill>
              </a:rPr>
              <a:t>5</a:t>
            </a:r>
          </a:p>
        </p:txBody>
      </p:sp>
      <p:sp>
        <p:nvSpPr>
          <p:cNvPr id="23" name="TextBox 22"/>
          <p:cNvSpPr txBox="1"/>
          <p:nvPr/>
        </p:nvSpPr>
        <p:spPr>
          <a:xfrm>
            <a:off x="1097280" y="5093208"/>
            <a:ext cx="10332720" cy="384048"/>
          </a:xfrm>
          <a:prstGeom prst="rect">
            <a:avLst/>
          </a:prstGeom>
          <a:noFill/>
        </p:spPr>
        <p:txBody>
          <a:bodyPr wrap="square">
            <a:spAutoFit/>
          </a:bodyPr>
          <a:lstStyle/>
          <a:p>
            <a:pPr algn="l"/>
            <a:r>
              <a:rPr sz="1300" b="1">
                <a:solidFill>
                  <a:srgbClr val="FFFFFF"/>
                </a:solidFill>
              </a:rPr>
              <a:t>Can I use Claude Code without a GitHub account or knowing git?</a:t>
            </a:r>
          </a:p>
        </p:txBody>
      </p:sp>
      <p:sp>
        <p:nvSpPr>
          <p:cNvPr id="24" name="TextBox 23"/>
          <p:cNvSpPr txBox="1"/>
          <p:nvPr/>
        </p:nvSpPr>
        <p:spPr>
          <a:xfrm>
            <a:off x="1097280" y="5458968"/>
            <a:ext cx="10332720" cy="402336"/>
          </a:xfrm>
          <a:prstGeom prst="rect">
            <a:avLst/>
          </a:prstGeom>
          <a:noFill/>
        </p:spPr>
        <p:txBody>
          <a:bodyPr wrap="square">
            <a:spAutoFit/>
          </a:bodyPr>
          <a:lstStyle/>
          <a:p>
            <a:pPr algn="l"/>
            <a:r>
              <a:rPr sz="1200" b="0">
                <a:solidFill>
                  <a:srgbClr val="CCCCCC"/>
                </a:solidFill>
              </a:rPr>
              <a:t>GitHub is not required. Git for Windows is recommended on native Windows so Claude can use the Bash tool. Without it, Claude Code falls back to PowerShell. Mac, Linux, and WSL do not need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10972800" cy="2011680"/>
          </a:xfrm>
          <a:prstGeom prst="rect">
            <a:avLst/>
          </a:prstGeom>
          <a:noFill/>
        </p:spPr>
        <p:txBody>
          <a:bodyPr wrap="square">
            <a:spAutoFit/>
          </a:bodyPr>
          <a:lstStyle/>
          <a:p>
            <a:pPr algn="l"/>
            <a:r>
              <a:rPr sz="8000" b="1">
                <a:solidFill>
                  <a:srgbClr val="FFFFFF"/>
                </a:solidFill>
              </a:rPr>
              <a:t>Questions?</a:t>
            </a:r>
          </a:p>
        </p:txBody>
      </p:sp>
      <p:sp>
        <p:nvSpPr>
          <p:cNvPr id="4" name="Rectangle 3"/>
          <p:cNvSpPr/>
          <p:nvPr/>
        </p:nvSpPr>
        <p:spPr>
          <a:xfrm>
            <a:off x="548640" y="35661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40480"/>
            <a:ext cx="10972800" cy="594360"/>
          </a:xfrm>
          <a:prstGeom prst="rect">
            <a:avLst/>
          </a:prstGeom>
          <a:noFill/>
        </p:spPr>
        <p:txBody>
          <a:bodyPr wrap="square">
            <a:spAutoFit/>
          </a:bodyPr>
          <a:lstStyle/>
          <a:p>
            <a:pPr algn="l"/>
            <a:r>
              <a:rPr sz="2200" b="0">
                <a:solidFill>
                  <a:srgbClr val="D47A21"/>
                </a:solidFill>
              </a:rPr>
              <a:t>Aman Parmar  -  Senior Product Manager</a:t>
            </a:r>
          </a:p>
        </p:txBody>
      </p:sp>
      <p:sp>
        <p:nvSpPr>
          <p:cNvPr id="6" name="TextBox 5"/>
          <p:cNvSpPr txBox="1"/>
          <p:nvPr/>
        </p:nvSpPr>
        <p:spPr>
          <a:xfrm>
            <a:off x="548640" y="4572000"/>
            <a:ext cx="10972800" cy="1097280"/>
          </a:xfrm>
          <a:prstGeom prst="rect">
            <a:avLst/>
          </a:prstGeom>
          <a:noFill/>
        </p:spPr>
        <p:txBody>
          <a:bodyPr wrap="square">
            <a:spAutoFit/>
          </a:bodyPr>
          <a:lstStyle/>
          <a:p>
            <a:pPr algn="l"/>
            <a:r>
              <a:rPr sz="1500" b="0">
                <a:solidFill>
                  <a:srgbClr val="CCCCCC"/>
                </a:solidFill>
              </a:rPr>
              <a:t>Substack:  https://amanparmar3.substack.com/
LinkedIn:  https://www.linkedin.com/in/amanmparmar
GitHub:    https://github.com/qa-aman</a:t>
            </a:r>
          </a:p>
        </p:txBody>
      </p:sp>
      <p:sp>
        <p:nvSpPr>
          <p:cNvPr id="7" name="TextBox 6"/>
          <p:cNvSpPr txBox="1"/>
          <p:nvPr/>
        </p:nvSpPr>
        <p:spPr>
          <a:xfrm>
            <a:off x="548640" y="5806440"/>
            <a:ext cx="11430000" cy="411480"/>
          </a:xfrm>
          <a:prstGeom prst="rect">
            <a:avLst/>
          </a:prstGeom>
          <a:noFill/>
        </p:spPr>
        <p:txBody>
          <a:bodyPr wrap="square">
            <a:spAutoFit/>
          </a:bodyPr>
          <a:lstStyle/>
          <a:p>
            <a:pPr algn="l"/>
            <a:r>
              <a:rPr sz="1200" b="0">
                <a:solidFill>
                  <a:srgbClr val="888888"/>
                </a:solidFill>
              </a:rPr>
              <a:t>Workshop repo:  github.com/qa-aman/next-leap-claude-code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