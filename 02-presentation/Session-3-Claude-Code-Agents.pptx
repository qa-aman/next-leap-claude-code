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8" r:id="rId16"/>
    <p:sldId id="270" r:id="rId17"/>
    <p:sldId id="271" r:id="rId18"/>
    <p:sldId id="272" r:id="rId19"/>
    <p:sldId id="273" r:id="rId20"/>
    <p:sldId id="274" r:id="rId21"/>
    <p:sldId id="275" r:id="rId22"/>
    <p:sldId id="276" r:id="rId23"/>
    <p:sldId id="277" r:id="rId2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25"/>
  </p:normalViewPr>
  <p:slideViewPr>
    <p:cSldViewPr snapToGrid="0" snapToObjects="1">
      <p:cViewPr varScale="1">
        <p:scale>
          <a:sx n="116" d="100"/>
          <a:sy n="116" d="100"/>
        </p:scale>
        <p:origin x="60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9185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Welcome to Session 3. Sessions 1 and 2 covered setup and skills. Today is where it gets real: agents.</a:t>
            </a:r>
          </a:p>
          <a:p>
            <a:endParaRPr/>
          </a:p>
          <a:p>
            <a:r>
              <a:t>An agent is not a chatbot. It is a loop that decides, acts, and iterates. By the end of today you will have shipped your first subagent in Claude Code.</a:t>
            </a:r>
          </a:p>
          <a:p>
            <a:endParaRPr/>
          </a:p>
          <a:p>
            <a:r>
              <a:t>Let's go.</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Six parts. Parts 1 through 4 are concepts - fast and concrete. Parts 5 and 6 are hands-on.</a:t>
            </a:r>
          </a:p>
          <a:p>
            <a:endParaRPr/>
          </a:p>
          <a:p>
            <a:r>
              <a:t>Do not skip Part 4. Where agents break is where most people get burned the first time.</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The mental model shift is simple: a prompt produces one output and stops. An agent loops. It observes, decides, acts, then looks at the result and decides again.</a:t>
            </a:r>
          </a:p>
          <a:p>
            <a:endParaRPr/>
          </a:p>
          <a:p>
            <a:r>
              <a:t>This is not incremental. It is architectural.</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The analogy holds in every dimension. With a student driver you cannot look away. With a hired driver you set the destination, sit back, and check when you arrive.</a:t>
            </a:r>
          </a:p>
          <a:p>
            <a:endParaRPr/>
          </a:p>
          <a:p>
            <a:r>
              <a:t>The skill you are building is writing better destination instructions - not controlling every turn.</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The left panel is a one-shot request. The right panel is a repeating process that runs while you sleep.</a:t>
            </a:r>
          </a:p>
          <a:p>
            <a:endParaRPr/>
          </a:p>
          <a:p>
            <a:r>
              <a:t>The agent on the right is not smarter. It has a goal, a schedule, and a set of steps. That is the difference.</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Three sentences. Memorize the one in the box. If someone asks you what an agent is at work tomorrow, that is your answer.</a:t>
            </a:r>
          </a:p>
          <a:p>
            <a:endParaRPr/>
          </a:p>
          <a:p>
            <a:r>
              <a:t>The loop is the key word. Without iteration, it is just a prompt.</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Boyd developed OODA for fighter pilots making split-second decisions. The agent that loops faster wins - same principle.</a:t>
            </a:r>
          </a:p>
          <a:p>
            <a:endParaRPr/>
          </a:p>
          <a:p>
            <a:r>
              <a:t>The key word in DECIDE is 'even if it's a detour'. Good agents do not get stuck when the first path fails. They reroute.</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These four roles are not separate models. They are modes the same LLM cycles through as it works.</a:t>
            </a:r>
          </a:p>
          <a:p>
            <a:endParaRPr/>
          </a:p>
          <a:p>
            <a:r>
              <a:t>The Auditor is the most underrated. Most agent failures happen because there is no internal review step before the output ships.</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Workflows are rigid by design. Agents are adaptive by design. The right tool depends on the problem.</a:t>
            </a:r>
          </a:p>
          <a:p>
            <a:endParaRPr/>
          </a:p>
          <a:p>
            <a:r>
              <a:t>If the world never changes and every input is predictable, use a workflow. If context shifts, use an agent.</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Run this test before every agent you build. If all three are yes, ship it. If any is no, pause and reconsider.</a:t>
            </a:r>
          </a:p>
          <a:p>
            <a:endParaRPr/>
          </a:p>
          <a:p>
            <a:r>
              <a:t>Reviewable is the one people skip. If you cannot tell whether the agent did a good job, you will not know when it breaks.</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This is the slide most people need to sit with. The instinct is to blame the model. Usually it is the spec.</a:t>
            </a:r>
          </a:p>
          <a:p>
            <a:endParaRPr/>
          </a:p>
          <a:p>
            <a:r>
              <a:t>Before filing a bug against the agent, reread your goal statement.</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GPS is a pre-flight checklist. Run it before you open Claude Code, not after you have already built something.</a:t>
            </a:r>
          </a:p>
          <a:p>
            <a:endParaRPr/>
          </a:p>
          <a:p>
            <a:r>
              <a:t>If you cannot write the Proof step, stop. You do not know what success looks like yet.</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The precise version is not longer because it is better writing. It is longer because the person understands what they actually need.</a:t>
            </a:r>
          </a:p>
          <a:p>
            <a:endParaRPr/>
          </a:p>
          <a:p>
            <a:r>
              <a:t>The skill being built here is not prompting. It is clarity of thought.</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This is where theory becomes practice. We are building a subagent together right now.</a:t>
            </a:r>
          </a:p>
          <a:p>
            <a:endParaRPr/>
          </a:p>
          <a:p>
            <a:r>
              <a:t>The key insight: a subagent is not a different product. It is a markdown file with a YAML header. You already know how to write markdown.</a:t>
            </a:r>
          </a:p>
          <a:p>
            <a:endParaRPr/>
          </a:p>
          <a:p>
            <a:r>
              <a:t>LIVE DEMO:</a:t>
            </a:r>
          </a:p>
          <a:p>
            <a:r>
              <a:t>Open Claude Code, type /agents, walk through the Create panel.</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Show the code panel live. Walk line by line: the YAML header sets the identity and the tools. The markdown body is the entire system prompt.</a:t>
            </a:r>
          </a:p>
          <a:p>
            <a:endParaRPr/>
          </a:p>
          <a:p>
            <a:r>
              <a:t>The description field is where triggering logic goes. Claude reads it to decide when to call this subagent automatically.</a:t>
            </a:r>
          </a:p>
          <a:p>
            <a:endParaRPr/>
          </a:p>
          <a:p>
            <a:r>
              <a:t>LIVE DEMO:</a:t>
            </a:r>
          </a:p>
          <a:p>
            <a:r>
              <a:t>Open the code-reviewer.md from the workshop repo and show the file in Antigravity IDE.</a:t>
            </a:r>
          </a:p>
          <a:p>
            <a:endParaRPr/>
          </a:p>
          <a:p>
            <a:r>
              <a:t>SOURCE:</a:t>
            </a:r>
          </a:p>
          <a:p>
            <a:r>
              <a:t>github.com/qa-aman/next-leap-claude-code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You get three subagents out of the box. Explore uses Haiku to keep search costs low. Plan is what runs behind the scenes when you use Plan mode.</a:t>
            </a:r>
          </a:p>
          <a:p>
            <a:endParaRPr/>
          </a:p>
          <a:p>
            <a:r>
              <a:t>General-Purpose is the one you will customize most. It is the blank slate.</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Pattern 1 is the one that saves the most tokens. Keep verbose output inside a subagent. Only the decision surfaces to the main thread.</a:t>
            </a:r>
          </a:p>
          <a:p>
            <a:endParaRPr/>
          </a:p>
          <a:p>
            <a:r>
              <a:t>Pattern 3 is the fan-out and fan-in you will use for any multi-file project.</a:t>
            </a:r>
          </a:p>
          <a:p>
            <a:endParaRPr/>
          </a:p>
          <a:p>
            <a:r>
              <a:t>LIVE DEMO:</a:t>
            </a:r>
          </a:p>
          <a:p>
            <a:r>
              <a:t>Show a live fan-out: dispatch two subagents in parallel from the Claude Code session, then synthesize.</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Five steps. Tonight's homework is steps 1 through 3. You can do them without opening Claude Code.</a:t>
            </a:r>
          </a:p>
          <a:p>
            <a:endParaRPr/>
          </a:p>
          <a:p>
            <a:r>
              <a:t>Steps 4 and 5 take 10 minutes once you have the goal written down.</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Five sentences. If the audience remembers only one, make it the first: a loop that uses tools to reach a goal.</a:t>
            </a:r>
          </a:p>
          <a:p>
            <a:endParaRPr/>
          </a:p>
          <a:p>
            <a:r>
              <a:t>The rest follows from that.</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Eight terms. Walk through Agent and Subagent first - they are the ones that cause the most confusion.</a:t>
            </a:r>
          </a:p>
          <a:p>
            <a:endParaRPr/>
          </a:p>
          <a:p>
            <a:r>
              <a:t>Hallucination is the one that matters most for trust. Agents still hallucinate. Always verify external claims.</a:t>
            </a:r>
          </a:p>
          <a:p>
            <a:endParaRPr/>
          </a:p>
          <a:p>
            <a:r>
              <a:t>SOURCE:</a:t>
            </a:r>
          </a:p>
          <a:p>
            <a:r>
              <a:t>original framing, March 2026 cohort Q+A</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Five questions sourced from the March 2026 cohort transcripts.</a:t>
            </a:r>
          </a:p>
          <a:p>
            <a:endParaRPr/>
          </a:p>
          <a:p>
            <a:r>
              <a:t>Q1 is the most common: Skills vs Agents. Skills load context. Agents take actions. Different layers of the same tool.</a:t>
            </a:r>
          </a:p>
          <a:p>
            <a:endParaRPr/>
          </a:p>
          <a:p>
            <a:r>
              <a:t>Q5 is the one engineers will ask. Production hardening is real work. Be honest about the boundary.</a:t>
            </a:r>
          </a:p>
          <a:p>
            <a:endParaRPr/>
          </a:p>
          <a:p>
            <a:r>
              <a:t>SOURCE:</a:t>
            </a:r>
          </a:p>
          <a:p>
            <a:r>
              <a:t>Q1, Q4: code.claude.com/docs/en/sub-agents, fetched 16-05-2026</a:t>
            </a:r>
          </a:p>
          <a:p>
            <a:r>
              <a:t>Q2: code.claude.com/docs/en/common-workflows (plan mode + delegate research), fetched 16-05-2026</a:t>
            </a:r>
          </a:p>
          <a:p>
            <a:r>
              <a:t>Q3: code.claude.com/docs/en/sub-agents (Control costs by routing tasks to faster, cheaper models like Haiku), fetched 16-05-2026</a:t>
            </a:r>
          </a:p>
          <a:p>
            <a:r>
              <a:t>Q5: code.claude.com/docs/en/sub-agents + claude.com/pricing, fetched 16-05-2026</a:t>
            </a:r>
          </a:p>
          <a:p>
            <a:endParaRPr/>
          </a:p>
          <a:p>
            <a:r>
              <a:t>WATCH FOR:</a:t>
            </a:r>
          </a:p>
          <a:p>
            <a:r>
              <a:t>"What about privacy with agent runs?" - Agent tool calls go through your Claude subscription. Anthropic Pro and Max data is not used for training by default; see privacy.claude.com.</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Open floor. Take questions in order: build failures first, then cost, then concepts.</a:t>
            </a:r>
          </a:p>
          <a:p>
            <a:endParaRPr/>
          </a:p>
          <a:p>
            <a:r>
              <a:t>Three common questions to prep for:</a:t>
            </a:r>
          </a:p>
          <a:p>
            <a:r>
              <a:t>1. "My subagent is ignoring my instructions" - Check the description field. That is the trigger. If the description is vague, Claude will not know when to call it.</a:t>
            </a:r>
          </a:p>
          <a:p>
            <a:r>
              <a:t>2. "How do I see what the agent actually did?" - The trace shows each tool call. Open the expandable steps in Claude Code.</a:t>
            </a:r>
          </a:p>
          <a:p>
            <a:r>
              <a:t>3. "What should I build first?" - The boring repeating task. Not the ambitious one.</a:t>
            </a:r>
          </a:p>
          <a:p>
            <a:endParaRPr/>
          </a:p>
          <a:p>
            <a:r>
              <a:t>SOURCE:</a:t>
            </a:r>
          </a:p>
          <a:p>
            <a:r>
              <a:t>original framing</a:t>
            </a:r>
          </a:p>
          <a:p>
            <a:endParaRPr/>
          </a:p>
          <a:p>
            <a:r>
              <a:t>WATCH FOR:</a:t>
            </a:r>
          </a:p>
          <a:p>
            <a:r>
              <a:t>"Can I share my subagent with my team?" - Yes. Commit the .claude/agents/ folder to the project repo. Anyone who clones it gets the subagent.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0080"/>
            <a:ext cx="10972800" cy="457200"/>
          </a:xfrm>
          <a:prstGeom prst="rect">
            <a:avLst/>
          </a:prstGeom>
          <a:noFill/>
        </p:spPr>
        <p:txBody>
          <a:bodyPr wrap="square">
            <a:spAutoFit/>
          </a:bodyPr>
          <a:lstStyle/>
          <a:p>
            <a:pPr algn="l"/>
            <a:r>
              <a:rPr sz="1300" b="0">
                <a:solidFill>
                  <a:srgbClr val="888888"/>
                </a:solidFill>
              </a:rPr>
              <a:t>CLAUDE CODE WORKSHOP  -  SESSION 3</a:t>
            </a:r>
          </a:p>
        </p:txBody>
      </p:sp>
      <p:sp>
        <p:nvSpPr>
          <p:cNvPr id="4" name="TextBox 3"/>
          <p:cNvSpPr txBox="1"/>
          <p:nvPr/>
        </p:nvSpPr>
        <p:spPr>
          <a:xfrm>
            <a:off x="548640" y="1280160"/>
            <a:ext cx="10972800" cy="1371600"/>
          </a:xfrm>
          <a:prstGeom prst="rect">
            <a:avLst/>
          </a:prstGeom>
          <a:noFill/>
        </p:spPr>
        <p:txBody>
          <a:bodyPr wrap="square">
            <a:spAutoFit/>
          </a:bodyPr>
          <a:lstStyle/>
          <a:p>
            <a:pPr algn="l"/>
            <a:r>
              <a:rPr sz="6400" b="1">
                <a:solidFill>
                  <a:srgbClr val="FFFFFF"/>
                </a:solidFill>
              </a:rPr>
              <a:t>AI Agents</a:t>
            </a:r>
          </a:p>
        </p:txBody>
      </p:sp>
      <p:sp>
        <p:nvSpPr>
          <p:cNvPr id="5" name="TextBox 4"/>
          <p:cNvSpPr txBox="1"/>
          <p:nvPr/>
        </p:nvSpPr>
        <p:spPr>
          <a:xfrm>
            <a:off x="548640" y="2834640"/>
            <a:ext cx="11430000" cy="731520"/>
          </a:xfrm>
          <a:prstGeom prst="rect">
            <a:avLst/>
          </a:prstGeom>
          <a:noFill/>
        </p:spPr>
        <p:txBody>
          <a:bodyPr wrap="square">
            <a:spAutoFit/>
          </a:bodyPr>
          <a:lstStyle/>
          <a:p>
            <a:pPr algn="l"/>
            <a:r>
              <a:rPr sz="2400" b="0">
                <a:solidFill>
                  <a:srgbClr val="D47A21"/>
                </a:solidFill>
              </a:rPr>
              <a:t>What agents are, how they work, when to use them, where they break.</a:t>
            </a:r>
          </a:p>
        </p:txBody>
      </p:sp>
      <p:sp>
        <p:nvSpPr>
          <p:cNvPr id="6" name="Rectangle 5"/>
          <p:cNvSpPr/>
          <p:nvPr/>
        </p:nvSpPr>
        <p:spPr>
          <a:xfrm>
            <a:off x="548640" y="38404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4114800"/>
            <a:ext cx="10972800" cy="1645920"/>
          </a:xfrm>
          <a:prstGeom prst="rect">
            <a:avLst/>
          </a:prstGeom>
          <a:noFill/>
        </p:spPr>
        <p:txBody>
          <a:bodyPr wrap="square">
            <a:spAutoFit/>
          </a:bodyPr>
          <a:lstStyle/>
          <a:p>
            <a:pPr algn="l"/>
            <a:r>
              <a:rPr sz="1900" b="0">
                <a:solidFill>
                  <a:srgbClr val="CCCCCC"/>
                </a:solidFill>
              </a:rPr>
              <a:t>By the end of this session you will know:
when to use an agent, the four parts that make one work, and how to ship one with Claude Code.</a:t>
            </a:r>
          </a:p>
        </p:txBody>
      </p:sp>
      <p:sp>
        <p:nvSpPr>
          <p:cNvPr id="8" name="TextBox 7"/>
          <p:cNvSpPr txBox="1"/>
          <p:nvPr/>
        </p:nvSpPr>
        <p:spPr>
          <a:xfrm>
            <a:off x="548640" y="6126480"/>
            <a:ext cx="11430000" cy="365760"/>
          </a:xfrm>
          <a:prstGeom prst="rect">
            <a:avLst/>
          </a:prstGeom>
          <a:noFill/>
        </p:spPr>
        <p:txBody>
          <a:bodyPr wrap="square">
            <a:spAutoFit/>
          </a:bodyPr>
          <a:lstStyle/>
          <a:p>
            <a:pPr algn="l"/>
            <a:r>
              <a:rPr sz="1200" b="0">
                <a:solidFill>
                  <a:srgbClr val="888888"/>
                </a:solidFill>
              </a:rPr>
              <a:t>Aman Parmar  -  Senior Product Manager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0972800" cy="822960"/>
          </a:xfrm>
          <a:prstGeom prst="rect">
            <a:avLst/>
          </a:prstGeom>
          <a:noFill/>
        </p:spPr>
        <p:txBody>
          <a:bodyPr wrap="square">
            <a:spAutoFit/>
          </a:bodyPr>
          <a:lstStyle/>
          <a:p>
            <a:pPr algn="l"/>
            <a:r>
              <a:rPr sz="3200" b="1">
                <a:solidFill>
                  <a:srgbClr val="FFFFFF"/>
                </a:solidFill>
              </a:rPr>
              <a:t>What We're Covering Today</a:t>
            </a:r>
          </a:p>
        </p:txBody>
      </p:sp>
      <p:sp>
        <p:nvSpPr>
          <p:cNvPr id="4" name="Rectangle 3"/>
          <p:cNvSpPr/>
          <p:nvPr/>
        </p:nvSpPr>
        <p:spPr>
          <a:xfrm>
            <a:off x="457200" y="1682496"/>
            <a:ext cx="11247120" cy="58521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783080"/>
            <a:ext cx="1645920" cy="640080"/>
          </a:xfrm>
          <a:prstGeom prst="rect">
            <a:avLst/>
          </a:prstGeom>
          <a:noFill/>
        </p:spPr>
        <p:txBody>
          <a:bodyPr wrap="square">
            <a:spAutoFit/>
          </a:bodyPr>
          <a:lstStyle/>
          <a:p>
            <a:pPr algn="l"/>
            <a:r>
              <a:rPr sz="1500" b="1">
                <a:solidFill>
                  <a:srgbClr val="D47A21"/>
                </a:solidFill>
              </a:rPr>
              <a:t>Part 1</a:t>
            </a:r>
          </a:p>
        </p:txBody>
      </p:sp>
      <p:sp>
        <p:nvSpPr>
          <p:cNvPr id="6" name="TextBox 5"/>
          <p:cNvSpPr txBox="1"/>
          <p:nvPr/>
        </p:nvSpPr>
        <p:spPr>
          <a:xfrm>
            <a:off x="2377440" y="1783080"/>
            <a:ext cx="9144000" cy="640080"/>
          </a:xfrm>
          <a:prstGeom prst="rect">
            <a:avLst/>
          </a:prstGeom>
          <a:noFill/>
        </p:spPr>
        <p:txBody>
          <a:bodyPr wrap="square">
            <a:spAutoFit/>
          </a:bodyPr>
          <a:lstStyle/>
          <a:p>
            <a:pPr algn="l"/>
            <a:r>
              <a:rPr sz="1700" b="0">
                <a:solidFill>
                  <a:srgbClr val="FFFFFF"/>
                </a:solidFill>
              </a:rPr>
              <a:t>Why agents matter - the shift from prompts to agents</a:t>
            </a:r>
          </a:p>
        </p:txBody>
      </p:sp>
      <p:sp>
        <p:nvSpPr>
          <p:cNvPr id="7" name="TextBox 6"/>
          <p:cNvSpPr txBox="1"/>
          <p:nvPr/>
        </p:nvSpPr>
        <p:spPr>
          <a:xfrm>
            <a:off x="640080" y="2423160"/>
            <a:ext cx="1645920" cy="640080"/>
          </a:xfrm>
          <a:prstGeom prst="rect">
            <a:avLst/>
          </a:prstGeom>
          <a:noFill/>
        </p:spPr>
        <p:txBody>
          <a:bodyPr wrap="square">
            <a:spAutoFit/>
          </a:bodyPr>
          <a:lstStyle/>
          <a:p>
            <a:pPr algn="l"/>
            <a:r>
              <a:rPr sz="1500" b="1">
                <a:solidFill>
                  <a:srgbClr val="D47A21"/>
                </a:solidFill>
              </a:rPr>
              <a:t>Part 2</a:t>
            </a:r>
          </a:p>
        </p:txBody>
      </p:sp>
      <p:sp>
        <p:nvSpPr>
          <p:cNvPr id="8" name="TextBox 7"/>
          <p:cNvSpPr txBox="1"/>
          <p:nvPr/>
        </p:nvSpPr>
        <p:spPr>
          <a:xfrm>
            <a:off x="2377440" y="2423160"/>
            <a:ext cx="9144000" cy="640080"/>
          </a:xfrm>
          <a:prstGeom prst="rect">
            <a:avLst/>
          </a:prstGeom>
          <a:noFill/>
        </p:spPr>
        <p:txBody>
          <a:bodyPr wrap="square">
            <a:spAutoFit/>
          </a:bodyPr>
          <a:lstStyle/>
          <a:p>
            <a:pPr algn="l"/>
            <a:r>
              <a:rPr sz="1700" b="0">
                <a:solidFill>
                  <a:srgbClr val="FFFFFF"/>
                </a:solidFill>
              </a:rPr>
              <a:t>How agents work - the loop and the four workers inside</a:t>
            </a:r>
          </a:p>
        </p:txBody>
      </p:sp>
      <p:sp>
        <p:nvSpPr>
          <p:cNvPr id="9" name="Rectangle 8"/>
          <p:cNvSpPr/>
          <p:nvPr/>
        </p:nvSpPr>
        <p:spPr>
          <a:xfrm>
            <a:off x="457200" y="2962656"/>
            <a:ext cx="11247120" cy="58521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063240"/>
            <a:ext cx="1645920" cy="640080"/>
          </a:xfrm>
          <a:prstGeom prst="rect">
            <a:avLst/>
          </a:prstGeom>
          <a:noFill/>
        </p:spPr>
        <p:txBody>
          <a:bodyPr wrap="square">
            <a:spAutoFit/>
          </a:bodyPr>
          <a:lstStyle/>
          <a:p>
            <a:pPr algn="l"/>
            <a:r>
              <a:rPr sz="1500" b="1">
                <a:solidFill>
                  <a:srgbClr val="D47A21"/>
                </a:solidFill>
              </a:rPr>
              <a:t>Part 3</a:t>
            </a:r>
          </a:p>
        </p:txBody>
      </p:sp>
      <p:sp>
        <p:nvSpPr>
          <p:cNvPr id="11" name="TextBox 10"/>
          <p:cNvSpPr txBox="1"/>
          <p:nvPr/>
        </p:nvSpPr>
        <p:spPr>
          <a:xfrm>
            <a:off x="2377440" y="3063240"/>
            <a:ext cx="9144000" cy="640080"/>
          </a:xfrm>
          <a:prstGeom prst="rect">
            <a:avLst/>
          </a:prstGeom>
          <a:noFill/>
        </p:spPr>
        <p:txBody>
          <a:bodyPr wrap="square">
            <a:spAutoFit/>
          </a:bodyPr>
          <a:lstStyle/>
          <a:p>
            <a:pPr algn="l"/>
            <a:r>
              <a:rPr sz="1700" b="0">
                <a:solidFill>
                  <a:srgbClr val="FFFFFF"/>
                </a:solidFill>
              </a:rPr>
              <a:t>When to use them - the ARR framework</a:t>
            </a:r>
          </a:p>
        </p:txBody>
      </p:sp>
      <p:sp>
        <p:nvSpPr>
          <p:cNvPr id="12" name="TextBox 11"/>
          <p:cNvSpPr txBox="1"/>
          <p:nvPr/>
        </p:nvSpPr>
        <p:spPr>
          <a:xfrm>
            <a:off x="640080" y="3703320"/>
            <a:ext cx="1645920" cy="640080"/>
          </a:xfrm>
          <a:prstGeom prst="rect">
            <a:avLst/>
          </a:prstGeom>
          <a:noFill/>
        </p:spPr>
        <p:txBody>
          <a:bodyPr wrap="square">
            <a:spAutoFit/>
          </a:bodyPr>
          <a:lstStyle/>
          <a:p>
            <a:pPr algn="l"/>
            <a:r>
              <a:rPr sz="1500" b="1">
                <a:solidFill>
                  <a:srgbClr val="D47A21"/>
                </a:solidFill>
              </a:rPr>
              <a:t>Part 4</a:t>
            </a:r>
          </a:p>
        </p:txBody>
      </p:sp>
      <p:sp>
        <p:nvSpPr>
          <p:cNvPr id="13" name="TextBox 12"/>
          <p:cNvSpPr txBox="1"/>
          <p:nvPr/>
        </p:nvSpPr>
        <p:spPr>
          <a:xfrm>
            <a:off x="2377440" y="3703320"/>
            <a:ext cx="9144000" cy="640080"/>
          </a:xfrm>
          <a:prstGeom prst="rect">
            <a:avLst/>
          </a:prstGeom>
          <a:noFill/>
        </p:spPr>
        <p:txBody>
          <a:bodyPr wrap="square">
            <a:spAutoFit/>
          </a:bodyPr>
          <a:lstStyle/>
          <a:p>
            <a:pPr algn="l"/>
            <a:r>
              <a:rPr sz="1700" b="0">
                <a:solidFill>
                  <a:srgbClr val="FFFFFF"/>
                </a:solidFill>
              </a:rPr>
              <a:t>Where they break - vague humans, confident agents</a:t>
            </a:r>
          </a:p>
        </p:txBody>
      </p:sp>
      <p:sp>
        <p:nvSpPr>
          <p:cNvPr id="14" name="Rectangle 13"/>
          <p:cNvSpPr/>
          <p:nvPr/>
        </p:nvSpPr>
        <p:spPr>
          <a:xfrm>
            <a:off x="457200" y="4242816"/>
            <a:ext cx="11247120" cy="58521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4343400"/>
            <a:ext cx="1645920" cy="640080"/>
          </a:xfrm>
          <a:prstGeom prst="rect">
            <a:avLst/>
          </a:prstGeom>
          <a:noFill/>
        </p:spPr>
        <p:txBody>
          <a:bodyPr wrap="square">
            <a:spAutoFit/>
          </a:bodyPr>
          <a:lstStyle/>
          <a:p>
            <a:pPr algn="l"/>
            <a:r>
              <a:rPr sz="1500" b="1">
                <a:solidFill>
                  <a:srgbClr val="D47A21"/>
                </a:solidFill>
              </a:rPr>
              <a:t>Part 5</a:t>
            </a:r>
          </a:p>
        </p:txBody>
      </p:sp>
      <p:sp>
        <p:nvSpPr>
          <p:cNvPr id="16" name="TextBox 15"/>
          <p:cNvSpPr txBox="1"/>
          <p:nvPr/>
        </p:nvSpPr>
        <p:spPr>
          <a:xfrm>
            <a:off x="2377440" y="4343400"/>
            <a:ext cx="9144000" cy="640080"/>
          </a:xfrm>
          <a:prstGeom prst="rect">
            <a:avLst/>
          </a:prstGeom>
          <a:noFill/>
        </p:spPr>
        <p:txBody>
          <a:bodyPr wrap="square">
            <a:spAutoFit/>
          </a:bodyPr>
          <a:lstStyle/>
          <a:p>
            <a:pPr algn="l"/>
            <a:r>
              <a:rPr sz="1700" b="0">
                <a:solidFill>
                  <a:srgbClr val="FFFFFF"/>
                </a:solidFill>
              </a:rPr>
              <a:t>Hands-on - subagents in Claude Code</a:t>
            </a:r>
          </a:p>
        </p:txBody>
      </p:sp>
      <p:sp>
        <p:nvSpPr>
          <p:cNvPr id="17" name="TextBox 16"/>
          <p:cNvSpPr txBox="1"/>
          <p:nvPr/>
        </p:nvSpPr>
        <p:spPr>
          <a:xfrm>
            <a:off x="640080" y="4983480"/>
            <a:ext cx="1645920" cy="640080"/>
          </a:xfrm>
          <a:prstGeom prst="rect">
            <a:avLst/>
          </a:prstGeom>
          <a:noFill/>
        </p:spPr>
        <p:txBody>
          <a:bodyPr wrap="square">
            <a:spAutoFit/>
          </a:bodyPr>
          <a:lstStyle/>
          <a:p>
            <a:pPr algn="l"/>
            <a:r>
              <a:rPr sz="1500" b="1">
                <a:solidFill>
                  <a:srgbClr val="D47A21"/>
                </a:solidFill>
              </a:rPr>
              <a:t>Part 6</a:t>
            </a:r>
          </a:p>
        </p:txBody>
      </p:sp>
      <p:sp>
        <p:nvSpPr>
          <p:cNvPr id="18" name="TextBox 17"/>
          <p:cNvSpPr txBox="1"/>
          <p:nvPr/>
        </p:nvSpPr>
        <p:spPr>
          <a:xfrm>
            <a:off x="2377440" y="4983480"/>
            <a:ext cx="9144000" cy="640080"/>
          </a:xfrm>
          <a:prstGeom prst="rect">
            <a:avLst/>
          </a:prstGeom>
          <a:noFill/>
        </p:spPr>
        <p:txBody>
          <a:bodyPr wrap="square">
            <a:spAutoFit/>
          </a:bodyPr>
          <a:lstStyle/>
          <a:p>
            <a:pPr algn="l"/>
            <a:r>
              <a:rPr sz="1700" b="0">
                <a:solidFill>
                  <a:srgbClr val="FFFFFF"/>
                </a:solidFill>
              </a:rPr>
              <a:t>Your move - one agent you ship this week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1  -  WHY IT MATTERS</a:t>
            </a:r>
          </a:p>
        </p:txBody>
      </p:sp>
      <p:sp>
        <p:nvSpPr>
          <p:cNvPr id="4" name="TextBox 3"/>
          <p:cNvSpPr txBox="1"/>
          <p:nvPr/>
        </p:nvSpPr>
        <p:spPr>
          <a:xfrm>
            <a:off x="548640" y="914400"/>
            <a:ext cx="11430000" cy="1097280"/>
          </a:xfrm>
          <a:prstGeom prst="rect">
            <a:avLst/>
          </a:prstGeom>
          <a:noFill/>
        </p:spPr>
        <p:txBody>
          <a:bodyPr wrap="square">
            <a:spAutoFit/>
          </a:bodyPr>
          <a:lstStyle/>
          <a:p>
            <a:pPr algn="l"/>
            <a:r>
              <a:rPr sz="3400" b="1">
                <a:solidFill>
                  <a:srgbClr val="FFFFFF"/>
                </a:solidFill>
              </a:rPr>
              <a:t>A Chatbot Answers. An Agent Gets It Done.</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286000"/>
            <a:ext cx="10972800" cy="3840480"/>
          </a:xfrm>
          <a:prstGeom prst="rect">
            <a:avLst/>
          </a:prstGeom>
          <a:noFill/>
        </p:spPr>
        <p:txBody>
          <a:bodyPr wrap="square">
            <a:spAutoFit/>
          </a:bodyPr>
          <a:lstStyle/>
          <a:p>
            <a:pPr algn="l">
              <a:spcAft>
                <a:spcPts val="1000"/>
              </a:spcAft>
            </a:pPr>
            <a:r>
              <a:rPr sz="2100">
                <a:solidFill>
                  <a:srgbClr val="CCCCCC"/>
                </a:solidFill>
              </a:rPr>
              <a:t>  ChatGPT in 2023: you ask, it replies, you copy-paste the answer.</a:t>
            </a:r>
          </a:p>
          <a:p>
            <a:pPr algn="l">
              <a:spcAft>
                <a:spcPts val="1000"/>
              </a:spcAft>
            </a:pPr>
            <a:r>
              <a:rPr sz="2100">
                <a:solidFill>
                  <a:srgbClr val="CCCCCC"/>
                </a:solidFill>
              </a:rPr>
              <a:t>  An agent: you give it a goal, it plans, it acts, it iterates.</a:t>
            </a:r>
          </a:p>
          <a:p>
            <a:pPr algn="l">
              <a:spcAft>
                <a:spcPts val="1000"/>
              </a:spcAft>
            </a:pPr>
            <a:r>
              <a:rPr sz="2100">
                <a:solidFill>
                  <a:srgbClr val="CCCCCC"/>
                </a:solidFill>
              </a:rPr>
              <a:t>  The shift is from AI that talks to AI that takes actions in the world.</a:t>
            </a:r>
          </a:p>
          <a:p>
            <a:pPr algn="l">
              <a:spcAft>
                <a:spcPts val="1000"/>
              </a:spcAft>
            </a:pPr>
            <a:r>
              <a:rPr sz="2100">
                <a:solidFill>
                  <a:srgbClr val="CCCCCC"/>
                </a:solidFill>
              </a:rPr>
              <a:t>  Booking flights, writing code, running research - without you in every step.</a:t>
            </a:r>
          </a:p>
          <a:p>
            <a:pPr algn="l">
              <a:spcAft>
                <a:spcPts val="1000"/>
              </a:spcAft>
            </a:pPr>
            <a:r>
              <a:rPr sz="2100">
                <a:solidFill>
                  <a:srgbClr val="CCCCCC"/>
                </a:solidFill>
              </a:rPr>
              <a:t>  This is the difference between a tool and a teammate.</a:t>
            </a:r>
          </a:p>
        </p:txBody>
      </p:sp>
      <p:sp>
        <p:nvSpPr>
          <p:cNvPr id="7" name="TextBox 6"/>
          <p:cNvSpPr txBox="1"/>
          <p:nvPr/>
        </p:nvSpPr>
        <p:spPr>
          <a:xfrm>
            <a:off x="548640" y="6126480"/>
            <a:ext cx="11430000" cy="548640"/>
          </a:xfrm>
          <a:prstGeom prst="rect">
            <a:avLst/>
          </a:prstGeom>
          <a:noFill/>
        </p:spPr>
        <p:txBody>
          <a:bodyPr wrap="square">
            <a:spAutoFit/>
          </a:bodyPr>
          <a:lstStyle/>
          <a:p>
            <a:pPr algn="l"/>
            <a:r>
              <a:rPr sz="1700" b="1">
                <a:solidFill>
                  <a:srgbClr val="D47A21"/>
                </a:solidFill>
              </a:rPr>
              <a:t>The gap between people who get this and people who don't is about to get expensive.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1  -  WHY IT MATTERS</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Prompt vs Agent - The Driver Analogy</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240280"/>
            <a:ext cx="5577840" cy="4297680"/>
          </a:xfrm>
          <a:prstGeom prst="rect">
            <a:avLst/>
          </a:prstGeom>
          <a:solidFill>
            <a:srgbClr val="1E1E1E"/>
          </a:solidFill>
          <a:ln>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423160"/>
            <a:ext cx="5120640" cy="457200"/>
          </a:xfrm>
          <a:prstGeom prst="rect">
            <a:avLst/>
          </a:prstGeom>
          <a:noFill/>
        </p:spPr>
        <p:txBody>
          <a:bodyPr wrap="square">
            <a:spAutoFit/>
          </a:bodyPr>
          <a:lstStyle/>
          <a:p>
            <a:pPr algn="l"/>
            <a:r>
              <a:rPr sz="1400" b="1">
                <a:solidFill>
                  <a:srgbClr val="888888"/>
                </a:solidFill>
              </a:rPr>
              <a:t>PROMPT = STUDENT DRIVER</a:t>
            </a:r>
          </a:p>
        </p:txBody>
      </p:sp>
      <p:sp>
        <p:nvSpPr>
          <p:cNvPr id="8" name="TextBox 7"/>
          <p:cNvSpPr txBox="1"/>
          <p:nvPr/>
        </p:nvSpPr>
        <p:spPr>
          <a:xfrm>
            <a:off x="685800" y="2880360"/>
            <a:ext cx="5120640" cy="640080"/>
          </a:xfrm>
          <a:prstGeom prst="rect">
            <a:avLst/>
          </a:prstGeom>
          <a:noFill/>
        </p:spPr>
        <p:txBody>
          <a:bodyPr wrap="square">
            <a:spAutoFit/>
          </a:bodyPr>
          <a:lstStyle/>
          <a:p>
            <a:pPr algn="l"/>
            <a:r>
              <a:rPr sz="2200" b="1">
                <a:solidFill>
                  <a:srgbClr val="FFFFFF"/>
                </a:solidFill>
              </a:rPr>
              <a:t>You sit next to them.</a:t>
            </a:r>
          </a:p>
        </p:txBody>
      </p:sp>
      <p:sp>
        <p:nvSpPr>
          <p:cNvPr id="9" name="TextBox 8"/>
          <p:cNvSpPr txBox="1"/>
          <p:nvPr/>
        </p:nvSpPr>
        <p:spPr>
          <a:xfrm>
            <a:off x="594360" y="3703320"/>
            <a:ext cx="5303520" cy="2560320"/>
          </a:xfrm>
          <a:prstGeom prst="rect">
            <a:avLst/>
          </a:prstGeom>
          <a:noFill/>
        </p:spPr>
        <p:txBody>
          <a:bodyPr wrap="square">
            <a:spAutoFit/>
          </a:bodyPr>
          <a:lstStyle/>
          <a:p>
            <a:pPr algn="l">
              <a:spcAft>
                <a:spcPts val="1000"/>
              </a:spcAft>
            </a:pPr>
            <a:r>
              <a:rPr sz="1700">
                <a:solidFill>
                  <a:srgbClr val="CCCCCC"/>
                </a:solidFill>
              </a:rPr>
              <a:t>  You guide every turn.</a:t>
            </a:r>
          </a:p>
          <a:p>
            <a:pPr algn="l">
              <a:spcAft>
                <a:spcPts val="1000"/>
              </a:spcAft>
            </a:pPr>
            <a:r>
              <a:rPr sz="1700">
                <a:solidFill>
                  <a:srgbClr val="CCCCCC"/>
                </a:solidFill>
              </a:rPr>
              <a:t>  You correct mistakes in real time.</a:t>
            </a:r>
          </a:p>
          <a:p>
            <a:pPr algn="l">
              <a:spcAft>
                <a:spcPts val="1000"/>
              </a:spcAft>
            </a:pPr>
            <a:r>
              <a:rPr sz="1700">
                <a:solidFill>
                  <a:srgbClr val="CCCCCC"/>
                </a:solidFill>
              </a:rPr>
              <a:t>  You stay alert the whole drive.</a:t>
            </a:r>
          </a:p>
          <a:p>
            <a:pPr algn="l">
              <a:spcAft>
                <a:spcPts val="1000"/>
              </a:spcAft>
            </a:pPr>
            <a:r>
              <a:rPr sz="1700">
                <a:solidFill>
                  <a:srgbClr val="CCCCCC"/>
                </a:solidFill>
              </a:rPr>
              <a:t>  Stop guiding - the car stops.</a:t>
            </a:r>
          </a:p>
        </p:txBody>
      </p:sp>
      <p:sp>
        <p:nvSpPr>
          <p:cNvPr id="10" name="Rectangle 9"/>
          <p:cNvSpPr/>
          <p:nvPr/>
        </p:nvSpPr>
        <p:spPr>
          <a:xfrm>
            <a:off x="6217920" y="2240280"/>
            <a:ext cx="5577840" cy="42976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2423160"/>
            <a:ext cx="5120640" cy="457200"/>
          </a:xfrm>
          <a:prstGeom prst="rect">
            <a:avLst/>
          </a:prstGeom>
          <a:noFill/>
        </p:spPr>
        <p:txBody>
          <a:bodyPr wrap="square">
            <a:spAutoFit/>
          </a:bodyPr>
          <a:lstStyle/>
          <a:p>
            <a:pPr algn="l"/>
            <a:r>
              <a:rPr sz="1400" b="1">
                <a:solidFill>
                  <a:srgbClr val="D47A21"/>
                </a:solidFill>
              </a:rPr>
              <a:t>AGENT = HIRED DRIVER</a:t>
            </a:r>
          </a:p>
        </p:txBody>
      </p:sp>
      <p:sp>
        <p:nvSpPr>
          <p:cNvPr id="12" name="TextBox 11"/>
          <p:cNvSpPr txBox="1"/>
          <p:nvPr/>
        </p:nvSpPr>
        <p:spPr>
          <a:xfrm>
            <a:off x="6446520" y="2880360"/>
            <a:ext cx="5120640" cy="640080"/>
          </a:xfrm>
          <a:prstGeom prst="rect">
            <a:avLst/>
          </a:prstGeom>
          <a:noFill/>
        </p:spPr>
        <p:txBody>
          <a:bodyPr wrap="square">
            <a:spAutoFit/>
          </a:bodyPr>
          <a:lstStyle/>
          <a:p>
            <a:pPr algn="l"/>
            <a:r>
              <a:rPr sz="2200" b="1">
                <a:solidFill>
                  <a:srgbClr val="FFFFFF"/>
                </a:solidFill>
              </a:rPr>
              <a:t>You sit in the back seat.</a:t>
            </a:r>
          </a:p>
        </p:txBody>
      </p:sp>
      <p:sp>
        <p:nvSpPr>
          <p:cNvPr id="13" name="TextBox 12"/>
          <p:cNvSpPr txBox="1"/>
          <p:nvPr/>
        </p:nvSpPr>
        <p:spPr>
          <a:xfrm>
            <a:off x="6355080" y="3703320"/>
            <a:ext cx="5303520" cy="2560320"/>
          </a:xfrm>
          <a:prstGeom prst="rect">
            <a:avLst/>
          </a:prstGeom>
          <a:noFill/>
        </p:spPr>
        <p:txBody>
          <a:bodyPr wrap="square">
            <a:spAutoFit/>
          </a:bodyPr>
          <a:lstStyle/>
          <a:p>
            <a:pPr algn="l">
              <a:spcAft>
                <a:spcPts val="1000"/>
              </a:spcAft>
            </a:pPr>
            <a:r>
              <a:rPr sz="1700">
                <a:solidFill>
                  <a:srgbClr val="CCCCCC"/>
                </a:solidFill>
              </a:rPr>
              <a:t>  You set the destination.</a:t>
            </a:r>
          </a:p>
          <a:p>
            <a:pPr algn="l">
              <a:spcAft>
                <a:spcPts val="1000"/>
              </a:spcAft>
            </a:pPr>
            <a:r>
              <a:rPr sz="1700">
                <a:solidFill>
                  <a:srgbClr val="CCCCCC"/>
                </a:solidFill>
              </a:rPr>
              <a:t>  It picks the route.</a:t>
            </a:r>
          </a:p>
          <a:p>
            <a:pPr algn="l">
              <a:spcAft>
                <a:spcPts val="1000"/>
              </a:spcAft>
            </a:pPr>
            <a:r>
              <a:rPr sz="1700">
                <a:solidFill>
                  <a:srgbClr val="CCCCCC"/>
                </a:solidFill>
              </a:rPr>
              <a:t>  It handles traffic and detours.</a:t>
            </a:r>
          </a:p>
          <a:p>
            <a:pPr algn="l">
              <a:spcAft>
                <a:spcPts val="1000"/>
              </a:spcAft>
            </a:pPr>
            <a:r>
              <a:rPr sz="1700">
                <a:solidFill>
                  <a:srgbClr val="CCCCCC"/>
                </a:solidFill>
              </a:rPr>
              <a:t>  It makes every step-by-step call.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1  -  WHY IT MATTERS</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Same Goal, Two Worlds Apart</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286000"/>
            <a:ext cx="5577840" cy="1737360"/>
          </a:xfrm>
          <a:prstGeom prst="rect">
            <a:avLst/>
          </a:prstGeom>
          <a:solidFill>
            <a:srgbClr val="1E1E1E"/>
          </a:solidFill>
          <a:ln>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423160"/>
            <a:ext cx="5120640" cy="365760"/>
          </a:xfrm>
          <a:prstGeom prst="rect">
            <a:avLst/>
          </a:prstGeom>
          <a:noFill/>
        </p:spPr>
        <p:txBody>
          <a:bodyPr wrap="square">
            <a:spAutoFit/>
          </a:bodyPr>
          <a:lstStyle/>
          <a:p>
            <a:pPr algn="l"/>
            <a:r>
              <a:rPr sz="1300" b="1">
                <a:solidFill>
                  <a:srgbClr val="888888"/>
                </a:solidFill>
              </a:rPr>
              <a:t>PROMPT</a:t>
            </a:r>
          </a:p>
        </p:txBody>
      </p:sp>
      <p:sp>
        <p:nvSpPr>
          <p:cNvPr id="8" name="TextBox 7"/>
          <p:cNvSpPr txBox="1"/>
          <p:nvPr/>
        </p:nvSpPr>
        <p:spPr>
          <a:xfrm>
            <a:off x="685800" y="2834640"/>
            <a:ext cx="5120640" cy="1097280"/>
          </a:xfrm>
          <a:prstGeom prst="rect">
            <a:avLst/>
          </a:prstGeom>
          <a:noFill/>
        </p:spPr>
        <p:txBody>
          <a:bodyPr wrap="square">
            <a:spAutoFit/>
          </a:bodyPr>
          <a:lstStyle/>
          <a:p>
            <a:pPr algn="l"/>
            <a:r>
              <a:rPr sz="2000" b="0">
                <a:solidFill>
                  <a:srgbClr val="FFFFFF"/>
                </a:solidFill>
              </a:rPr>
              <a:t>"Write me a LinkedIn post."</a:t>
            </a:r>
          </a:p>
        </p:txBody>
      </p:sp>
      <p:sp>
        <p:nvSpPr>
          <p:cNvPr id="9" name="Rectangle 8"/>
          <p:cNvSpPr/>
          <p:nvPr/>
        </p:nvSpPr>
        <p:spPr>
          <a:xfrm>
            <a:off x="6217920" y="2286000"/>
            <a:ext cx="5577840" cy="42062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423160"/>
            <a:ext cx="5120640" cy="365760"/>
          </a:xfrm>
          <a:prstGeom prst="rect">
            <a:avLst/>
          </a:prstGeom>
          <a:noFill/>
        </p:spPr>
        <p:txBody>
          <a:bodyPr wrap="square">
            <a:spAutoFit/>
          </a:bodyPr>
          <a:lstStyle/>
          <a:p>
            <a:pPr algn="l"/>
            <a:r>
              <a:rPr sz="1300" b="1">
                <a:solidFill>
                  <a:srgbClr val="D47A21"/>
                </a:solidFill>
              </a:rPr>
              <a:t>AGENT</a:t>
            </a:r>
          </a:p>
        </p:txBody>
      </p:sp>
      <p:sp>
        <p:nvSpPr>
          <p:cNvPr id="11" name="TextBox 10"/>
          <p:cNvSpPr txBox="1"/>
          <p:nvPr/>
        </p:nvSpPr>
        <p:spPr>
          <a:xfrm>
            <a:off x="6446520" y="2834640"/>
            <a:ext cx="5212080" cy="640080"/>
          </a:xfrm>
          <a:prstGeom prst="rect">
            <a:avLst/>
          </a:prstGeom>
          <a:noFill/>
        </p:spPr>
        <p:txBody>
          <a:bodyPr wrap="square">
            <a:spAutoFit/>
          </a:bodyPr>
          <a:lstStyle/>
          <a:p>
            <a:pPr algn="l"/>
            <a:r>
              <a:rPr sz="1700" b="1">
                <a:solidFill>
                  <a:srgbClr val="FFFFFF"/>
                </a:solidFill>
              </a:rPr>
              <a:t>Watch my industry every Monday.</a:t>
            </a:r>
          </a:p>
        </p:txBody>
      </p:sp>
      <p:sp>
        <p:nvSpPr>
          <p:cNvPr id="12" name="TextBox 11"/>
          <p:cNvSpPr txBox="1"/>
          <p:nvPr/>
        </p:nvSpPr>
        <p:spPr>
          <a:xfrm>
            <a:off x="6355080" y="3566160"/>
            <a:ext cx="5394960" cy="2743200"/>
          </a:xfrm>
          <a:prstGeom prst="rect">
            <a:avLst/>
          </a:prstGeom>
          <a:noFill/>
        </p:spPr>
        <p:txBody>
          <a:bodyPr wrap="square">
            <a:spAutoFit/>
          </a:bodyPr>
          <a:lstStyle/>
          <a:p>
            <a:pPr algn="l">
              <a:spcAft>
                <a:spcPts val="700"/>
              </a:spcAft>
            </a:pPr>
            <a:r>
              <a:rPr sz="1400">
                <a:solidFill>
                  <a:srgbClr val="CCCCCC"/>
                </a:solidFill>
              </a:rPr>
              <a:t>  Find the three most relevant stories.</a:t>
            </a:r>
          </a:p>
          <a:p>
            <a:pPr algn="l">
              <a:spcAft>
                <a:spcPts val="700"/>
              </a:spcAft>
            </a:pPr>
            <a:r>
              <a:rPr sz="1400">
                <a:solidFill>
                  <a:srgbClr val="CCCCCC"/>
                </a:solidFill>
              </a:rPr>
              <a:t>  Study my previous posts to learn my voice.</a:t>
            </a:r>
          </a:p>
          <a:p>
            <a:pPr algn="l">
              <a:spcAft>
                <a:spcPts val="700"/>
              </a:spcAft>
            </a:pPr>
            <a:r>
              <a:rPr sz="1400">
                <a:solidFill>
                  <a:srgbClr val="CCCCCC"/>
                </a:solidFill>
              </a:rPr>
              <a:t>  Draft a new post in that voice.</a:t>
            </a:r>
          </a:p>
          <a:p>
            <a:pPr algn="l">
              <a:spcAft>
                <a:spcPts val="700"/>
              </a:spcAft>
            </a:pPr>
            <a:r>
              <a:rPr sz="1400">
                <a:solidFill>
                  <a:srgbClr val="CCCCCC"/>
                </a:solidFill>
              </a:rPr>
              <a:t>  Revise against my style guide.</a:t>
            </a:r>
          </a:p>
          <a:p>
            <a:pPr algn="l">
              <a:spcAft>
                <a:spcPts val="700"/>
              </a:spcAft>
            </a:pPr>
            <a:r>
              <a:rPr sz="1400">
                <a:solidFill>
                  <a:srgbClr val="CCCCCC"/>
                </a:solidFill>
              </a:rPr>
              <a:t>  Schedule for Tuesday morning.</a:t>
            </a:r>
          </a:p>
        </p:txBody>
      </p:sp>
      <p:sp>
        <p:nvSpPr>
          <p:cNvPr id="13" name="TextBox 12"/>
          <p:cNvSpPr txBox="1"/>
          <p:nvPr/>
        </p:nvSpPr>
        <p:spPr>
          <a:xfrm>
            <a:off x="548640" y="4480560"/>
            <a:ext cx="5486400" cy="1645920"/>
          </a:xfrm>
          <a:prstGeom prst="rect">
            <a:avLst/>
          </a:prstGeom>
          <a:noFill/>
        </p:spPr>
        <p:txBody>
          <a:bodyPr wrap="square">
            <a:spAutoFit/>
          </a:bodyPr>
          <a:lstStyle/>
          <a:p>
            <a:pPr algn="l"/>
            <a:r>
              <a:rPr sz="1800" b="1">
                <a:solidFill>
                  <a:srgbClr val="D47A21"/>
                </a:solidFill>
              </a:rPr>
              <a:t>A prompt asks for an output. An agent runs a process.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2  -  HOW THEY WORK</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An AI Agent: The Simple Definition</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2286000"/>
            <a:ext cx="11064240" cy="164592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468880"/>
            <a:ext cx="10607040" cy="1371600"/>
          </a:xfrm>
          <a:prstGeom prst="rect">
            <a:avLst/>
          </a:prstGeom>
          <a:noFill/>
        </p:spPr>
        <p:txBody>
          <a:bodyPr wrap="square">
            <a:spAutoFit/>
          </a:bodyPr>
          <a:lstStyle/>
          <a:p>
            <a:pPr algn="l"/>
            <a:r>
              <a:rPr sz="2000" b="0">
                <a:solidFill>
                  <a:srgbClr val="FFFFFF"/>
                </a:solidFill>
              </a:rPr>
              <a:t>A system that uses an LLM to decide what to do next, takes that action,
and uses the result to decide what to do after that.</a:t>
            </a:r>
          </a:p>
        </p:txBody>
      </p:sp>
      <p:sp>
        <p:nvSpPr>
          <p:cNvPr id="8" name="TextBox 7"/>
          <p:cNvSpPr txBox="1"/>
          <p:nvPr/>
        </p:nvSpPr>
        <p:spPr>
          <a:xfrm>
            <a:off x="548640" y="4206240"/>
            <a:ext cx="10972800" cy="2377440"/>
          </a:xfrm>
          <a:prstGeom prst="rect">
            <a:avLst/>
          </a:prstGeom>
          <a:noFill/>
        </p:spPr>
        <p:txBody>
          <a:bodyPr wrap="square">
            <a:spAutoFit/>
          </a:bodyPr>
          <a:lstStyle/>
          <a:p>
            <a:pPr algn="l">
              <a:spcAft>
                <a:spcPts val="1000"/>
              </a:spcAft>
            </a:pPr>
            <a:r>
              <a:rPr sz="2000">
                <a:solidFill>
                  <a:srgbClr val="CCCCCC"/>
                </a:solidFill>
              </a:rPr>
              <a:t>  The LLM is the brain. It reasons, it picks the next step.</a:t>
            </a:r>
          </a:p>
          <a:p>
            <a:pPr algn="l">
              <a:spcAft>
                <a:spcPts val="1000"/>
              </a:spcAft>
            </a:pPr>
            <a:r>
              <a:rPr sz="2000">
                <a:solidFill>
                  <a:srgbClr val="CCCCCC"/>
                </a:solidFill>
              </a:rPr>
              <a:t>  Tools are the hands. The agent calls them to act on the world.</a:t>
            </a:r>
          </a:p>
          <a:p>
            <a:pPr algn="l">
              <a:spcAft>
                <a:spcPts val="1000"/>
              </a:spcAft>
            </a:pPr>
            <a:r>
              <a:rPr sz="2000">
                <a:solidFill>
                  <a:srgbClr val="CCCCCC"/>
                </a:solidFill>
              </a:rPr>
              <a:t>  The loop is what matters. Decide, do, observe, decide again.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2  -  HOW THEY WORK</a:t>
            </a:r>
          </a:p>
        </p:txBody>
      </p:sp>
      <p:sp>
        <p:nvSpPr>
          <p:cNvPr id="4" name="TextBox 3"/>
          <p:cNvSpPr txBox="1"/>
          <p:nvPr/>
        </p:nvSpPr>
        <p:spPr>
          <a:xfrm>
            <a:off x="548640" y="914400"/>
            <a:ext cx="11430000" cy="1097280"/>
          </a:xfrm>
          <a:prstGeom prst="rect">
            <a:avLst/>
          </a:prstGeom>
          <a:noFill/>
        </p:spPr>
        <p:txBody>
          <a:bodyPr wrap="square">
            <a:spAutoFit/>
          </a:bodyPr>
          <a:lstStyle/>
          <a:p>
            <a:pPr algn="l"/>
            <a:r>
              <a:rPr sz="3200" b="1">
                <a:solidFill>
                  <a:srgbClr val="FFFFFF"/>
                </a:solidFill>
              </a:rPr>
              <a:t>The Loop That Makes an Agent - OODA</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2706624"/>
            <a:ext cx="2651760" cy="24688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2798064"/>
            <a:ext cx="2377440" cy="914400"/>
          </a:xfrm>
          <a:prstGeom prst="rect">
            <a:avLst/>
          </a:prstGeom>
          <a:noFill/>
        </p:spPr>
        <p:txBody>
          <a:bodyPr wrap="square">
            <a:spAutoFit/>
          </a:bodyPr>
          <a:lstStyle/>
          <a:p>
            <a:pPr algn="l"/>
            <a:r>
              <a:rPr sz="4400" b="1">
                <a:solidFill>
                  <a:srgbClr val="D47A21"/>
                </a:solidFill>
              </a:rPr>
              <a:t>O</a:t>
            </a:r>
          </a:p>
        </p:txBody>
      </p:sp>
      <p:sp>
        <p:nvSpPr>
          <p:cNvPr id="9" name="TextBox 8"/>
          <p:cNvSpPr txBox="1"/>
          <p:nvPr/>
        </p:nvSpPr>
        <p:spPr>
          <a:xfrm>
            <a:off x="502920" y="3758184"/>
            <a:ext cx="2377440" cy="457200"/>
          </a:xfrm>
          <a:prstGeom prst="rect">
            <a:avLst/>
          </a:prstGeom>
          <a:noFill/>
        </p:spPr>
        <p:txBody>
          <a:bodyPr wrap="square">
            <a:spAutoFit/>
          </a:bodyPr>
          <a:lstStyle/>
          <a:p>
            <a:pPr algn="l"/>
            <a:r>
              <a:rPr sz="1800" b="1">
                <a:solidFill>
                  <a:srgbClr val="FFFFFF"/>
                </a:solidFill>
              </a:rPr>
              <a:t>OBSERVE</a:t>
            </a:r>
          </a:p>
        </p:txBody>
      </p:sp>
      <p:sp>
        <p:nvSpPr>
          <p:cNvPr id="10" name="TextBox 9"/>
          <p:cNvSpPr txBox="1"/>
          <p:nvPr/>
        </p:nvSpPr>
        <p:spPr>
          <a:xfrm>
            <a:off x="502920" y="4261104"/>
            <a:ext cx="2377440" cy="914400"/>
          </a:xfrm>
          <a:prstGeom prst="rect">
            <a:avLst/>
          </a:prstGeom>
          <a:noFill/>
        </p:spPr>
        <p:txBody>
          <a:bodyPr wrap="square">
            <a:spAutoFit/>
          </a:bodyPr>
          <a:lstStyle/>
          <a:p>
            <a:pPr algn="l"/>
            <a:r>
              <a:rPr sz="1300" b="0">
                <a:solidFill>
                  <a:srgbClr val="CCCCCC"/>
                </a:solidFill>
              </a:rPr>
              <a:t>See what just happened. Read the new state.</a:t>
            </a:r>
          </a:p>
        </p:txBody>
      </p:sp>
      <p:sp>
        <p:nvSpPr>
          <p:cNvPr id="11" name="Rectangle 10"/>
          <p:cNvSpPr/>
          <p:nvPr/>
        </p:nvSpPr>
        <p:spPr>
          <a:xfrm>
            <a:off x="3273552" y="2706624"/>
            <a:ext cx="2651760" cy="24688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10712" y="2798064"/>
            <a:ext cx="2377440" cy="914400"/>
          </a:xfrm>
          <a:prstGeom prst="rect">
            <a:avLst/>
          </a:prstGeom>
          <a:noFill/>
        </p:spPr>
        <p:txBody>
          <a:bodyPr wrap="square">
            <a:spAutoFit/>
          </a:bodyPr>
          <a:lstStyle/>
          <a:p>
            <a:pPr algn="l"/>
            <a:r>
              <a:rPr sz="4400" b="1">
                <a:solidFill>
                  <a:srgbClr val="D47A21"/>
                </a:solidFill>
              </a:rPr>
              <a:t>O</a:t>
            </a:r>
          </a:p>
        </p:txBody>
      </p:sp>
      <p:sp>
        <p:nvSpPr>
          <p:cNvPr id="13" name="TextBox 12"/>
          <p:cNvSpPr txBox="1"/>
          <p:nvPr/>
        </p:nvSpPr>
        <p:spPr>
          <a:xfrm>
            <a:off x="3410712" y="3758184"/>
            <a:ext cx="2377440" cy="457200"/>
          </a:xfrm>
          <a:prstGeom prst="rect">
            <a:avLst/>
          </a:prstGeom>
          <a:noFill/>
        </p:spPr>
        <p:txBody>
          <a:bodyPr wrap="square">
            <a:spAutoFit/>
          </a:bodyPr>
          <a:lstStyle/>
          <a:p>
            <a:pPr algn="l"/>
            <a:r>
              <a:rPr sz="1800" b="1">
                <a:solidFill>
                  <a:srgbClr val="FFFFFF"/>
                </a:solidFill>
              </a:rPr>
              <a:t>ORIENT</a:t>
            </a:r>
          </a:p>
        </p:txBody>
      </p:sp>
      <p:sp>
        <p:nvSpPr>
          <p:cNvPr id="14" name="TextBox 13"/>
          <p:cNvSpPr txBox="1"/>
          <p:nvPr/>
        </p:nvSpPr>
        <p:spPr>
          <a:xfrm>
            <a:off x="3410712" y="4261104"/>
            <a:ext cx="2377440" cy="914400"/>
          </a:xfrm>
          <a:prstGeom prst="rect">
            <a:avLst/>
          </a:prstGeom>
          <a:noFill/>
        </p:spPr>
        <p:txBody>
          <a:bodyPr wrap="square">
            <a:spAutoFit/>
          </a:bodyPr>
          <a:lstStyle/>
          <a:p>
            <a:pPr algn="l"/>
            <a:r>
              <a:rPr sz="1300" b="0">
                <a:solidFill>
                  <a:srgbClr val="CCCCCC"/>
                </a:solidFill>
              </a:rPr>
              <a:t>Understand what it means. Update context.</a:t>
            </a:r>
          </a:p>
        </p:txBody>
      </p:sp>
      <p:sp>
        <p:nvSpPr>
          <p:cNvPr id="15" name="Rectangle 14"/>
          <p:cNvSpPr/>
          <p:nvPr/>
        </p:nvSpPr>
        <p:spPr>
          <a:xfrm>
            <a:off x="6181344" y="2706624"/>
            <a:ext cx="2651760" cy="24688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18504" y="2798064"/>
            <a:ext cx="2377440" cy="914400"/>
          </a:xfrm>
          <a:prstGeom prst="rect">
            <a:avLst/>
          </a:prstGeom>
          <a:noFill/>
        </p:spPr>
        <p:txBody>
          <a:bodyPr wrap="square">
            <a:spAutoFit/>
          </a:bodyPr>
          <a:lstStyle/>
          <a:p>
            <a:pPr algn="l"/>
            <a:r>
              <a:rPr sz="4400" b="1">
                <a:solidFill>
                  <a:srgbClr val="D47A21"/>
                </a:solidFill>
              </a:rPr>
              <a:t>D</a:t>
            </a:r>
          </a:p>
        </p:txBody>
      </p:sp>
      <p:sp>
        <p:nvSpPr>
          <p:cNvPr id="17" name="TextBox 16"/>
          <p:cNvSpPr txBox="1"/>
          <p:nvPr/>
        </p:nvSpPr>
        <p:spPr>
          <a:xfrm>
            <a:off x="6318504" y="3758184"/>
            <a:ext cx="2377440" cy="457200"/>
          </a:xfrm>
          <a:prstGeom prst="rect">
            <a:avLst/>
          </a:prstGeom>
          <a:noFill/>
        </p:spPr>
        <p:txBody>
          <a:bodyPr wrap="square">
            <a:spAutoFit/>
          </a:bodyPr>
          <a:lstStyle/>
          <a:p>
            <a:pPr algn="l"/>
            <a:r>
              <a:rPr sz="1800" b="1">
                <a:solidFill>
                  <a:srgbClr val="FFFFFF"/>
                </a:solidFill>
              </a:rPr>
              <a:t>DECIDE</a:t>
            </a:r>
          </a:p>
        </p:txBody>
      </p:sp>
      <p:sp>
        <p:nvSpPr>
          <p:cNvPr id="18" name="TextBox 17"/>
          <p:cNvSpPr txBox="1"/>
          <p:nvPr/>
        </p:nvSpPr>
        <p:spPr>
          <a:xfrm>
            <a:off x="6318504" y="4261104"/>
            <a:ext cx="2377440" cy="914400"/>
          </a:xfrm>
          <a:prstGeom prst="rect">
            <a:avLst/>
          </a:prstGeom>
          <a:noFill/>
        </p:spPr>
        <p:txBody>
          <a:bodyPr wrap="square">
            <a:spAutoFit/>
          </a:bodyPr>
          <a:lstStyle/>
          <a:p>
            <a:pPr algn="l"/>
            <a:r>
              <a:rPr sz="1300" b="0" dirty="0">
                <a:solidFill>
                  <a:srgbClr val="CCCCCC"/>
                </a:solidFill>
              </a:rPr>
              <a:t>Choose the next action, even if it's a detour.</a:t>
            </a:r>
          </a:p>
        </p:txBody>
      </p:sp>
      <p:sp>
        <p:nvSpPr>
          <p:cNvPr id="19" name="Rectangle 18"/>
          <p:cNvSpPr/>
          <p:nvPr/>
        </p:nvSpPr>
        <p:spPr>
          <a:xfrm>
            <a:off x="9089136" y="2706624"/>
            <a:ext cx="2651760" cy="24688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26296" y="2798064"/>
            <a:ext cx="2377440" cy="914400"/>
          </a:xfrm>
          <a:prstGeom prst="rect">
            <a:avLst/>
          </a:prstGeom>
          <a:noFill/>
        </p:spPr>
        <p:txBody>
          <a:bodyPr wrap="square">
            <a:spAutoFit/>
          </a:bodyPr>
          <a:lstStyle/>
          <a:p>
            <a:pPr algn="l"/>
            <a:r>
              <a:rPr sz="4400" b="1">
                <a:solidFill>
                  <a:srgbClr val="D47A21"/>
                </a:solidFill>
              </a:rPr>
              <a:t>A</a:t>
            </a:r>
          </a:p>
        </p:txBody>
      </p:sp>
      <p:sp>
        <p:nvSpPr>
          <p:cNvPr id="21" name="TextBox 20"/>
          <p:cNvSpPr txBox="1"/>
          <p:nvPr/>
        </p:nvSpPr>
        <p:spPr>
          <a:xfrm>
            <a:off x="9226296" y="3758184"/>
            <a:ext cx="2377440" cy="457200"/>
          </a:xfrm>
          <a:prstGeom prst="rect">
            <a:avLst/>
          </a:prstGeom>
          <a:noFill/>
        </p:spPr>
        <p:txBody>
          <a:bodyPr wrap="square">
            <a:spAutoFit/>
          </a:bodyPr>
          <a:lstStyle/>
          <a:p>
            <a:pPr algn="l"/>
            <a:r>
              <a:rPr sz="1800" b="1">
                <a:solidFill>
                  <a:srgbClr val="FFFFFF"/>
                </a:solidFill>
              </a:rPr>
              <a:t>ACT</a:t>
            </a:r>
          </a:p>
        </p:txBody>
      </p:sp>
      <p:sp>
        <p:nvSpPr>
          <p:cNvPr id="22" name="TextBox 21"/>
          <p:cNvSpPr txBox="1"/>
          <p:nvPr/>
        </p:nvSpPr>
        <p:spPr>
          <a:xfrm>
            <a:off x="9226296" y="4261104"/>
            <a:ext cx="2377440" cy="914400"/>
          </a:xfrm>
          <a:prstGeom prst="rect">
            <a:avLst/>
          </a:prstGeom>
          <a:noFill/>
        </p:spPr>
        <p:txBody>
          <a:bodyPr wrap="square">
            <a:spAutoFit/>
          </a:bodyPr>
          <a:lstStyle/>
          <a:p>
            <a:pPr algn="l"/>
            <a:r>
              <a:rPr sz="1300" b="0">
                <a:solidFill>
                  <a:srgbClr val="CCCCCC"/>
                </a:solidFill>
              </a:rPr>
              <a:t>Execute. Then loop back and observe again.</a:t>
            </a:r>
          </a:p>
        </p:txBody>
      </p:sp>
      <p:sp>
        <p:nvSpPr>
          <p:cNvPr id="23" name="TextBox 22"/>
          <p:cNvSpPr txBox="1"/>
          <p:nvPr/>
        </p:nvSpPr>
        <p:spPr>
          <a:xfrm>
            <a:off x="548640" y="5495544"/>
            <a:ext cx="11430000" cy="365760"/>
          </a:xfrm>
          <a:prstGeom prst="rect">
            <a:avLst/>
          </a:prstGeom>
          <a:noFill/>
        </p:spPr>
        <p:txBody>
          <a:bodyPr wrap="square">
            <a:spAutoFit/>
          </a:bodyPr>
          <a:lstStyle/>
          <a:p>
            <a:pPr algn="l"/>
            <a:r>
              <a:rPr sz="1500" b="1">
                <a:solidFill>
                  <a:srgbClr val="D47A21"/>
                </a:solidFill>
              </a:rPr>
              <a:t>When the first path breaks, can the agent find another? That's the test.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2  -  HOW THEY WORK</a:t>
            </a:r>
          </a:p>
        </p:txBody>
      </p:sp>
      <p:sp>
        <p:nvSpPr>
          <p:cNvPr id="4" name="TextBox 3"/>
          <p:cNvSpPr txBox="1"/>
          <p:nvPr/>
        </p:nvSpPr>
        <p:spPr>
          <a:xfrm>
            <a:off x="548640" y="914400"/>
            <a:ext cx="11430000" cy="1097280"/>
          </a:xfrm>
          <a:prstGeom prst="rect">
            <a:avLst/>
          </a:prstGeom>
          <a:noFill/>
        </p:spPr>
        <p:txBody>
          <a:bodyPr wrap="square">
            <a:spAutoFit/>
          </a:bodyPr>
          <a:lstStyle/>
          <a:p>
            <a:pPr algn="l"/>
            <a:r>
              <a:rPr sz="3000" b="1">
                <a:solidFill>
                  <a:srgbClr val="FFFFFF"/>
                </a:solidFill>
              </a:rPr>
              <a:t>Inside the Agent - The LLM Plus Four Workers</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194560"/>
            <a:ext cx="10972800" cy="457200"/>
          </a:xfrm>
          <a:prstGeom prst="rect">
            <a:avLst/>
          </a:prstGeom>
          <a:noFill/>
        </p:spPr>
        <p:txBody>
          <a:bodyPr wrap="square">
            <a:spAutoFit/>
          </a:bodyPr>
          <a:lstStyle/>
          <a:p>
            <a:pPr algn="l"/>
            <a:r>
              <a:rPr sz="1500" b="0">
                <a:solidFill>
                  <a:srgbClr val="888888"/>
                </a:solidFill>
              </a:rPr>
              <a:t>A chatbot predicts the next word. An agent decides the next action - through four roles.</a:t>
            </a:r>
          </a:p>
        </p:txBody>
      </p:sp>
      <p:sp>
        <p:nvSpPr>
          <p:cNvPr id="7" name="Rectangle 6"/>
          <p:cNvSpPr/>
          <p:nvPr/>
        </p:nvSpPr>
        <p:spPr>
          <a:xfrm>
            <a:off x="365760" y="2743200"/>
            <a:ext cx="2651760" cy="33832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2926080"/>
            <a:ext cx="2377440" cy="457200"/>
          </a:xfrm>
          <a:prstGeom prst="rect">
            <a:avLst/>
          </a:prstGeom>
          <a:noFill/>
        </p:spPr>
        <p:txBody>
          <a:bodyPr wrap="square">
            <a:spAutoFit/>
          </a:bodyPr>
          <a:lstStyle/>
          <a:p>
            <a:pPr algn="l"/>
            <a:r>
              <a:rPr sz="1400" b="1">
                <a:solidFill>
                  <a:srgbClr val="D47A21"/>
                </a:solidFill>
              </a:rPr>
              <a:t>01</a:t>
            </a:r>
          </a:p>
        </p:txBody>
      </p:sp>
      <p:sp>
        <p:nvSpPr>
          <p:cNvPr id="9" name="TextBox 8"/>
          <p:cNvSpPr txBox="1"/>
          <p:nvPr/>
        </p:nvSpPr>
        <p:spPr>
          <a:xfrm>
            <a:off x="502920" y="3383280"/>
            <a:ext cx="2377440" cy="548640"/>
          </a:xfrm>
          <a:prstGeom prst="rect">
            <a:avLst/>
          </a:prstGeom>
          <a:noFill/>
        </p:spPr>
        <p:txBody>
          <a:bodyPr wrap="square">
            <a:spAutoFit/>
          </a:bodyPr>
          <a:lstStyle/>
          <a:p>
            <a:pPr algn="l"/>
            <a:r>
              <a:rPr sz="2000" b="1">
                <a:solidFill>
                  <a:srgbClr val="FFFFFF"/>
                </a:solidFill>
              </a:rPr>
              <a:t>ANALYST</a:t>
            </a:r>
          </a:p>
        </p:txBody>
      </p:sp>
      <p:sp>
        <p:nvSpPr>
          <p:cNvPr id="10" name="TextBox 9"/>
          <p:cNvSpPr txBox="1"/>
          <p:nvPr/>
        </p:nvSpPr>
        <p:spPr>
          <a:xfrm>
            <a:off x="502920" y="4023360"/>
            <a:ext cx="2377440" cy="548640"/>
          </a:xfrm>
          <a:prstGeom prst="rect">
            <a:avLst/>
          </a:prstGeom>
          <a:noFill/>
        </p:spPr>
        <p:txBody>
          <a:bodyPr wrap="square">
            <a:spAutoFit/>
          </a:bodyPr>
          <a:lstStyle/>
          <a:p>
            <a:pPr algn="l"/>
            <a:r>
              <a:rPr sz="1500" b="1">
                <a:solidFill>
                  <a:srgbClr val="D47A21"/>
                </a:solidFill>
              </a:rPr>
              <a:t>Finds the pattern.</a:t>
            </a:r>
          </a:p>
        </p:txBody>
      </p:sp>
      <p:sp>
        <p:nvSpPr>
          <p:cNvPr id="11" name="TextBox 10"/>
          <p:cNvSpPr txBox="1"/>
          <p:nvPr/>
        </p:nvSpPr>
        <p:spPr>
          <a:xfrm>
            <a:off x="502920" y="4572000"/>
            <a:ext cx="2377440" cy="1371600"/>
          </a:xfrm>
          <a:prstGeom prst="rect">
            <a:avLst/>
          </a:prstGeom>
          <a:noFill/>
        </p:spPr>
        <p:txBody>
          <a:bodyPr wrap="square">
            <a:spAutoFit/>
          </a:bodyPr>
          <a:lstStyle/>
          <a:p>
            <a:pPr algn="l"/>
            <a:r>
              <a:rPr sz="1400" b="0">
                <a:solidFill>
                  <a:srgbClr val="CCCCCC"/>
                </a:solidFill>
              </a:rPr>
              <a:t>Reads tickets, notes, logs. Surfaces what recurs.</a:t>
            </a:r>
          </a:p>
        </p:txBody>
      </p:sp>
      <p:sp>
        <p:nvSpPr>
          <p:cNvPr id="12" name="Rectangle 11"/>
          <p:cNvSpPr/>
          <p:nvPr/>
        </p:nvSpPr>
        <p:spPr>
          <a:xfrm>
            <a:off x="3273552" y="2743200"/>
            <a:ext cx="2651760" cy="33832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10712" y="2926080"/>
            <a:ext cx="2377440" cy="457200"/>
          </a:xfrm>
          <a:prstGeom prst="rect">
            <a:avLst/>
          </a:prstGeom>
          <a:noFill/>
        </p:spPr>
        <p:txBody>
          <a:bodyPr wrap="square">
            <a:spAutoFit/>
          </a:bodyPr>
          <a:lstStyle/>
          <a:p>
            <a:pPr algn="l"/>
            <a:r>
              <a:rPr sz="1400" b="1">
                <a:solidFill>
                  <a:srgbClr val="D47A21"/>
                </a:solidFill>
              </a:rPr>
              <a:t>02</a:t>
            </a:r>
          </a:p>
        </p:txBody>
      </p:sp>
      <p:sp>
        <p:nvSpPr>
          <p:cNvPr id="14" name="TextBox 13"/>
          <p:cNvSpPr txBox="1"/>
          <p:nvPr/>
        </p:nvSpPr>
        <p:spPr>
          <a:xfrm>
            <a:off x="3410712" y="3383280"/>
            <a:ext cx="2377440" cy="548640"/>
          </a:xfrm>
          <a:prstGeom prst="rect">
            <a:avLst/>
          </a:prstGeom>
          <a:noFill/>
        </p:spPr>
        <p:txBody>
          <a:bodyPr wrap="square">
            <a:spAutoFit/>
          </a:bodyPr>
          <a:lstStyle/>
          <a:p>
            <a:pPr algn="l"/>
            <a:r>
              <a:rPr sz="2000" b="1">
                <a:solidFill>
                  <a:srgbClr val="FFFFFF"/>
                </a:solidFill>
              </a:rPr>
              <a:t>PLANNER</a:t>
            </a:r>
          </a:p>
        </p:txBody>
      </p:sp>
      <p:sp>
        <p:nvSpPr>
          <p:cNvPr id="15" name="TextBox 14"/>
          <p:cNvSpPr txBox="1"/>
          <p:nvPr/>
        </p:nvSpPr>
        <p:spPr>
          <a:xfrm>
            <a:off x="3410712" y="4023360"/>
            <a:ext cx="2377440" cy="548640"/>
          </a:xfrm>
          <a:prstGeom prst="rect">
            <a:avLst/>
          </a:prstGeom>
          <a:noFill/>
        </p:spPr>
        <p:txBody>
          <a:bodyPr wrap="square">
            <a:spAutoFit/>
          </a:bodyPr>
          <a:lstStyle/>
          <a:p>
            <a:pPr algn="l"/>
            <a:r>
              <a:rPr sz="1500" b="1">
                <a:solidFill>
                  <a:srgbClr val="D47A21"/>
                </a:solidFill>
              </a:rPr>
              <a:t>Decides the plan.</a:t>
            </a:r>
          </a:p>
        </p:txBody>
      </p:sp>
      <p:sp>
        <p:nvSpPr>
          <p:cNvPr id="16" name="TextBox 15"/>
          <p:cNvSpPr txBox="1"/>
          <p:nvPr/>
        </p:nvSpPr>
        <p:spPr>
          <a:xfrm>
            <a:off x="3410712" y="4572000"/>
            <a:ext cx="2377440" cy="1371600"/>
          </a:xfrm>
          <a:prstGeom prst="rect">
            <a:avLst/>
          </a:prstGeom>
          <a:noFill/>
        </p:spPr>
        <p:txBody>
          <a:bodyPr wrap="square">
            <a:spAutoFit/>
          </a:bodyPr>
          <a:lstStyle/>
          <a:p>
            <a:pPr algn="l"/>
            <a:r>
              <a:rPr sz="1400" b="0">
                <a:solidFill>
                  <a:srgbClr val="CCCCCC"/>
                </a:solidFill>
              </a:rPr>
              <a:t>Picks what matters. Builds the structure.</a:t>
            </a:r>
          </a:p>
        </p:txBody>
      </p:sp>
      <p:sp>
        <p:nvSpPr>
          <p:cNvPr id="17" name="Rectangle 16"/>
          <p:cNvSpPr/>
          <p:nvPr/>
        </p:nvSpPr>
        <p:spPr>
          <a:xfrm>
            <a:off x="6181344" y="2743200"/>
            <a:ext cx="2651760" cy="33832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18504" y="2926080"/>
            <a:ext cx="2377440" cy="457200"/>
          </a:xfrm>
          <a:prstGeom prst="rect">
            <a:avLst/>
          </a:prstGeom>
          <a:noFill/>
        </p:spPr>
        <p:txBody>
          <a:bodyPr wrap="square">
            <a:spAutoFit/>
          </a:bodyPr>
          <a:lstStyle/>
          <a:p>
            <a:pPr algn="l"/>
            <a:r>
              <a:rPr sz="1400" b="1">
                <a:solidFill>
                  <a:srgbClr val="D47A21"/>
                </a:solidFill>
              </a:rPr>
              <a:t>03</a:t>
            </a:r>
          </a:p>
        </p:txBody>
      </p:sp>
      <p:sp>
        <p:nvSpPr>
          <p:cNvPr id="19" name="TextBox 18"/>
          <p:cNvSpPr txBox="1"/>
          <p:nvPr/>
        </p:nvSpPr>
        <p:spPr>
          <a:xfrm>
            <a:off x="6318504" y="3383280"/>
            <a:ext cx="2377440" cy="548640"/>
          </a:xfrm>
          <a:prstGeom prst="rect">
            <a:avLst/>
          </a:prstGeom>
          <a:noFill/>
        </p:spPr>
        <p:txBody>
          <a:bodyPr wrap="square">
            <a:spAutoFit/>
          </a:bodyPr>
          <a:lstStyle/>
          <a:p>
            <a:pPr algn="l"/>
            <a:r>
              <a:rPr sz="2000" b="1">
                <a:solidFill>
                  <a:srgbClr val="FFFFFF"/>
                </a:solidFill>
              </a:rPr>
              <a:t>OPERATOR</a:t>
            </a:r>
          </a:p>
        </p:txBody>
      </p:sp>
      <p:sp>
        <p:nvSpPr>
          <p:cNvPr id="20" name="TextBox 19"/>
          <p:cNvSpPr txBox="1"/>
          <p:nvPr/>
        </p:nvSpPr>
        <p:spPr>
          <a:xfrm>
            <a:off x="6318504" y="4023360"/>
            <a:ext cx="2377440" cy="548640"/>
          </a:xfrm>
          <a:prstGeom prst="rect">
            <a:avLst/>
          </a:prstGeom>
          <a:noFill/>
        </p:spPr>
        <p:txBody>
          <a:bodyPr wrap="square">
            <a:spAutoFit/>
          </a:bodyPr>
          <a:lstStyle/>
          <a:p>
            <a:pPr algn="l"/>
            <a:r>
              <a:rPr sz="1500" b="1">
                <a:solidFill>
                  <a:srgbClr val="D47A21"/>
                </a:solidFill>
              </a:rPr>
              <a:t>Does the work.</a:t>
            </a:r>
          </a:p>
        </p:txBody>
      </p:sp>
      <p:sp>
        <p:nvSpPr>
          <p:cNvPr id="21" name="TextBox 20"/>
          <p:cNvSpPr txBox="1"/>
          <p:nvPr/>
        </p:nvSpPr>
        <p:spPr>
          <a:xfrm>
            <a:off x="6318504" y="4572000"/>
            <a:ext cx="2377440" cy="1371600"/>
          </a:xfrm>
          <a:prstGeom prst="rect">
            <a:avLst/>
          </a:prstGeom>
          <a:noFill/>
        </p:spPr>
        <p:txBody>
          <a:bodyPr wrap="square">
            <a:spAutoFit/>
          </a:bodyPr>
          <a:lstStyle/>
          <a:p>
            <a:pPr algn="l"/>
            <a:r>
              <a:rPr sz="1400" b="0">
                <a:solidFill>
                  <a:srgbClr val="CCCCCC"/>
                </a:solidFill>
              </a:rPr>
              <a:t>Writes, sends, executes the action.</a:t>
            </a:r>
          </a:p>
        </p:txBody>
      </p:sp>
      <p:sp>
        <p:nvSpPr>
          <p:cNvPr id="22" name="Rectangle 21"/>
          <p:cNvSpPr/>
          <p:nvPr/>
        </p:nvSpPr>
        <p:spPr>
          <a:xfrm>
            <a:off x="9089136" y="2743200"/>
            <a:ext cx="2651760" cy="33832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26296" y="2926080"/>
            <a:ext cx="2377440" cy="457200"/>
          </a:xfrm>
          <a:prstGeom prst="rect">
            <a:avLst/>
          </a:prstGeom>
          <a:noFill/>
        </p:spPr>
        <p:txBody>
          <a:bodyPr wrap="square">
            <a:spAutoFit/>
          </a:bodyPr>
          <a:lstStyle/>
          <a:p>
            <a:pPr algn="l"/>
            <a:r>
              <a:rPr sz="1400" b="1">
                <a:solidFill>
                  <a:srgbClr val="D47A21"/>
                </a:solidFill>
              </a:rPr>
              <a:t>04</a:t>
            </a:r>
          </a:p>
        </p:txBody>
      </p:sp>
      <p:sp>
        <p:nvSpPr>
          <p:cNvPr id="24" name="TextBox 23"/>
          <p:cNvSpPr txBox="1"/>
          <p:nvPr/>
        </p:nvSpPr>
        <p:spPr>
          <a:xfrm>
            <a:off x="9226296" y="3383280"/>
            <a:ext cx="2377440" cy="548640"/>
          </a:xfrm>
          <a:prstGeom prst="rect">
            <a:avLst/>
          </a:prstGeom>
          <a:noFill/>
        </p:spPr>
        <p:txBody>
          <a:bodyPr wrap="square">
            <a:spAutoFit/>
          </a:bodyPr>
          <a:lstStyle/>
          <a:p>
            <a:pPr algn="l"/>
            <a:r>
              <a:rPr sz="2000" b="1">
                <a:solidFill>
                  <a:srgbClr val="FFFFFF"/>
                </a:solidFill>
              </a:rPr>
              <a:t>AUDITOR</a:t>
            </a:r>
          </a:p>
        </p:txBody>
      </p:sp>
      <p:sp>
        <p:nvSpPr>
          <p:cNvPr id="25" name="TextBox 24"/>
          <p:cNvSpPr txBox="1"/>
          <p:nvPr/>
        </p:nvSpPr>
        <p:spPr>
          <a:xfrm>
            <a:off x="9226296" y="4023360"/>
            <a:ext cx="2377440" cy="548640"/>
          </a:xfrm>
          <a:prstGeom prst="rect">
            <a:avLst/>
          </a:prstGeom>
          <a:noFill/>
        </p:spPr>
        <p:txBody>
          <a:bodyPr wrap="square">
            <a:spAutoFit/>
          </a:bodyPr>
          <a:lstStyle/>
          <a:p>
            <a:pPr algn="l"/>
            <a:r>
              <a:rPr sz="1500" b="1">
                <a:solidFill>
                  <a:srgbClr val="D47A21"/>
                </a:solidFill>
              </a:rPr>
              <a:t>Checks the result.</a:t>
            </a:r>
          </a:p>
        </p:txBody>
      </p:sp>
      <p:sp>
        <p:nvSpPr>
          <p:cNvPr id="26" name="TextBox 25"/>
          <p:cNvSpPr txBox="1"/>
          <p:nvPr/>
        </p:nvSpPr>
        <p:spPr>
          <a:xfrm>
            <a:off x="9226296" y="4572000"/>
            <a:ext cx="2377440" cy="1371600"/>
          </a:xfrm>
          <a:prstGeom prst="rect">
            <a:avLst/>
          </a:prstGeom>
          <a:noFill/>
        </p:spPr>
        <p:txBody>
          <a:bodyPr wrap="square">
            <a:spAutoFit/>
          </a:bodyPr>
          <a:lstStyle/>
          <a:p>
            <a:pPr algn="l"/>
            <a:r>
              <a:rPr sz="1400" b="0">
                <a:solidFill>
                  <a:srgbClr val="CCCCCC"/>
                </a:solidFill>
              </a:rPr>
              <a:t>Catches weak logic. Refines before delivery.</a:t>
            </a:r>
          </a:p>
        </p:txBody>
      </p:sp>
      <p:sp>
        <p:nvSpPr>
          <p:cNvPr id="27" name="TextBox 26"/>
          <p:cNvSpPr txBox="1"/>
          <p:nvPr/>
        </p:nvSpPr>
        <p:spPr>
          <a:xfrm>
            <a:off x="548640" y="6263640"/>
            <a:ext cx="10972800" cy="365760"/>
          </a:xfrm>
          <a:prstGeom prst="rect">
            <a:avLst/>
          </a:prstGeom>
          <a:noFill/>
        </p:spPr>
        <p:txBody>
          <a:bodyPr wrap="square">
            <a:spAutoFit/>
          </a:bodyPr>
          <a:lstStyle/>
          <a:p>
            <a:pPr algn="l"/>
            <a:r>
              <a:rPr sz="1500" b="1">
                <a:solidFill>
                  <a:srgbClr val="D47A21"/>
                </a:solidFill>
              </a:rPr>
              <a:t>One agent. The job of four people.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2  -  HOW THEY WORK</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Workflow vs Agent - Grocery on Friday</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194560"/>
            <a:ext cx="10972800" cy="457200"/>
          </a:xfrm>
          <a:prstGeom prst="rect">
            <a:avLst/>
          </a:prstGeom>
          <a:noFill/>
        </p:spPr>
        <p:txBody>
          <a:bodyPr wrap="square">
            <a:spAutoFit/>
          </a:bodyPr>
          <a:lstStyle/>
          <a:p>
            <a:pPr algn="l"/>
            <a:r>
              <a:rPr sz="1500" b="0">
                <a:solidFill>
                  <a:srgbClr val="CCCCCC"/>
                </a:solidFill>
              </a:rPr>
              <a:t>Same job: every Friday, check prices, build my list, place the order.</a:t>
            </a:r>
          </a:p>
        </p:txBody>
      </p:sp>
      <p:sp>
        <p:nvSpPr>
          <p:cNvPr id="7" name="Rectangle 6"/>
          <p:cNvSpPr/>
          <p:nvPr/>
        </p:nvSpPr>
        <p:spPr>
          <a:xfrm>
            <a:off x="457200" y="2788920"/>
            <a:ext cx="5577840" cy="3657600"/>
          </a:xfrm>
          <a:prstGeom prst="rect">
            <a:avLst/>
          </a:prstGeom>
          <a:solidFill>
            <a:srgbClr val="1E1E1E"/>
          </a:solidFill>
          <a:ln>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926080"/>
            <a:ext cx="5120640" cy="365760"/>
          </a:xfrm>
          <a:prstGeom prst="rect">
            <a:avLst/>
          </a:prstGeom>
          <a:noFill/>
        </p:spPr>
        <p:txBody>
          <a:bodyPr wrap="square">
            <a:spAutoFit/>
          </a:bodyPr>
          <a:lstStyle/>
          <a:p>
            <a:pPr algn="l"/>
            <a:r>
              <a:rPr sz="1400" b="1">
                <a:solidFill>
                  <a:srgbClr val="888888"/>
                </a:solidFill>
              </a:rPr>
              <a:t>WORKFLOW</a:t>
            </a:r>
          </a:p>
        </p:txBody>
      </p:sp>
      <p:sp>
        <p:nvSpPr>
          <p:cNvPr id="9" name="TextBox 8"/>
          <p:cNvSpPr txBox="1"/>
          <p:nvPr/>
        </p:nvSpPr>
        <p:spPr>
          <a:xfrm>
            <a:off x="685800" y="3337560"/>
            <a:ext cx="5120640" cy="548640"/>
          </a:xfrm>
          <a:prstGeom prst="rect">
            <a:avLst/>
          </a:prstGeom>
          <a:noFill/>
        </p:spPr>
        <p:txBody>
          <a:bodyPr wrap="square">
            <a:spAutoFit/>
          </a:bodyPr>
          <a:lstStyle/>
          <a:p>
            <a:pPr algn="l"/>
            <a:r>
              <a:rPr sz="2000" b="1">
                <a:solidFill>
                  <a:srgbClr val="FFFFFF"/>
                </a:solidFill>
              </a:rPr>
              <a:t>Designed to be obedient.</a:t>
            </a:r>
          </a:p>
        </p:txBody>
      </p:sp>
      <p:sp>
        <p:nvSpPr>
          <p:cNvPr id="10" name="TextBox 9"/>
          <p:cNvSpPr txBox="1"/>
          <p:nvPr/>
        </p:nvSpPr>
        <p:spPr>
          <a:xfrm>
            <a:off x="594360" y="4023360"/>
            <a:ext cx="5303520" cy="2377440"/>
          </a:xfrm>
          <a:prstGeom prst="rect">
            <a:avLst/>
          </a:prstGeom>
          <a:noFill/>
        </p:spPr>
        <p:txBody>
          <a:bodyPr wrap="square">
            <a:spAutoFit/>
          </a:bodyPr>
          <a:lstStyle/>
          <a:p>
            <a:pPr algn="l">
              <a:spcAft>
                <a:spcPts val="1000"/>
              </a:spcAft>
            </a:pPr>
            <a:r>
              <a:rPr sz="1400">
                <a:solidFill>
                  <a:srgbClr val="CCCCCC"/>
                </a:solidFill>
              </a:rPr>
              <a:t>  Same script every Friday.</a:t>
            </a:r>
          </a:p>
          <a:p>
            <a:pPr algn="l">
              <a:spcAft>
                <a:spcPts val="1000"/>
              </a:spcAft>
            </a:pPr>
            <a:r>
              <a:rPr sz="1400">
                <a:solidFill>
                  <a:srgbClr val="CCCCCC"/>
                </a:solidFill>
              </a:rPr>
              <a:t>  Item out of stock - breaks.</a:t>
            </a:r>
          </a:p>
          <a:p>
            <a:pPr algn="l">
              <a:spcAft>
                <a:spcPts val="1000"/>
              </a:spcAft>
            </a:pPr>
            <a:r>
              <a:rPr sz="1400">
                <a:solidFill>
                  <a:srgbClr val="CCCCCC"/>
                </a:solidFill>
              </a:rPr>
              <a:t>  Six guests Saturday? Doesn't notice.</a:t>
            </a:r>
          </a:p>
          <a:p>
            <a:pPr algn="l">
              <a:spcAft>
                <a:spcPts val="1000"/>
              </a:spcAft>
            </a:pPr>
            <a:r>
              <a:rPr sz="1400">
                <a:solidFill>
                  <a:srgbClr val="CCCCCC"/>
                </a:solidFill>
              </a:rPr>
              <a:t>  Cannot reroute.</a:t>
            </a:r>
          </a:p>
        </p:txBody>
      </p:sp>
      <p:sp>
        <p:nvSpPr>
          <p:cNvPr id="11" name="Rectangle 10"/>
          <p:cNvSpPr/>
          <p:nvPr/>
        </p:nvSpPr>
        <p:spPr>
          <a:xfrm>
            <a:off x="6217920" y="2788920"/>
            <a:ext cx="5577840" cy="36576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2926080"/>
            <a:ext cx="5120640" cy="365760"/>
          </a:xfrm>
          <a:prstGeom prst="rect">
            <a:avLst/>
          </a:prstGeom>
          <a:noFill/>
        </p:spPr>
        <p:txBody>
          <a:bodyPr wrap="square">
            <a:spAutoFit/>
          </a:bodyPr>
          <a:lstStyle/>
          <a:p>
            <a:pPr algn="l"/>
            <a:r>
              <a:rPr sz="1400" b="1">
                <a:solidFill>
                  <a:srgbClr val="D47A21"/>
                </a:solidFill>
              </a:rPr>
              <a:t>AGENT</a:t>
            </a:r>
          </a:p>
        </p:txBody>
      </p:sp>
      <p:sp>
        <p:nvSpPr>
          <p:cNvPr id="13" name="TextBox 12"/>
          <p:cNvSpPr txBox="1"/>
          <p:nvPr/>
        </p:nvSpPr>
        <p:spPr>
          <a:xfrm>
            <a:off x="6446520" y="3337560"/>
            <a:ext cx="5120640" cy="548640"/>
          </a:xfrm>
          <a:prstGeom prst="rect">
            <a:avLst/>
          </a:prstGeom>
          <a:noFill/>
        </p:spPr>
        <p:txBody>
          <a:bodyPr wrap="square">
            <a:spAutoFit/>
          </a:bodyPr>
          <a:lstStyle/>
          <a:p>
            <a:pPr algn="l"/>
            <a:r>
              <a:rPr sz="2000" b="1">
                <a:solidFill>
                  <a:srgbClr val="FFFFFF"/>
                </a:solidFill>
              </a:rPr>
              <a:t>Designed to adapt.</a:t>
            </a:r>
          </a:p>
        </p:txBody>
      </p:sp>
      <p:sp>
        <p:nvSpPr>
          <p:cNvPr id="14" name="TextBox 13"/>
          <p:cNvSpPr txBox="1"/>
          <p:nvPr/>
        </p:nvSpPr>
        <p:spPr>
          <a:xfrm>
            <a:off x="6355080" y="4023360"/>
            <a:ext cx="5394960" cy="2377440"/>
          </a:xfrm>
          <a:prstGeom prst="rect">
            <a:avLst/>
          </a:prstGeom>
          <a:noFill/>
        </p:spPr>
        <p:txBody>
          <a:bodyPr wrap="square">
            <a:spAutoFit/>
          </a:bodyPr>
          <a:lstStyle/>
          <a:p>
            <a:pPr algn="l">
              <a:spcAft>
                <a:spcPts val="1000"/>
              </a:spcAft>
            </a:pPr>
            <a:r>
              <a:rPr sz="1400">
                <a:solidFill>
                  <a:srgbClr val="CCCCCC"/>
                </a:solidFill>
              </a:rPr>
              <a:t>  Out of stock - finds substitutes.</a:t>
            </a:r>
          </a:p>
          <a:p>
            <a:pPr algn="l">
              <a:spcAft>
                <a:spcPts val="1000"/>
              </a:spcAft>
            </a:pPr>
            <a:r>
              <a:rPr sz="1400">
                <a:solidFill>
                  <a:srgbClr val="CCCCCC"/>
                </a:solidFill>
              </a:rPr>
              <a:t>  Checks calendar, sees the dinner.</a:t>
            </a:r>
          </a:p>
          <a:p>
            <a:pPr algn="l">
              <a:spcAft>
                <a:spcPts val="1000"/>
              </a:spcAft>
            </a:pPr>
            <a:r>
              <a:rPr sz="1400">
                <a:solidFill>
                  <a:srgbClr val="CCCCCC"/>
                </a:solidFill>
              </a:rPr>
              <a:t>  Adjusts quantities for six.</a:t>
            </a:r>
          </a:p>
          <a:p>
            <a:pPr algn="l">
              <a:spcAft>
                <a:spcPts val="1000"/>
              </a:spcAft>
            </a:pPr>
            <a:r>
              <a:rPr sz="1400">
                <a:solidFill>
                  <a:srgbClr val="CCCCCC"/>
                </a:solidFill>
              </a:rPr>
              <a:t>  Rebuilds the order around context.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3  -  WHEN TO USE</a:t>
            </a:r>
          </a:p>
        </p:txBody>
      </p:sp>
      <p:sp>
        <p:nvSpPr>
          <p:cNvPr id="4" name="TextBox 3"/>
          <p:cNvSpPr txBox="1"/>
          <p:nvPr/>
        </p:nvSpPr>
        <p:spPr>
          <a:xfrm>
            <a:off x="548640" y="914400"/>
            <a:ext cx="11430000" cy="1097280"/>
          </a:xfrm>
          <a:prstGeom prst="rect">
            <a:avLst/>
          </a:prstGeom>
          <a:noFill/>
        </p:spPr>
        <p:txBody>
          <a:bodyPr wrap="square">
            <a:spAutoFit/>
          </a:bodyPr>
          <a:lstStyle/>
          <a:p>
            <a:pPr algn="l"/>
            <a:r>
              <a:rPr sz="3200" b="1">
                <a:solidFill>
                  <a:srgbClr val="FFFFFF"/>
                </a:solidFill>
              </a:rPr>
              <a:t>The ARR Test - Is This an Agent or a Prompt?</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194560"/>
            <a:ext cx="10972800" cy="1280160"/>
          </a:xfrm>
          <a:prstGeom prst="rect">
            <a:avLst/>
          </a:prstGeom>
          <a:noFill/>
        </p:spPr>
        <p:txBody>
          <a:bodyPr wrap="square">
            <a:spAutoFit/>
          </a:bodyPr>
          <a:lstStyle/>
          <a:p>
            <a:pPr algn="l"/>
            <a:r>
              <a:rPr sz="1800" b="0">
                <a:solidFill>
                  <a:srgbClr val="CCCCCC"/>
                </a:solidFill>
              </a:rPr>
              <a:t>If a task is Autonomous, Recurring, and Reviewable - it's an agent.
If it needs live judgment, happens once, or can't be reviewed - keep it a prompt.</a:t>
            </a:r>
          </a:p>
        </p:txBody>
      </p:sp>
      <p:sp>
        <p:nvSpPr>
          <p:cNvPr id="7" name="Rectangle 6"/>
          <p:cNvSpPr/>
          <p:nvPr/>
        </p:nvSpPr>
        <p:spPr>
          <a:xfrm>
            <a:off x="365760" y="3611880"/>
            <a:ext cx="3611880" cy="27432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3703320"/>
            <a:ext cx="3337560" cy="1005840"/>
          </a:xfrm>
          <a:prstGeom prst="rect">
            <a:avLst/>
          </a:prstGeom>
          <a:noFill/>
        </p:spPr>
        <p:txBody>
          <a:bodyPr wrap="square">
            <a:spAutoFit/>
          </a:bodyPr>
          <a:lstStyle/>
          <a:p>
            <a:pPr algn="l"/>
            <a:r>
              <a:rPr sz="5200" b="1">
                <a:solidFill>
                  <a:srgbClr val="D47A21"/>
                </a:solidFill>
              </a:rPr>
              <a:t>A</a:t>
            </a:r>
          </a:p>
        </p:txBody>
      </p:sp>
      <p:sp>
        <p:nvSpPr>
          <p:cNvPr id="9" name="TextBox 8"/>
          <p:cNvSpPr txBox="1"/>
          <p:nvPr/>
        </p:nvSpPr>
        <p:spPr>
          <a:xfrm>
            <a:off x="548640" y="4800600"/>
            <a:ext cx="3337560" cy="548640"/>
          </a:xfrm>
          <a:prstGeom prst="rect">
            <a:avLst/>
          </a:prstGeom>
          <a:noFill/>
        </p:spPr>
        <p:txBody>
          <a:bodyPr wrap="square">
            <a:spAutoFit/>
          </a:bodyPr>
          <a:lstStyle/>
          <a:p>
            <a:pPr algn="l"/>
            <a:r>
              <a:rPr sz="2000" b="1">
                <a:solidFill>
                  <a:srgbClr val="FFFFFF"/>
                </a:solidFill>
              </a:rPr>
              <a:t>Autonomous</a:t>
            </a:r>
          </a:p>
        </p:txBody>
      </p:sp>
      <p:sp>
        <p:nvSpPr>
          <p:cNvPr id="10" name="TextBox 9"/>
          <p:cNvSpPr txBox="1"/>
          <p:nvPr/>
        </p:nvSpPr>
        <p:spPr>
          <a:xfrm>
            <a:off x="548640" y="5303520"/>
            <a:ext cx="3337560" cy="1005840"/>
          </a:xfrm>
          <a:prstGeom prst="rect">
            <a:avLst/>
          </a:prstGeom>
          <a:noFill/>
        </p:spPr>
        <p:txBody>
          <a:bodyPr wrap="square">
            <a:spAutoFit/>
          </a:bodyPr>
          <a:lstStyle/>
          <a:p>
            <a:pPr algn="l"/>
            <a:r>
              <a:rPr sz="1400" b="0">
                <a:solidFill>
                  <a:srgbClr val="CCCCCC"/>
                </a:solidFill>
              </a:rPr>
              <a:t>Can run without you stepping in at every decision.</a:t>
            </a:r>
          </a:p>
        </p:txBody>
      </p:sp>
      <p:sp>
        <p:nvSpPr>
          <p:cNvPr id="11" name="Rectangle 10"/>
          <p:cNvSpPr/>
          <p:nvPr/>
        </p:nvSpPr>
        <p:spPr>
          <a:xfrm>
            <a:off x="4160520" y="3611880"/>
            <a:ext cx="3611880" cy="27432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43400" y="3703320"/>
            <a:ext cx="3337560" cy="1005840"/>
          </a:xfrm>
          <a:prstGeom prst="rect">
            <a:avLst/>
          </a:prstGeom>
          <a:noFill/>
        </p:spPr>
        <p:txBody>
          <a:bodyPr wrap="square">
            <a:spAutoFit/>
          </a:bodyPr>
          <a:lstStyle/>
          <a:p>
            <a:pPr algn="l"/>
            <a:r>
              <a:rPr sz="5200" b="1">
                <a:solidFill>
                  <a:srgbClr val="D47A21"/>
                </a:solidFill>
              </a:rPr>
              <a:t>R</a:t>
            </a:r>
          </a:p>
        </p:txBody>
      </p:sp>
      <p:sp>
        <p:nvSpPr>
          <p:cNvPr id="13" name="TextBox 12"/>
          <p:cNvSpPr txBox="1"/>
          <p:nvPr/>
        </p:nvSpPr>
        <p:spPr>
          <a:xfrm>
            <a:off x="4343400" y="4800600"/>
            <a:ext cx="3337560" cy="548640"/>
          </a:xfrm>
          <a:prstGeom prst="rect">
            <a:avLst/>
          </a:prstGeom>
          <a:noFill/>
        </p:spPr>
        <p:txBody>
          <a:bodyPr wrap="square">
            <a:spAutoFit/>
          </a:bodyPr>
          <a:lstStyle/>
          <a:p>
            <a:pPr algn="l"/>
            <a:r>
              <a:rPr sz="2000" b="1">
                <a:solidFill>
                  <a:srgbClr val="FFFFFF"/>
                </a:solidFill>
              </a:rPr>
              <a:t>Recurring</a:t>
            </a:r>
          </a:p>
        </p:txBody>
      </p:sp>
      <p:sp>
        <p:nvSpPr>
          <p:cNvPr id="14" name="TextBox 13"/>
          <p:cNvSpPr txBox="1"/>
          <p:nvPr/>
        </p:nvSpPr>
        <p:spPr>
          <a:xfrm>
            <a:off x="4343400" y="5303520"/>
            <a:ext cx="3337560" cy="1005840"/>
          </a:xfrm>
          <a:prstGeom prst="rect">
            <a:avLst/>
          </a:prstGeom>
          <a:noFill/>
        </p:spPr>
        <p:txBody>
          <a:bodyPr wrap="square">
            <a:spAutoFit/>
          </a:bodyPr>
          <a:lstStyle/>
          <a:p>
            <a:pPr algn="l"/>
            <a:r>
              <a:rPr sz="1400" b="0">
                <a:solidFill>
                  <a:srgbClr val="CCCCCC"/>
                </a:solidFill>
              </a:rPr>
              <a:t>Happens again - daily, weekly, on a trigger.</a:t>
            </a:r>
          </a:p>
        </p:txBody>
      </p:sp>
      <p:sp>
        <p:nvSpPr>
          <p:cNvPr id="15" name="Rectangle 14"/>
          <p:cNvSpPr/>
          <p:nvPr/>
        </p:nvSpPr>
        <p:spPr>
          <a:xfrm>
            <a:off x="7955280" y="3611880"/>
            <a:ext cx="3611880" cy="27432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38160" y="3703320"/>
            <a:ext cx="3337560" cy="1005840"/>
          </a:xfrm>
          <a:prstGeom prst="rect">
            <a:avLst/>
          </a:prstGeom>
          <a:noFill/>
        </p:spPr>
        <p:txBody>
          <a:bodyPr wrap="square">
            <a:spAutoFit/>
          </a:bodyPr>
          <a:lstStyle/>
          <a:p>
            <a:pPr algn="l"/>
            <a:r>
              <a:rPr sz="5200" b="1">
                <a:solidFill>
                  <a:srgbClr val="D47A21"/>
                </a:solidFill>
              </a:rPr>
              <a:t>R</a:t>
            </a:r>
          </a:p>
        </p:txBody>
      </p:sp>
      <p:sp>
        <p:nvSpPr>
          <p:cNvPr id="17" name="TextBox 16"/>
          <p:cNvSpPr txBox="1"/>
          <p:nvPr/>
        </p:nvSpPr>
        <p:spPr>
          <a:xfrm>
            <a:off x="8138160" y="4800600"/>
            <a:ext cx="3337560" cy="548640"/>
          </a:xfrm>
          <a:prstGeom prst="rect">
            <a:avLst/>
          </a:prstGeom>
          <a:noFill/>
        </p:spPr>
        <p:txBody>
          <a:bodyPr wrap="square">
            <a:spAutoFit/>
          </a:bodyPr>
          <a:lstStyle/>
          <a:p>
            <a:pPr algn="l"/>
            <a:r>
              <a:rPr sz="2000" b="1">
                <a:solidFill>
                  <a:srgbClr val="FFFFFF"/>
                </a:solidFill>
              </a:rPr>
              <a:t>Reviewable</a:t>
            </a:r>
          </a:p>
        </p:txBody>
      </p:sp>
      <p:sp>
        <p:nvSpPr>
          <p:cNvPr id="18" name="TextBox 17"/>
          <p:cNvSpPr txBox="1"/>
          <p:nvPr/>
        </p:nvSpPr>
        <p:spPr>
          <a:xfrm>
            <a:off x="8138160" y="5303520"/>
            <a:ext cx="3337560" cy="1005840"/>
          </a:xfrm>
          <a:prstGeom prst="rect">
            <a:avLst/>
          </a:prstGeom>
          <a:noFill/>
        </p:spPr>
        <p:txBody>
          <a:bodyPr wrap="square">
            <a:spAutoFit/>
          </a:bodyPr>
          <a:lstStyle/>
          <a:p>
            <a:pPr algn="l"/>
            <a:r>
              <a:rPr sz="1400" b="0">
                <a:solidFill>
                  <a:srgbClr val="CCCCCC"/>
                </a:solidFill>
              </a:rPr>
              <a:t>You can tell if the output is good or bad.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4  -  WHERE THEY BREAK</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An Agent Is a Multiplier, Not Magic</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2286000"/>
            <a:ext cx="11064240" cy="15544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468880"/>
            <a:ext cx="10607040" cy="1280160"/>
          </a:xfrm>
          <a:prstGeom prst="rect">
            <a:avLst/>
          </a:prstGeom>
          <a:noFill/>
        </p:spPr>
        <p:txBody>
          <a:bodyPr wrap="square">
            <a:spAutoFit/>
          </a:bodyPr>
          <a:lstStyle/>
          <a:p>
            <a:pPr algn="l"/>
            <a:r>
              <a:rPr sz="1900" b="0">
                <a:solidFill>
                  <a:srgbClr val="FFFFFF"/>
                </a:solidFill>
              </a:rPr>
              <a:t>An agent will do the wrong thing faster and with more confidence
than you ever could. It doesn't fix bad thinking - it formalizes it.</a:t>
            </a:r>
          </a:p>
        </p:txBody>
      </p:sp>
      <p:sp>
        <p:nvSpPr>
          <p:cNvPr id="8" name="TextBox 7"/>
          <p:cNvSpPr txBox="1"/>
          <p:nvPr/>
        </p:nvSpPr>
        <p:spPr>
          <a:xfrm>
            <a:off x="548640" y="4069080"/>
            <a:ext cx="10972800" cy="2286000"/>
          </a:xfrm>
          <a:prstGeom prst="rect">
            <a:avLst/>
          </a:prstGeom>
          <a:noFill/>
        </p:spPr>
        <p:txBody>
          <a:bodyPr wrap="square">
            <a:spAutoFit/>
          </a:bodyPr>
          <a:lstStyle/>
          <a:p>
            <a:pPr algn="l">
              <a:spcAft>
                <a:spcPts val="1000"/>
              </a:spcAft>
            </a:pPr>
            <a:r>
              <a:rPr sz="1800">
                <a:solidFill>
                  <a:srgbClr val="CCCCCC"/>
                </a:solidFill>
              </a:rPr>
              <a:t>  Most AI problems are human problems in disguise.</a:t>
            </a:r>
          </a:p>
          <a:p>
            <a:pPr algn="l">
              <a:spcAft>
                <a:spcPts val="1000"/>
              </a:spcAft>
            </a:pPr>
            <a:r>
              <a:rPr sz="1800">
                <a:solidFill>
                  <a:srgbClr val="CCCCCC"/>
                </a:solidFill>
              </a:rPr>
              <a:t>  An agent is a mirror. It reflects the quality of your thinking back.</a:t>
            </a:r>
          </a:p>
          <a:p>
            <a:pPr algn="l">
              <a:spcAft>
                <a:spcPts val="1000"/>
              </a:spcAft>
            </a:pPr>
            <a:r>
              <a:rPr sz="1800">
                <a:solidFill>
                  <a:srgbClr val="CCCCCC"/>
                </a:solidFill>
              </a:rPr>
              <a:t>  Vague goals + sloppy directions = the car hits the tree, faster.</a:t>
            </a:r>
          </a:p>
          <a:p>
            <a:pPr algn="l">
              <a:spcAft>
                <a:spcPts val="1000"/>
              </a:spcAft>
            </a:pPr>
            <a:r>
              <a:rPr sz="1800">
                <a:solidFill>
                  <a:srgbClr val="CCCCCC"/>
                </a:solidFill>
              </a:rPr>
              <a:t>  Usually the agent didn't fail. The human was vague.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4  -  WHERE THEY BREAK</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Before You Build - Run the GPS Check</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194560"/>
            <a:ext cx="10972800" cy="457200"/>
          </a:xfrm>
          <a:prstGeom prst="rect">
            <a:avLst/>
          </a:prstGeom>
          <a:noFill/>
        </p:spPr>
        <p:txBody>
          <a:bodyPr wrap="square">
            <a:spAutoFit/>
          </a:bodyPr>
          <a:lstStyle/>
          <a:p>
            <a:pPr algn="l"/>
            <a:r>
              <a:rPr sz="1600" b="0">
                <a:solidFill>
                  <a:srgbClr val="888888"/>
                </a:solidFill>
              </a:rPr>
              <a:t>Goal, Proof, Steps. If you can't answer all three, don't ship the agent.</a:t>
            </a:r>
          </a:p>
        </p:txBody>
      </p:sp>
      <p:sp>
        <p:nvSpPr>
          <p:cNvPr id="7" name="Rectangle 6"/>
          <p:cNvSpPr/>
          <p:nvPr/>
        </p:nvSpPr>
        <p:spPr>
          <a:xfrm>
            <a:off x="548640" y="2788920"/>
            <a:ext cx="11064240" cy="10515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926080"/>
            <a:ext cx="1097280" cy="914400"/>
          </a:xfrm>
          <a:prstGeom prst="rect">
            <a:avLst/>
          </a:prstGeom>
          <a:noFill/>
        </p:spPr>
        <p:txBody>
          <a:bodyPr wrap="square">
            <a:spAutoFit/>
          </a:bodyPr>
          <a:lstStyle/>
          <a:p>
            <a:pPr algn="l"/>
            <a:r>
              <a:rPr sz="4200" b="1">
                <a:solidFill>
                  <a:srgbClr val="D47A21"/>
                </a:solidFill>
              </a:rPr>
              <a:t>G</a:t>
            </a:r>
          </a:p>
        </p:txBody>
      </p:sp>
      <p:sp>
        <p:nvSpPr>
          <p:cNvPr id="9" name="TextBox 8"/>
          <p:cNvSpPr txBox="1"/>
          <p:nvPr/>
        </p:nvSpPr>
        <p:spPr>
          <a:xfrm>
            <a:off x="1920240" y="2953512"/>
            <a:ext cx="2286000" cy="457200"/>
          </a:xfrm>
          <a:prstGeom prst="rect">
            <a:avLst/>
          </a:prstGeom>
          <a:noFill/>
        </p:spPr>
        <p:txBody>
          <a:bodyPr wrap="square">
            <a:spAutoFit/>
          </a:bodyPr>
          <a:lstStyle/>
          <a:p>
            <a:pPr algn="l"/>
            <a:r>
              <a:rPr sz="2000" b="1">
                <a:solidFill>
                  <a:srgbClr val="FFFFFF"/>
                </a:solidFill>
              </a:rPr>
              <a:t>GOAL</a:t>
            </a:r>
          </a:p>
        </p:txBody>
      </p:sp>
      <p:sp>
        <p:nvSpPr>
          <p:cNvPr id="10" name="TextBox 9"/>
          <p:cNvSpPr txBox="1"/>
          <p:nvPr/>
        </p:nvSpPr>
        <p:spPr>
          <a:xfrm>
            <a:off x="1920240" y="3383280"/>
            <a:ext cx="9144000" cy="457200"/>
          </a:xfrm>
          <a:prstGeom prst="rect">
            <a:avLst/>
          </a:prstGeom>
          <a:noFill/>
        </p:spPr>
        <p:txBody>
          <a:bodyPr wrap="square">
            <a:spAutoFit/>
          </a:bodyPr>
          <a:lstStyle/>
          <a:p>
            <a:pPr algn="l"/>
            <a:r>
              <a:rPr sz="1500" b="0">
                <a:solidFill>
                  <a:srgbClr val="CCCCCC"/>
                </a:solidFill>
              </a:rPr>
              <a:t>Can I state the goal in one clear sentence?</a:t>
            </a:r>
          </a:p>
        </p:txBody>
      </p:sp>
      <p:sp>
        <p:nvSpPr>
          <p:cNvPr id="11" name="Rectangle 10"/>
          <p:cNvSpPr/>
          <p:nvPr/>
        </p:nvSpPr>
        <p:spPr>
          <a:xfrm>
            <a:off x="548640" y="3977640"/>
            <a:ext cx="11064240" cy="10515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4114800"/>
            <a:ext cx="1097280" cy="914400"/>
          </a:xfrm>
          <a:prstGeom prst="rect">
            <a:avLst/>
          </a:prstGeom>
          <a:noFill/>
        </p:spPr>
        <p:txBody>
          <a:bodyPr wrap="square">
            <a:spAutoFit/>
          </a:bodyPr>
          <a:lstStyle/>
          <a:p>
            <a:pPr algn="l"/>
            <a:r>
              <a:rPr sz="4200" b="1">
                <a:solidFill>
                  <a:srgbClr val="D47A21"/>
                </a:solidFill>
              </a:rPr>
              <a:t>P</a:t>
            </a:r>
          </a:p>
        </p:txBody>
      </p:sp>
      <p:sp>
        <p:nvSpPr>
          <p:cNvPr id="13" name="TextBox 12"/>
          <p:cNvSpPr txBox="1"/>
          <p:nvPr/>
        </p:nvSpPr>
        <p:spPr>
          <a:xfrm>
            <a:off x="1920240" y="4142232"/>
            <a:ext cx="2286000" cy="457200"/>
          </a:xfrm>
          <a:prstGeom prst="rect">
            <a:avLst/>
          </a:prstGeom>
          <a:noFill/>
        </p:spPr>
        <p:txBody>
          <a:bodyPr wrap="square">
            <a:spAutoFit/>
          </a:bodyPr>
          <a:lstStyle/>
          <a:p>
            <a:pPr algn="l"/>
            <a:r>
              <a:rPr sz="2000" b="1">
                <a:solidFill>
                  <a:srgbClr val="FFFFFF"/>
                </a:solidFill>
              </a:rPr>
              <a:t>PROOF</a:t>
            </a:r>
          </a:p>
        </p:txBody>
      </p:sp>
      <p:sp>
        <p:nvSpPr>
          <p:cNvPr id="14" name="TextBox 13"/>
          <p:cNvSpPr txBox="1"/>
          <p:nvPr/>
        </p:nvSpPr>
        <p:spPr>
          <a:xfrm>
            <a:off x="1920240" y="4572000"/>
            <a:ext cx="9144000" cy="457200"/>
          </a:xfrm>
          <a:prstGeom prst="rect">
            <a:avLst/>
          </a:prstGeom>
          <a:noFill/>
        </p:spPr>
        <p:txBody>
          <a:bodyPr wrap="square">
            <a:spAutoFit/>
          </a:bodyPr>
          <a:lstStyle/>
          <a:p>
            <a:pPr algn="l"/>
            <a:r>
              <a:rPr sz="1500" b="0">
                <a:solidFill>
                  <a:srgbClr val="CCCCCC"/>
                </a:solidFill>
              </a:rPr>
              <a:t>Can I tell what good looks like? How will I know it got it right?</a:t>
            </a:r>
          </a:p>
        </p:txBody>
      </p:sp>
      <p:sp>
        <p:nvSpPr>
          <p:cNvPr id="15" name="Rectangle 14"/>
          <p:cNvSpPr/>
          <p:nvPr/>
        </p:nvSpPr>
        <p:spPr>
          <a:xfrm>
            <a:off x="548640" y="5166360"/>
            <a:ext cx="11064240" cy="10515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5303520"/>
            <a:ext cx="1097280" cy="914400"/>
          </a:xfrm>
          <a:prstGeom prst="rect">
            <a:avLst/>
          </a:prstGeom>
          <a:noFill/>
        </p:spPr>
        <p:txBody>
          <a:bodyPr wrap="square">
            <a:spAutoFit/>
          </a:bodyPr>
          <a:lstStyle/>
          <a:p>
            <a:pPr algn="l"/>
            <a:r>
              <a:rPr sz="4200" b="1">
                <a:solidFill>
                  <a:srgbClr val="D47A21"/>
                </a:solidFill>
              </a:rPr>
              <a:t>S</a:t>
            </a:r>
          </a:p>
        </p:txBody>
      </p:sp>
      <p:sp>
        <p:nvSpPr>
          <p:cNvPr id="17" name="TextBox 16"/>
          <p:cNvSpPr txBox="1"/>
          <p:nvPr/>
        </p:nvSpPr>
        <p:spPr>
          <a:xfrm>
            <a:off x="1920240" y="5330952"/>
            <a:ext cx="2286000" cy="457200"/>
          </a:xfrm>
          <a:prstGeom prst="rect">
            <a:avLst/>
          </a:prstGeom>
          <a:noFill/>
        </p:spPr>
        <p:txBody>
          <a:bodyPr wrap="square">
            <a:spAutoFit/>
          </a:bodyPr>
          <a:lstStyle/>
          <a:p>
            <a:pPr algn="l"/>
            <a:r>
              <a:rPr sz="2000" b="1">
                <a:solidFill>
                  <a:srgbClr val="FFFFFF"/>
                </a:solidFill>
              </a:rPr>
              <a:t>STEPS</a:t>
            </a:r>
          </a:p>
        </p:txBody>
      </p:sp>
      <p:sp>
        <p:nvSpPr>
          <p:cNvPr id="18" name="TextBox 17"/>
          <p:cNvSpPr txBox="1"/>
          <p:nvPr/>
        </p:nvSpPr>
        <p:spPr>
          <a:xfrm>
            <a:off x="1920240" y="5760720"/>
            <a:ext cx="9144000" cy="457200"/>
          </a:xfrm>
          <a:prstGeom prst="rect">
            <a:avLst/>
          </a:prstGeom>
          <a:noFill/>
        </p:spPr>
        <p:txBody>
          <a:bodyPr wrap="square">
            <a:spAutoFit/>
          </a:bodyPr>
          <a:lstStyle/>
          <a:p>
            <a:pPr algn="l"/>
            <a:r>
              <a:rPr sz="1500" b="0">
                <a:solidFill>
                  <a:srgbClr val="CCCCCC"/>
                </a:solidFill>
              </a:rPr>
              <a:t>Can I describe each step clearly - no hand-waving?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4  -  WHERE THEY BREAK</a:t>
            </a:r>
          </a:p>
        </p:txBody>
      </p:sp>
      <p:sp>
        <p:nvSpPr>
          <p:cNvPr id="4" name="TextBox 3"/>
          <p:cNvSpPr txBox="1"/>
          <p:nvPr/>
        </p:nvSpPr>
        <p:spPr>
          <a:xfrm>
            <a:off x="548640" y="914400"/>
            <a:ext cx="11430000" cy="1097280"/>
          </a:xfrm>
          <a:prstGeom prst="rect">
            <a:avLst/>
          </a:prstGeom>
          <a:noFill/>
        </p:spPr>
        <p:txBody>
          <a:bodyPr wrap="square">
            <a:spAutoFit/>
          </a:bodyPr>
          <a:lstStyle/>
          <a:p>
            <a:pPr algn="l"/>
            <a:r>
              <a:rPr sz="2800" b="1">
                <a:solidFill>
                  <a:srgbClr val="FFFFFF"/>
                </a:solidFill>
              </a:rPr>
              <a:t>The Gap Between Vague and Precise Is Where the Mess Lives</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286000"/>
            <a:ext cx="11247120" cy="1371600"/>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423160"/>
            <a:ext cx="4572000" cy="365760"/>
          </a:xfrm>
          <a:prstGeom prst="rect">
            <a:avLst/>
          </a:prstGeom>
          <a:noFill/>
        </p:spPr>
        <p:txBody>
          <a:bodyPr wrap="square">
            <a:spAutoFit/>
          </a:bodyPr>
          <a:lstStyle/>
          <a:p>
            <a:pPr algn="l"/>
            <a:r>
              <a:rPr sz="1300" b="1">
                <a:solidFill>
                  <a:srgbClr val="FF8888"/>
                </a:solidFill>
              </a:rPr>
              <a:t>VAGUE</a:t>
            </a:r>
          </a:p>
        </p:txBody>
      </p:sp>
      <p:sp>
        <p:nvSpPr>
          <p:cNvPr id="8" name="TextBox 7"/>
          <p:cNvSpPr txBox="1"/>
          <p:nvPr/>
        </p:nvSpPr>
        <p:spPr>
          <a:xfrm>
            <a:off x="685800" y="2788920"/>
            <a:ext cx="10515600" cy="914400"/>
          </a:xfrm>
          <a:prstGeom prst="rect">
            <a:avLst/>
          </a:prstGeom>
          <a:noFill/>
        </p:spPr>
        <p:txBody>
          <a:bodyPr wrap="square">
            <a:spAutoFit/>
          </a:bodyPr>
          <a:lstStyle/>
          <a:p>
            <a:pPr algn="l"/>
            <a:r>
              <a:rPr sz="2000" b="0">
                <a:solidFill>
                  <a:srgbClr val="FFAAAA"/>
                </a:solidFill>
              </a:rPr>
              <a:t>"Summarize my emails every morning."</a:t>
            </a:r>
          </a:p>
        </p:txBody>
      </p:sp>
      <p:sp>
        <p:nvSpPr>
          <p:cNvPr id="9" name="Rectangle 8"/>
          <p:cNvSpPr/>
          <p:nvPr/>
        </p:nvSpPr>
        <p:spPr>
          <a:xfrm>
            <a:off x="457200" y="3931920"/>
            <a:ext cx="11247120" cy="2286000"/>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4069080"/>
            <a:ext cx="4572000" cy="365760"/>
          </a:xfrm>
          <a:prstGeom prst="rect">
            <a:avLst/>
          </a:prstGeom>
          <a:noFill/>
        </p:spPr>
        <p:txBody>
          <a:bodyPr wrap="square">
            <a:spAutoFit/>
          </a:bodyPr>
          <a:lstStyle/>
          <a:p>
            <a:pPr algn="l"/>
            <a:r>
              <a:rPr sz="1300" b="1">
                <a:solidFill>
                  <a:srgbClr val="88DD88"/>
                </a:solidFill>
              </a:rPr>
              <a:t>PRECISE</a:t>
            </a:r>
          </a:p>
        </p:txBody>
      </p:sp>
      <p:sp>
        <p:nvSpPr>
          <p:cNvPr id="11" name="TextBox 10"/>
          <p:cNvSpPr txBox="1"/>
          <p:nvPr/>
        </p:nvSpPr>
        <p:spPr>
          <a:xfrm>
            <a:off x="685800" y="4434840"/>
            <a:ext cx="10515600" cy="1828800"/>
          </a:xfrm>
          <a:prstGeom prst="rect">
            <a:avLst/>
          </a:prstGeom>
          <a:noFill/>
        </p:spPr>
        <p:txBody>
          <a:bodyPr wrap="square">
            <a:spAutoFit/>
          </a:bodyPr>
          <a:lstStyle/>
          <a:p>
            <a:pPr algn="l"/>
            <a:r>
              <a:rPr sz="1700" b="0">
                <a:solidFill>
                  <a:srgbClr val="AADDAA"/>
                </a:solidFill>
              </a:rPr>
              <a:t>"Every morning at 7am, read my unread emails, categorize them by urgency,
draft replies to routine messages, and flag anything from my top five customers."</a:t>
            </a:r>
          </a:p>
        </p:txBody>
      </p:sp>
      <p:sp>
        <p:nvSpPr>
          <p:cNvPr id="12" name="TextBox 11"/>
          <p:cNvSpPr txBox="1"/>
          <p:nvPr/>
        </p:nvSpPr>
        <p:spPr>
          <a:xfrm>
            <a:off x="548640" y="6400800"/>
            <a:ext cx="11430000" cy="365760"/>
          </a:xfrm>
          <a:prstGeom prst="rect">
            <a:avLst/>
          </a:prstGeom>
          <a:noFill/>
        </p:spPr>
        <p:txBody>
          <a:bodyPr wrap="square">
            <a:spAutoFit/>
          </a:bodyPr>
          <a:lstStyle/>
          <a:p>
            <a:pPr algn="l"/>
            <a:r>
              <a:rPr sz="1300" b="1">
                <a:solidFill>
                  <a:srgbClr val="D47A21"/>
                </a:solidFill>
              </a:rPr>
              <a:t>Winners aren't engineers. They're people who understand their work deeply enough to describe 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HANDS ON WITH CLAUDE CODE</a:t>
            </a:r>
          </a:p>
        </p:txBody>
      </p:sp>
      <p:sp>
        <p:nvSpPr>
          <p:cNvPr id="4" name="TextBox 3"/>
          <p:cNvSpPr txBox="1"/>
          <p:nvPr/>
        </p:nvSpPr>
        <p:spPr>
          <a:xfrm>
            <a:off x="548640" y="914400"/>
            <a:ext cx="11430000" cy="1097280"/>
          </a:xfrm>
          <a:prstGeom prst="rect">
            <a:avLst/>
          </a:prstGeom>
          <a:noFill/>
        </p:spPr>
        <p:txBody>
          <a:bodyPr wrap="square">
            <a:spAutoFit/>
          </a:bodyPr>
          <a:lstStyle/>
          <a:p>
            <a:pPr algn="l"/>
            <a:r>
              <a:rPr sz="3000" b="1">
                <a:solidFill>
                  <a:srgbClr val="FFFFFF"/>
                </a:solidFill>
              </a:rPr>
              <a:t>Claude Code Subagents - Agents You Can Actually Ship</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2286000"/>
            <a:ext cx="11064240" cy="14630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468880"/>
            <a:ext cx="10607040" cy="1188720"/>
          </a:xfrm>
          <a:prstGeom prst="rect">
            <a:avLst/>
          </a:prstGeom>
          <a:noFill/>
        </p:spPr>
        <p:txBody>
          <a:bodyPr wrap="square">
            <a:spAutoFit/>
          </a:bodyPr>
          <a:lstStyle/>
          <a:p>
            <a:pPr algn="l"/>
            <a:r>
              <a:rPr sz="1900" b="0">
                <a:solidFill>
                  <a:srgbClr val="FFFFFF"/>
                </a:solidFill>
              </a:rPr>
              <a:t>A subagent is a specialized assistant inside Claude Code -
its own context, its own tools, its own permissions.</a:t>
            </a:r>
          </a:p>
        </p:txBody>
      </p:sp>
      <p:sp>
        <p:nvSpPr>
          <p:cNvPr id="8" name="TextBox 7"/>
          <p:cNvSpPr txBox="1"/>
          <p:nvPr/>
        </p:nvSpPr>
        <p:spPr>
          <a:xfrm>
            <a:off x="548640" y="3977639"/>
            <a:ext cx="10972800" cy="2468880"/>
          </a:xfrm>
          <a:prstGeom prst="rect">
            <a:avLst/>
          </a:prstGeom>
          <a:noFill/>
        </p:spPr>
        <p:txBody>
          <a:bodyPr wrap="square">
            <a:spAutoFit/>
          </a:bodyPr>
          <a:lstStyle/>
          <a:p>
            <a:pPr algn="l">
              <a:spcAft>
                <a:spcPts val="1000"/>
              </a:spcAft>
            </a:pPr>
            <a:r>
              <a:rPr sz="1800">
                <a:solidFill>
                  <a:srgbClr val="CCCCCC"/>
                </a:solidFill>
              </a:rPr>
              <a:t>  Runs in its own context window - keeps noise out of your main chat.</a:t>
            </a:r>
          </a:p>
          <a:p>
            <a:pPr algn="l">
              <a:spcAft>
                <a:spcPts val="1000"/>
              </a:spcAft>
            </a:pPr>
            <a:r>
              <a:rPr sz="1800">
                <a:solidFill>
                  <a:srgbClr val="CCCCCC"/>
                </a:solidFill>
              </a:rPr>
              <a:t>  Has its own system prompt - specialized for one job.</a:t>
            </a:r>
          </a:p>
          <a:p>
            <a:pPr algn="l">
              <a:spcAft>
                <a:spcPts val="1000"/>
              </a:spcAft>
            </a:pPr>
            <a:r>
              <a:rPr sz="1800">
                <a:solidFill>
                  <a:srgbClr val="CCCCCC"/>
                </a:solidFill>
              </a:rPr>
              <a:t>  Has its own tool list - least-privilege by design.</a:t>
            </a:r>
          </a:p>
          <a:p>
            <a:pPr algn="l">
              <a:spcAft>
                <a:spcPts val="1000"/>
              </a:spcAft>
            </a:pPr>
            <a:r>
              <a:rPr sz="1800">
                <a:solidFill>
                  <a:srgbClr val="CCCCCC"/>
                </a:solidFill>
              </a:rPr>
              <a:t>  Returns only a summary. Verbose work stays isolated.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r>
              <a:rPr sz="1100" b="1">
                <a:solidFill>
                  <a:srgbClr val="D47A21"/>
                </a:solidFill>
              </a:rPr>
              <a:t>PART 5  -  HANDS ON WITH CLAUDE CODE</a:t>
            </a:r>
          </a:p>
        </p:txBody>
      </p:sp>
      <p:sp>
        <p:nvSpPr>
          <p:cNvPr id="4" name="TextBox 3"/>
          <p:cNvSpPr txBox="1"/>
          <p:nvPr/>
        </p:nvSpPr>
        <p:spPr>
          <a:xfrm>
            <a:off x="548640" y="914400"/>
            <a:ext cx="10972800" cy="1097280"/>
          </a:xfrm>
          <a:prstGeom prst="rect">
            <a:avLst/>
          </a:prstGeom>
          <a:noFill/>
        </p:spPr>
        <p:txBody>
          <a:bodyPr wrap="square">
            <a:spAutoFit/>
          </a:bodyPr>
          <a:lstStyle/>
          <a:p>
            <a:r>
              <a:rPr sz="3400" b="1">
                <a:solidFill>
                  <a:srgbClr val="FFFFFF"/>
                </a:solidFill>
              </a:rPr>
              <a:t>Skill vs Subagent - What's the Difference?</a:t>
            </a:r>
          </a:p>
        </p:txBody>
      </p:sp>
      <p:sp>
        <p:nvSpPr>
          <p:cNvPr id="5" name="Rectangle 4"/>
          <p:cNvSpPr/>
          <p:nvPr/>
        </p:nvSpPr>
        <p:spPr>
          <a:xfrm>
            <a:off x="548640" y="2011680"/>
            <a:ext cx="11064240" cy="19050"/>
          </a:xfrm>
          <a:prstGeom prst="rect">
            <a:avLst/>
          </a:prstGeom>
          <a:solidFill>
            <a:srgbClr val="D4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194560"/>
            <a:ext cx="10972800" cy="457200"/>
          </a:xfrm>
          <a:prstGeom prst="rect">
            <a:avLst/>
          </a:prstGeom>
          <a:noFill/>
        </p:spPr>
        <p:txBody>
          <a:bodyPr wrap="square">
            <a:spAutoFit/>
          </a:bodyPr>
          <a:lstStyle/>
          <a:p>
            <a:r>
              <a:rPr sz="1500" b="0">
                <a:solidFill>
                  <a:srgbClr val="CCCCCC"/>
                </a:solidFill>
              </a:rPr>
              <a:t>Think of it like a kitchen. A Skill is the recipe. A Subagent is the cook.</a:t>
            </a:r>
          </a:p>
        </p:txBody>
      </p:sp>
      <p:sp>
        <p:nvSpPr>
          <p:cNvPr id="7" name="Rectangle 6"/>
          <p:cNvSpPr/>
          <p:nvPr/>
        </p:nvSpPr>
        <p:spPr>
          <a:xfrm>
            <a:off x="457200" y="2788920"/>
            <a:ext cx="5577840" cy="3657600"/>
          </a:xfrm>
          <a:prstGeom prst="rect">
            <a:avLst/>
          </a:prstGeom>
          <a:solidFill>
            <a:srgbClr val="1E1E1E"/>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926080"/>
            <a:ext cx="5120640" cy="365760"/>
          </a:xfrm>
          <a:prstGeom prst="rect">
            <a:avLst/>
          </a:prstGeom>
          <a:noFill/>
        </p:spPr>
        <p:txBody>
          <a:bodyPr wrap="square">
            <a:spAutoFit/>
          </a:bodyPr>
          <a:lstStyle/>
          <a:p>
            <a:r>
              <a:rPr sz="1400" b="1">
                <a:solidFill>
                  <a:srgbClr val="888888"/>
                </a:solidFill>
              </a:rPr>
              <a:t>SKILL</a:t>
            </a:r>
          </a:p>
        </p:txBody>
      </p:sp>
      <p:sp>
        <p:nvSpPr>
          <p:cNvPr id="9" name="TextBox 8"/>
          <p:cNvSpPr txBox="1"/>
          <p:nvPr/>
        </p:nvSpPr>
        <p:spPr>
          <a:xfrm>
            <a:off x="685800" y="3337560"/>
            <a:ext cx="5120640" cy="548640"/>
          </a:xfrm>
          <a:prstGeom prst="rect">
            <a:avLst/>
          </a:prstGeom>
          <a:noFill/>
        </p:spPr>
        <p:txBody>
          <a:bodyPr wrap="square">
            <a:spAutoFit/>
          </a:bodyPr>
          <a:lstStyle/>
          <a:p>
            <a:r>
              <a:rPr sz="2000" b="1">
                <a:solidFill>
                  <a:srgbClr val="FFFFFF"/>
                </a:solidFill>
              </a:rPr>
              <a:t>The recipe.</a:t>
            </a:r>
          </a:p>
        </p:txBody>
      </p:sp>
      <p:sp>
        <p:nvSpPr>
          <p:cNvPr id="10" name="TextBox 9"/>
          <p:cNvSpPr txBox="1"/>
          <p:nvPr/>
        </p:nvSpPr>
        <p:spPr>
          <a:xfrm>
            <a:off x="594360" y="4023360"/>
            <a:ext cx="5303520" cy="2377440"/>
          </a:xfrm>
          <a:prstGeom prst="rect">
            <a:avLst/>
          </a:prstGeom>
          <a:noFill/>
        </p:spPr>
        <p:txBody>
          <a:bodyPr wrap="square">
            <a:spAutoFit/>
          </a:bodyPr>
          <a:lstStyle/>
          <a:p>
            <a:r>
              <a:rPr sz="1400">
                <a:solidFill>
                  <a:srgbClr val="CCCCCC"/>
                </a:solidFill>
              </a:rPr>
              <a:t>  Instructions Claude follows when the moment fits.</a:t>
            </a:r>
          </a:p>
          <a:p>
            <a:r>
              <a:rPr sz="1400">
                <a:solidFill>
                  <a:srgbClr val="CCCCCC"/>
                </a:solidFill>
              </a:rPr>
              <a:t>  You write it once. Reuse it every time.</a:t>
            </a:r>
          </a:p>
          <a:p>
            <a:r>
              <a:rPr sz="1400">
                <a:solidFill>
                  <a:srgbClr val="CCCCCC"/>
                </a:solidFill>
              </a:rPr>
              <a:t>  Lives in your project - the whole team gets it.</a:t>
            </a:r>
          </a:p>
          <a:p>
            <a:r>
              <a:rPr sz="1400">
                <a:solidFill>
                  <a:srgbClr val="CCCCCC"/>
                </a:solidFill>
              </a:rPr>
              <a:t>  Best for: playbooks, frameworks, checklists.</a:t>
            </a:r>
          </a:p>
          <a:p>
            <a:r>
              <a:rPr sz="1400">
                <a:solidFill>
                  <a:srgbClr val="CCCCCC"/>
                </a:solidFill>
              </a:rPr>
              <a:t>  Example: 'Write a PRD the way our team does.'</a:t>
            </a:r>
          </a:p>
        </p:txBody>
      </p:sp>
      <p:sp>
        <p:nvSpPr>
          <p:cNvPr id="11" name="Rectangle 10"/>
          <p:cNvSpPr/>
          <p:nvPr/>
        </p:nvSpPr>
        <p:spPr>
          <a:xfrm>
            <a:off x="6217920" y="2788920"/>
            <a:ext cx="5577840" cy="3657600"/>
          </a:xfrm>
          <a:prstGeom prst="rect">
            <a:avLst/>
          </a:prstGeom>
          <a:solidFill>
            <a:srgbClr val="1E1E1E"/>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2926080"/>
            <a:ext cx="5120640" cy="365760"/>
          </a:xfrm>
          <a:prstGeom prst="rect">
            <a:avLst/>
          </a:prstGeom>
          <a:noFill/>
        </p:spPr>
        <p:txBody>
          <a:bodyPr wrap="square">
            <a:spAutoFit/>
          </a:bodyPr>
          <a:lstStyle/>
          <a:p>
            <a:r>
              <a:rPr sz="1400" b="1">
                <a:solidFill>
                  <a:srgbClr val="D47A21"/>
                </a:solidFill>
              </a:rPr>
              <a:t>SUBAGENT</a:t>
            </a:r>
          </a:p>
        </p:txBody>
      </p:sp>
      <p:sp>
        <p:nvSpPr>
          <p:cNvPr id="13" name="TextBox 12"/>
          <p:cNvSpPr txBox="1"/>
          <p:nvPr/>
        </p:nvSpPr>
        <p:spPr>
          <a:xfrm>
            <a:off x="6446520" y="3337560"/>
            <a:ext cx="5120640" cy="548640"/>
          </a:xfrm>
          <a:prstGeom prst="rect">
            <a:avLst/>
          </a:prstGeom>
          <a:noFill/>
        </p:spPr>
        <p:txBody>
          <a:bodyPr wrap="square">
            <a:spAutoFit/>
          </a:bodyPr>
          <a:lstStyle/>
          <a:p>
            <a:r>
              <a:rPr sz="2000" b="1">
                <a:solidFill>
                  <a:srgbClr val="FFFFFF"/>
                </a:solidFill>
              </a:rPr>
              <a:t>The cook.</a:t>
            </a:r>
          </a:p>
        </p:txBody>
      </p:sp>
      <p:sp>
        <p:nvSpPr>
          <p:cNvPr id="14" name="TextBox 13"/>
          <p:cNvSpPr txBox="1"/>
          <p:nvPr/>
        </p:nvSpPr>
        <p:spPr>
          <a:xfrm>
            <a:off x="6355080" y="4023360"/>
            <a:ext cx="5394960" cy="2377440"/>
          </a:xfrm>
          <a:prstGeom prst="rect">
            <a:avLst/>
          </a:prstGeom>
          <a:noFill/>
        </p:spPr>
        <p:txBody>
          <a:bodyPr wrap="square">
            <a:spAutoFit/>
          </a:bodyPr>
          <a:lstStyle/>
          <a:p>
            <a:r>
              <a:rPr sz="1400">
                <a:solidFill>
                  <a:srgbClr val="CCCCCC"/>
                </a:solidFill>
              </a:rPr>
              <a:t>  A worker Claude sends off to do a job.</a:t>
            </a:r>
          </a:p>
          <a:p>
            <a:r>
              <a:rPr sz="1400">
                <a:solidFill>
                  <a:srgbClr val="CCCCCC"/>
                </a:solidFill>
              </a:rPr>
              <a:t>  Works in its own room - no mess in your chat.</a:t>
            </a:r>
          </a:p>
          <a:p>
            <a:r>
              <a:rPr sz="1400">
                <a:solidFill>
                  <a:srgbClr val="CCCCCC"/>
                </a:solidFill>
              </a:rPr>
              <a:t>  Comes back with just the answer.</a:t>
            </a:r>
          </a:p>
          <a:p>
            <a:r>
              <a:rPr sz="1400">
                <a:solidFill>
                  <a:srgbClr val="CCCCCC"/>
                </a:solidFill>
              </a:rPr>
              <a:t>  Best for: research, audits, deep file reading.</a:t>
            </a:r>
          </a:p>
          <a:p>
            <a:r>
              <a:rPr sz="1400">
                <a:solidFill>
                  <a:srgbClr val="CCCCCC"/>
                </a:solidFill>
              </a:rPr>
              <a:t>  Example: 'Read all 12 interviews. Tell me the top 3.'</a:t>
            </a:r>
          </a:p>
        </p:txBody>
      </p:sp>
      <p:sp>
        <p:nvSpPr>
          <p:cNvPr id="15" name="TextBox 14"/>
          <p:cNvSpPr txBox="1"/>
          <p:nvPr/>
        </p:nvSpPr>
        <p:spPr>
          <a:xfrm>
            <a:off x="548640" y="6553200"/>
            <a:ext cx="10972800" cy="411480"/>
          </a:xfrm>
          <a:prstGeom prst="rect">
            <a:avLst/>
          </a:prstGeom>
          <a:noFill/>
        </p:spPr>
        <p:txBody>
          <a:bodyPr wrap="square">
            <a:spAutoFit/>
          </a:bodyPr>
          <a:lstStyle/>
          <a:p>
            <a:r>
              <a:rPr sz="1300" b="1">
                <a:solidFill>
                  <a:srgbClr val="D47A21"/>
                </a:solidFill>
              </a:rPr>
              <a:t>You give Claude the recipe. Claude can either follow it itself, or hand it to a cook.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HANDS ON WITH CLAUDE CODE</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A Subagent Is Just a Markdown File</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286000"/>
            <a:ext cx="6126480" cy="4114800"/>
          </a:xfrm>
          <a:prstGeom prst="rect">
            <a:avLst/>
          </a:prstGeom>
          <a:noFill/>
        </p:spPr>
        <p:txBody>
          <a:bodyPr wrap="square">
            <a:spAutoFit/>
          </a:bodyPr>
          <a:lstStyle/>
          <a:p>
            <a:pPr algn="l">
              <a:spcAft>
                <a:spcPts val="1000"/>
              </a:spcAft>
            </a:pPr>
            <a:r>
              <a:rPr sz="1700">
                <a:solidFill>
                  <a:srgbClr val="CCCCCC"/>
                </a:solidFill>
              </a:rPr>
              <a:t>  YAML frontmatter at the top - name, description, tools, model.</a:t>
            </a:r>
          </a:p>
          <a:p>
            <a:pPr algn="l">
              <a:spcAft>
                <a:spcPts val="1000"/>
              </a:spcAft>
            </a:pPr>
            <a:r>
              <a:rPr sz="1700">
                <a:solidFill>
                  <a:srgbClr val="CCCCCC"/>
                </a:solidFill>
              </a:rPr>
              <a:t>  Markdown body becomes the system prompt.</a:t>
            </a:r>
          </a:p>
          <a:p>
            <a:pPr algn="l">
              <a:spcAft>
                <a:spcPts val="1000"/>
              </a:spcAft>
            </a:pPr>
            <a:r>
              <a:rPr sz="1700">
                <a:solidFill>
                  <a:srgbClr val="CCCCCC"/>
                </a:solidFill>
              </a:rPr>
              <a:t>  Only name and description are required.</a:t>
            </a:r>
          </a:p>
          <a:p>
            <a:pPr algn="l">
              <a:spcAft>
                <a:spcPts val="1000"/>
              </a:spcAft>
            </a:pPr>
            <a:r>
              <a:rPr sz="1700">
                <a:solidFill>
                  <a:srgbClr val="CCCCCC"/>
                </a:solidFill>
              </a:rPr>
              <a:t>  Store in .claude/agents/ (project) or ~/.claude/agents/ (you).</a:t>
            </a:r>
          </a:p>
          <a:p>
            <a:pPr algn="l">
              <a:spcAft>
                <a:spcPts val="1000"/>
              </a:spcAft>
            </a:pPr>
            <a:r>
              <a:rPr sz="1700">
                <a:solidFill>
                  <a:srgbClr val="CCCCCC"/>
                </a:solidFill>
              </a:rPr>
              <a:t>  Use /agents in Claude Code to create one interactively.</a:t>
            </a:r>
          </a:p>
        </p:txBody>
      </p:sp>
      <p:sp>
        <p:nvSpPr>
          <p:cNvPr id="7" name="Rectangle 6"/>
          <p:cNvSpPr/>
          <p:nvPr/>
        </p:nvSpPr>
        <p:spPr>
          <a:xfrm>
            <a:off x="7040880" y="2194560"/>
            <a:ext cx="4754880" cy="429768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78040" y="2331720"/>
            <a:ext cx="4480560" cy="4023360"/>
          </a:xfrm>
          <a:prstGeom prst="rect">
            <a:avLst/>
          </a:prstGeom>
          <a:noFill/>
        </p:spPr>
        <p:txBody>
          <a:bodyPr wrap="square">
            <a:spAutoFit/>
          </a:bodyPr>
          <a:lstStyle/>
          <a:p>
            <a:pPr algn="l"/>
            <a:r>
              <a:rPr sz="1300" b="0">
                <a:solidFill>
                  <a:srgbClr val="D47A21"/>
                </a:solidFill>
              </a:rPr>
              <a:t>---
name: code-reviewer
description: Expert code
  reviewer. Use proactively
  after code changes.
tools: Read, Grep, Glob, Bash
model: sonnet
memory: project
---
You are a senior code
reviewer. Focus on quality,
security, and best practices.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HANDS ON WITH CLAUDE CODE</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Three Subagents Are Built In</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2286000"/>
            <a:ext cx="3611880" cy="40233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2514600"/>
            <a:ext cx="3337560" cy="640080"/>
          </a:xfrm>
          <a:prstGeom prst="rect">
            <a:avLst/>
          </a:prstGeom>
          <a:noFill/>
        </p:spPr>
        <p:txBody>
          <a:bodyPr wrap="square">
            <a:spAutoFit/>
          </a:bodyPr>
          <a:lstStyle/>
          <a:p>
            <a:pPr algn="l"/>
            <a:r>
              <a:rPr sz="2200" b="1">
                <a:solidFill>
                  <a:srgbClr val="FFFFFF"/>
                </a:solidFill>
              </a:rPr>
              <a:t>Explore</a:t>
            </a:r>
          </a:p>
        </p:txBody>
      </p:sp>
      <p:sp>
        <p:nvSpPr>
          <p:cNvPr id="8" name="TextBox 7"/>
          <p:cNvSpPr txBox="1"/>
          <p:nvPr/>
        </p:nvSpPr>
        <p:spPr>
          <a:xfrm>
            <a:off x="548640" y="3246120"/>
            <a:ext cx="3337560" cy="411480"/>
          </a:xfrm>
          <a:prstGeom prst="rect">
            <a:avLst/>
          </a:prstGeom>
          <a:noFill/>
        </p:spPr>
        <p:txBody>
          <a:bodyPr wrap="square">
            <a:spAutoFit/>
          </a:bodyPr>
          <a:lstStyle/>
          <a:p>
            <a:pPr algn="l"/>
            <a:r>
              <a:rPr sz="1300" b="0">
                <a:solidFill>
                  <a:srgbClr val="D47A21"/>
                </a:solidFill>
              </a:rPr>
              <a:t>Model: Haiku</a:t>
            </a:r>
          </a:p>
        </p:txBody>
      </p:sp>
      <p:sp>
        <p:nvSpPr>
          <p:cNvPr id="9" name="TextBox 8"/>
          <p:cNvSpPr txBox="1"/>
          <p:nvPr/>
        </p:nvSpPr>
        <p:spPr>
          <a:xfrm>
            <a:off x="548640" y="3657600"/>
            <a:ext cx="3337560" cy="411480"/>
          </a:xfrm>
          <a:prstGeom prst="rect">
            <a:avLst/>
          </a:prstGeom>
          <a:noFill/>
        </p:spPr>
        <p:txBody>
          <a:bodyPr wrap="square">
            <a:spAutoFit/>
          </a:bodyPr>
          <a:lstStyle/>
          <a:p>
            <a:pPr algn="l"/>
            <a:r>
              <a:rPr sz="1300" b="0">
                <a:solidFill>
                  <a:srgbClr val="D47A21"/>
                </a:solidFill>
              </a:rPr>
              <a:t>Tools: Read-only.</a:t>
            </a:r>
          </a:p>
        </p:txBody>
      </p:sp>
      <p:sp>
        <p:nvSpPr>
          <p:cNvPr id="10" name="TextBox 9"/>
          <p:cNvSpPr txBox="1"/>
          <p:nvPr/>
        </p:nvSpPr>
        <p:spPr>
          <a:xfrm>
            <a:off x="548640" y="4297680"/>
            <a:ext cx="3337560" cy="1828800"/>
          </a:xfrm>
          <a:prstGeom prst="rect">
            <a:avLst/>
          </a:prstGeom>
          <a:noFill/>
        </p:spPr>
        <p:txBody>
          <a:bodyPr wrap="square">
            <a:spAutoFit/>
          </a:bodyPr>
          <a:lstStyle/>
          <a:p>
            <a:pPr algn="l"/>
            <a:r>
              <a:rPr sz="1400" b="0">
                <a:solidFill>
                  <a:srgbClr val="CCCCCC"/>
                </a:solidFill>
              </a:rPr>
              <a:t>Fast codebase search. Quick / medium / very thorough.</a:t>
            </a:r>
          </a:p>
        </p:txBody>
      </p:sp>
      <p:sp>
        <p:nvSpPr>
          <p:cNvPr id="11" name="Rectangle 10"/>
          <p:cNvSpPr/>
          <p:nvPr/>
        </p:nvSpPr>
        <p:spPr>
          <a:xfrm>
            <a:off x="4160520" y="2286000"/>
            <a:ext cx="3611880" cy="40233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43400" y="2514600"/>
            <a:ext cx="3337560" cy="640080"/>
          </a:xfrm>
          <a:prstGeom prst="rect">
            <a:avLst/>
          </a:prstGeom>
          <a:noFill/>
        </p:spPr>
        <p:txBody>
          <a:bodyPr wrap="square">
            <a:spAutoFit/>
          </a:bodyPr>
          <a:lstStyle/>
          <a:p>
            <a:pPr algn="l"/>
            <a:r>
              <a:rPr sz="2200" b="1">
                <a:solidFill>
                  <a:srgbClr val="FFFFFF"/>
                </a:solidFill>
              </a:rPr>
              <a:t>Plan</a:t>
            </a:r>
          </a:p>
        </p:txBody>
      </p:sp>
      <p:sp>
        <p:nvSpPr>
          <p:cNvPr id="13" name="TextBox 12"/>
          <p:cNvSpPr txBox="1"/>
          <p:nvPr/>
        </p:nvSpPr>
        <p:spPr>
          <a:xfrm>
            <a:off x="4343400" y="3246120"/>
            <a:ext cx="3337560" cy="411480"/>
          </a:xfrm>
          <a:prstGeom prst="rect">
            <a:avLst/>
          </a:prstGeom>
          <a:noFill/>
        </p:spPr>
        <p:txBody>
          <a:bodyPr wrap="square">
            <a:spAutoFit/>
          </a:bodyPr>
          <a:lstStyle/>
          <a:p>
            <a:pPr algn="l"/>
            <a:r>
              <a:rPr sz="1300" b="0">
                <a:solidFill>
                  <a:srgbClr val="D47A21"/>
                </a:solidFill>
              </a:rPr>
              <a:t>Model: Inherits</a:t>
            </a:r>
          </a:p>
        </p:txBody>
      </p:sp>
      <p:sp>
        <p:nvSpPr>
          <p:cNvPr id="14" name="TextBox 13"/>
          <p:cNvSpPr txBox="1"/>
          <p:nvPr/>
        </p:nvSpPr>
        <p:spPr>
          <a:xfrm>
            <a:off x="4343400" y="3657600"/>
            <a:ext cx="3337560" cy="411480"/>
          </a:xfrm>
          <a:prstGeom prst="rect">
            <a:avLst/>
          </a:prstGeom>
          <a:noFill/>
        </p:spPr>
        <p:txBody>
          <a:bodyPr wrap="square">
            <a:spAutoFit/>
          </a:bodyPr>
          <a:lstStyle/>
          <a:p>
            <a:pPr algn="l"/>
            <a:r>
              <a:rPr sz="1300" b="0">
                <a:solidFill>
                  <a:srgbClr val="D47A21"/>
                </a:solidFill>
              </a:rPr>
              <a:t>Tools: Read-only.</a:t>
            </a:r>
          </a:p>
        </p:txBody>
      </p:sp>
      <p:sp>
        <p:nvSpPr>
          <p:cNvPr id="15" name="TextBox 14"/>
          <p:cNvSpPr txBox="1"/>
          <p:nvPr/>
        </p:nvSpPr>
        <p:spPr>
          <a:xfrm>
            <a:off x="4343400" y="4297680"/>
            <a:ext cx="3337560" cy="1828800"/>
          </a:xfrm>
          <a:prstGeom prst="rect">
            <a:avLst/>
          </a:prstGeom>
          <a:noFill/>
        </p:spPr>
        <p:txBody>
          <a:bodyPr wrap="square">
            <a:spAutoFit/>
          </a:bodyPr>
          <a:lstStyle/>
          <a:p>
            <a:pPr algn="l"/>
            <a:r>
              <a:rPr sz="1400" b="0">
                <a:solidFill>
                  <a:srgbClr val="CCCCCC"/>
                </a:solidFill>
              </a:rPr>
              <a:t>Used by Plan mode to research before showing a plan.</a:t>
            </a:r>
          </a:p>
        </p:txBody>
      </p:sp>
      <p:sp>
        <p:nvSpPr>
          <p:cNvPr id="16" name="Rectangle 15"/>
          <p:cNvSpPr/>
          <p:nvPr/>
        </p:nvSpPr>
        <p:spPr>
          <a:xfrm>
            <a:off x="7955280" y="2286000"/>
            <a:ext cx="3611880" cy="40233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38160" y="2514600"/>
            <a:ext cx="3337560" cy="640080"/>
          </a:xfrm>
          <a:prstGeom prst="rect">
            <a:avLst/>
          </a:prstGeom>
          <a:noFill/>
        </p:spPr>
        <p:txBody>
          <a:bodyPr wrap="square">
            <a:spAutoFit/>
          </a:bodyPr>
          <a:lstStyle/>
          <a:p>
            <a:pPr algn="l"/>
            <a:r>
              <a:rPr sz="2200" b="1">
                <a:solidFill>
                  <a:srgbClr val="FFFFFF"/>
                </a:solidFill>
              </a:rPr>
              <a:t>General-Purpose</a:t>
            </a:r>
          </a:p>
        </p:txBody>
      </p:sp>
      <p:sp>
        <p:nvSpPr>
          <p:cNvPr id="18" name="TextBox 17"/>
          <p:cNvSpPr txBox="1"/>
          <p:nvPr/>
        </p:nvSpPr>
        <p:spPr>
          <a:xfrm>
            <a:off x="8138160" y="3246120"/>
            <a:ext cx="3337560" cy="411480"/>
          </a:xfrm>
          <a:prstGeom prst="rect">
            <a:avLst/>
          </a:prstGeom>
          <a:noFill/>
        </p:spPr>
        <p:txBody>
          <a:bodyPr wrap="square">
            <a:spAutoFit/>
          </a:bodyPr>
          <a:lstStyle/>
          <a:p>
            <a:pPr algn="l"/>
            <a:r>
              <a:rPr sz="1300" b="0">
                <a:solidFill>
                  <a:srgbClr val="D47A21"/>
                </a:solidFill>
              </a:rPr>
              <a:t>Model: Inherits</a:t>
            </a:r>
          </a:p>
        </p:txBody>
      </p:sp>
      <p:sp>
        <p:nvSpPr>
          <p:cNvPr id="19" name="TextBox 18"/>
          <p:cNvSpPr txBox="1"/>
          <p:nvPr/>
        </p:nvSpPr>
        <p:spPr>
          <a:xfrm>
            <a:off x="8138160" y="3657600"/>
            <a:ext cx="3337560" cy="411480"/>
          </a:xfrm>
          <a:prstGeom prst="rect">
            <a:avLst/>
          </a:prstGeom>
          <a:noFill/>
        </p:spPr>
        <p:txBody>
          <a:bodyPr wrap="square">
            <a:spAutoFit/>
          </a:bodyPr>
          <a:lstStyle/>
          <a:p>
            <a:pPr algn="l"/>
            <a:r>
              <a:rPr sz="1300" b="0">
                <a:solidFill>
                  <a:srgbClr val="D47A21"/>
                </a:solidFill>
              </a:rPr>
              <a:t>Tools: All tools.</a:t>
            </a:r>
          </a:p>
        </p:txBody>
      </p:sp>
      <p:sp>
        <p:nvSpPr>
          <p:cNvPr id="20" name="TextBox 19"/>
          <p:cNvSpPr txBox="1"/>
          <p:nvPr/>
        </p:nvSpPr>
        <p:spPr>
          <a:xfrm>
            <a:off x="8138160" y="4297680"/>
            <a:ext cx="3337560" cy="1828800"/>
          </a:xfrm>
          <a:prstGeom prst="rect">
            <a:avLst/>
          </a:prstGeom>
          <a:noFill/>
        </p:spPr>
        <p:txBody>
          <a:bodyPr wrap="square">
            <a:spAutoFit/>
          </a:bodyPr>
          <a:lstStyle/>
          <a:p>
            <a:pPr algn="l"/>
            <a:r>
              <a:rPr sz="1400" b="0">
                <a:solidFill>
                  <a:srgbClr val="CCCCCC"/>
                </a:solidFill>
              </a:rPr>
              <a:t>Complex multi-step work that mixes research and changes.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HANDS ON WITH CLAUDE CODE</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Three Patterns You'll Use Every Day</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2240280"/>
            <a:ext cx="3611880" cy="393192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2423160"/>
            <a:ext cx="3337560" cy="457200"/>
          </a:xfrm>
          <a:prstGeom prst="rect">
            <a:avLst/>
          </a:prstGeom>
          <a:noFill/>
        </p:spPr>
        <p:txBody>
          <a:bodyPr wrap="square">
            <a:spAutoFit/>
          </a:bodyPr>
          <a:lstStyle/>
          <a:p>
            <a:pPr algn="l"/>
            <a:r>
              <a:rPr sz="1400" b="1">
                <a:solidFill>
                  <a:srgbClr val="D47A21"/>
                </a:solidFill>
              </a:rPr>
              <a:t>01</a:t>
            </a:r>
          </a:p>
        </p:txBody>
      </p:sp>
      <p:sp>
        <p:nvSpPr>
          <p:cNvPr id="8" name="TextBox 7"/>
          <p:cNvSpPr txBox="1"/>
          <p:nvPr/>
        </p:nvSpPr>
        <p:spPr>
          <a:xfrm>
            <a:off x="548640" y="2880360"/>
            <a:ext cx="3337560" cy="640080"/>
          </a:xfrm>
          <a:prstGeom prst="rect">
            <a:avLst/>
          </a:prstGeom>
          <a:noFill/>
        </p:spPr>
        <p:txBody>
          <a:bodyPr wrap="square">
            <a:spAutoFit/>
          </a:bodyPr>
          <a:lstStyle/>
          <a:p>
            <a:pPr algn="l"/>
            <a:r>
              <a:rPr sz="2000" b="1">
                <a:solidFill>
                  <a:srgbClr val="FFFFFF"/>
                </a:solidFill>
              </a:rPr>
              <a:t>Isolate noise</a:t>
            </a:r>
          </a:p>
        </p:txBody>
      </p:sp>
      <p:sp>
        <p:nvSpPr>
          <p:cNvPr id="9" name="TextBox 8"/>
          <p:cNvSpPr txBox="1"/>
          <p:nvPr/>
        </p:nvSpPr>
        <p:spPr>
          <a:xfrm>
            <a:off x="548640" y="3749040"/>
            <a:ext cx="3337560" cy="2194560"/>
          </a:xfrm>
          <a:prstGeom prst="rect">
            <a:avLst/>
          </a:prstGeom>
          <a:noFill/>
        </p:spPr>
        <p:txBody>
          <a:bodyPr wrap="square">
            <a:spAutoFit/>
          </a:bodyPr>
          <a:lstStyle/>
          <a:p>
            <a:pPr algn="l"/>
            <a:r>
              <a:rPr sz="1500" b="0">
                <a:solidFill>
                  <a:srgbClr val="CCCCCC"/>
                </a:solidFill>
              </a:rPr>
              <a:t>Run tests, fetch big docs, or scan logs in a subagent.
Only the summary returns to the main thread.</a:t>
            </a:r>
          </a:p>
        </p:txBody>
      </p:sp>
      <p:sp>
        <p:nvSpPr>
          <p:cNvPr id="10" name="Rectangle 9"/>
          <p:cNvSpPr/>
          <p:nvPr/>
        </p:nvSpPr>
        <p:spPr>
          <a:xfrm>
            <a:off x="4160520" y="2240280"/>
            <a:ext cx="3611880" cy="393192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43400" y="2423160"/>
            <a:ext cx="3337560" cy="457200"/>
          </a:xfrm>
          <a:prstGeom prst="rect">
            <a:avLst/>
          </a:prstGeom>
          <a:noFill/>
        </p:spPr>
        <p:txBody>
          <a:bodyPr wrap="square">
            <a:spAutoFit/>
          </a:bodyPr>
          <a:lstStyle/>
          <a:p>
            <a:pPr algn="l"/>
            <a:r>
              <a:rPr sz="1400" b="1">
                <a:solidFill>
                  <a:srgbClr val="D47A21"/>
                </a:solidFill>
              </a:rPr>
              <a:t>02</a:t>
            </a:r>
          </a:p>
        </p:txBody>
      </p:sp>
      <p:sp>
        <p:nvSpPr>
          <p:cNvPr id="12" name="TextBox 11"/>
          <p:cNvSpPr txBox="1"/>
          <p:nvPr/>
        </p:nvSpPr>
        <p:spPr>
          <a:xfrm>
            <a:off x="4343400" y="2880360"/>
            <a:ext cx="3337560" cy="640080"/>
          </a:xfrm>
          <a:prstGeom prst="rect">
            <a:avLst/>
          </a:prstGeom>
          <a:noFill/>
        </p:spPr>
        <p:txBody>
          <a:bodyPr wrap="square">
            <a:spAutoFit/>
          </a:bodyPr>
          <a:lstStyle/>
          <a:p>
            <a:pPr algn="l"/>
            <a:r>
              <a:rPr sz="2000" b="1">
                <a:solidFill>
                  <a:srgbClr val="FFFFFF"/>
                </a:solidFill>
              </a:rPr>
              <a:t>Parallel research</a:t>
            </a:r>
          </a:p>
        </p:txBody>
      </p:sp>
      <p:sp>
        <p:nvSpPr>
          <p:cNvPr id="13" name="TextBox 12"/>
          <p:cNvSpPr txBox="1"/>
          <p:nvPr/>
        </p:nvSpPr>
        <p:spPr>
          <a:xfrm>
            <a:off x="4343400" y="3749040"/>
            <a:ext cx="3337560" cy="2194560"/>
          </a:xfrm>
          <a:prstGeom prst="rect">
            <a:avLst/>
          </a:prstGeom>
          <a:noFill/>
        </p:spPr>
        <p:txBody>
          <a:bodyPr wrap="square">
            <a:spAutoFit/>
          </a:bodyPr>
          <a:lstStyle/>
          <a:p>
            <a:pPr algn="l"/>
            <a:r>
              <a:rPr sz="1500" b="0">
                <a:solidFill>
                  <a:srgbClr val="CCCCCC"/>
                </a:solidFill>
              </a:rPr>
              <a:t>Spawn subagents to explore auth, DB, and API at once.
Claude synthesizes the findings.</a:t>
            </a:r>
          </a:p>
        </p:txBody>
      </p:sp>
      <p:sp>
        <p:nvSpPr>
          <p:cNvPr id="14" name="Rectangle 13"/>
          <p:cNvSpPr/>
          <p:nvPr/>
        </p:nvSpPr>
        <p:spPr>
          <a:xfrm>
            <a:off x="7955280" y="2240280"/>
            <a:ext cx="3611880" cy="393192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38160" y="2423160"/>
            <a:ext cx="3337560" cy="457200"/>
          </a:xfrm>
          <a:prstGeom prst="rect">
            <a:avLst/>
          </a:prstGeom>
          <a:noFill/>
        </p:spPr>
        <p:txBody>
          <a:bodyPr wrap="square">
            <a:spAutoFit/>
          </a:bodyPr>
          <a:lstStyle/>
          <a:p>
            <a:pPr algn="l"/>
            <a:r>
              <a:rPr sz="1400" b="1">
                <a:solidFill>
                  <a:srgbClr val="D47A21"/>
                </a:solidFill>
              </a:rPr>
              <a:t>03</a:t>
            </a:r>
          </a:p>
        </p:txBody>
      </p:sp>
      <p:sp>
        <p:nvSpPr>
          <p:cNvPr id="16" name="TextBox 15"/>
          <p:cNvSpPr txBox="1"/>
          <p:nvPr/>
        </p:nvSpPr>
        <p:spPr>
          <a:xfrm>
            <a:off x="8138160" y="2880360"/>
            <a:ext cx="3337560" cy="640080"/>
          </a:xfrm>
          <a:prstGeom prst="rect">
            <a:avLst/>
          </a:prstGeom>
          <a:noFill/>
        </p:spPr>
        <p:txBody>
          <a:bodyPr wrap="square">
            <a:spAutoFit/>
          </a:bodyPr>
          <a:lstStyle/>
          <a:p>
            <a:pPr algn="l"/>
            <a:r>
              <a:rPr sz="2000" b="1">
                <a:solidFill>
                  <a:srgbClr val="FFFFFF"/>
                </a:solidFill>
              </a:rPr>
              <a:t>Chain steps</a:t>
            </a:r>
          </a:p>
        </p:txBody>
      </p:sp>
      <p:sp>
        <p:nvSpPr>
          <p:cNvPr id="17" name="TextBox 16"/>
          <p:cNvSpPr txBox="1"/>
          <p:nvPr/>
        </p:nvSpPr>
        <p:spPr>
          <a:xfrm>
            <a:off x="8138160" y="3749040"/>
            <a:ext cx="3337560" cy="2194560"/>
          </a:xfrm>
          <a:prstGeom prst="rect">
            <a:avLst/>
          </a:prstGeom>
          <a:noFill/>
        </p:spPr>
        <p:txBody>
          <a:bodyPr wrap="square">
            <a:spAutoFit/>
          </a:bodyPr>
          <a:lstStyle/>
          <a:p>
            <a:pPr algn="l"/>
            <a:r>
              <a:rPr sz="1500" b="0">
                <a:solidFill>
                  <a:srgbClr val="CCCCCC"/>
                </a:solidFill>
              </a:rPr>
              <a:t>code-reviewer finds issues - optimizer fixes them.
One agent's output feeds the next.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6  -  YOUR MOVE</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4200" b="1">
                <a:solidFill>
                  <a:srgbClr val="FFFFFF"/>
                </a:solidFill>
              </a:rPr>
              <a:t>Your Move This Week</a:t>
            </a:r>
          </a:p>
        </p:txBody>
      </p:sp>
      <p:sp>
        <p:nvSpPr>
          <p:cNvPr id="5" name="Rectangle 4"/>
          <p:cNvSpPr/>
          <p:nvPr/>
        </p:nvSpPr>
        <p:spPr>
          <a:xfrm>
            <a:off x="548640" y="210312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423160"/>
            <a:ext cx="502920" cy="54864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5488" y="2441448"/>
            <a:ext cx="457200" cy="548640"/>
          </a:xfrm>
          <a:prstGeom prst="rect">
            <a:avLst/>
          </a:prstGeom>
          <a:noFill/>
        </p:spPr>
        <p:txBody>
          <a:bodyPr wrap="square">
            <a:spAutoFit/>
          </a:bodyPr>
          <a:lstStyle/>
          <a:p>
            <a:pPr algn="ctr"/>
            <a:r>
              <a:rPr sz="1800" b="1">
                <a:solidFill>
                  <a:srgbClr val="0D0D0D"/>
                </a:solidFill>
              </a:rPr>
              <a:t>1</a:t>
            </a:r>
          </a:p>
        </p:txBody>
      </p:sp>
      <p:sp>
        <p:nvSpPr>
          <p:cNvPr id="8" name="TextBox 7"/>
          <p:cNvSpPr txBox="1"/>
          <p:nvPr/>
        </p:nvSpPr>
        <p:spPr>
          <a:xfrm>
            <a:off x="1097280" y="2514600"/>
            <a:ext cx="10515600" cy="548640"/>
          </a:xfrm>
          <a:prstGeom prst="rect">
            <a:avLst/>
          </a:prstGeom>
          <a:noFill/>
        </p:spPr>
        <p:txBody>
          <a:bodyPr wrap="square">
            <a:spAutoFit/>
          </a:bodyPr>
          <a:lstStyle/>
          <a:p>
            <a:pPr algn="l"/>
            <a:r>
              <a:rPr sz="1700" b="0">
                <a:solidFill>
                  <a:srgbClr val="FFFFFF"/>
                </a:solidFill>
              </a:rPr>
              <a:t>Pick one repeatable task you do every week. Make it boring on purpose.</a:t>
            </a:r>
          </a:p>
        </p:txBody>
      </p:sp>
      <p:sp>
        <p:nvSpPr>
          <p:cNvPr id="9" name="Rectangle 8"/>
          <p:cNvSpPr/>
          <p:nvPr/>
        </p:nvSpPr>
        <p:spPr>
          <a:xfrm>
            <a:off x="457200" y="3172968"/>
            <a:ext cx="502920" cy="54864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5488" y="3191256"/>
            <a:ext cx="457200" cy="548640"/>
          </a:xfrm>
          <a:prstGeom prst="rect">
            <a:avLst/>
          </a:prstGeom>
          <a:noFill/>
        </p:spPr>
        <p:txBody>
          <a:bodyPr wrap="square">
            <a:spAutoFit/>
          </a:bodyPr>
          <a:lstStyle/>
          <a:p>
            <a:pPr algn="ctr"/>
            <a:r>
              <a:rPr sz="1800" b="1">
                <a:solidFill>
                  <a:srgbClr val="0D0D0D"/>
                </a:solidFill>
              </a:rPr>
              <a:t>2</a:t>
            </a:r>
          </a:p>
        </p:txBody>
      </p:sp>
      <p:sp>
        <p:nvSpPr>
          <p:cNvPr id="11" name="TextBox 10"/>
          <p:cNvSpPr txBox="1"/>
          <p:nvPr/>
        </p:nvSpPr>
        <p:spPr>
          <a:xfrm>
            <a:off x="1097280" y="3264408"/>
            <a:ext cx="10515600" cy="548640"/>
          </a:xfrm>
          <a:prstGeom prst="rect">
            <a:avLst/>
          </a:prstGeom>
          <a:noFill/>
        </p:spPr>
        <p:txBody>
          <a:bodyPr wrap="square">
            <a:spAutoFit/>
          </a:bodyPr>
          <a:lstStyle/>
          <a:p>
            <a:pPr algn="l"/>
            <a:r>
              <a:rPr sz="1700" b="0">
                <a:solidFill>
                  <a:srgbClr val="FFFFFF"/>
                </a:solidFill>
              </a:rPr>
              <a:t>Run the GPS check - Goal, Proof, Steps. Write it down.</a:t>
            </a:r>
          </a:p>
        </p:txBody>
      </p:sp>
      <p:sp>
        <p:nvSpPr>
          <p:cNvPr id="12" name="Rectangle 11"/>
          <p:cNvSpPr/>
          <p:nvPr/>
        </p:nvSpPr>
        <p:spPr>
          <a:xfrm>
            <a:off x="457200" y="3922776"/>
            <a:ext cx="502920" cy="54864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5488" y="3941064"/>
            <a:ext cx="457200" cy="548640"/>
          </a:xfrm>
          <a:prstGeom prst="rect">
            <a:avLst/>
          </a:prstGeom>
          <a:noFill/>
        </p:spPr>
        <p:txBody>
          <a:bodyPr wrap="square">
            <a:spAutoFit/>
          </a:bodyPr>
          <a:lstStyle/>
          <a:p>
            <a:pPr algn="ctr"/>
            <a:r>
              <a:rPr sz="1800" b="1">
                <a:solidFill>
                  <a:srgbClr val="0D0D0D"/>
                </a:solidFill>
              </a:rPr>
              <a:t>3</a:t>
            </a:r>
          </a:p>
        </p:txBody>
      </p:sp>
      <p:sp>
        <p:nvSpPr>
          <p:cNvPr id="14" name="TextBox 13"/>
          <p:cNvSpPr txBox="1"/>
          <p:nvPr/>
        </p:nvSpPr>
        <p:spPr>
          <a:xfrm>
            <a:off x="1097280" y="4014216"/>
            <a:ext cx="10515600" cy="548640"/>
          </a:xfrm>
          <a:prstGeom prst="rect">
            <a:avLst/>
          </a:prstGeom>
          <a:noFill/>
        </p:spPr>
        <p:txBody>
          <a:bodyPr wrap="square">
            <a:spAutoFit/>
          </a:bodyPr>
          <a:lstStyle/>
          <a:p>
            <a:pPr algn="l"/>
            <a:r>
              <a:rPr sz="1700" b="0">
                <a:solidFill>
                  <a:srgbClr val="FFFFFF"/>
                </a:solidFill>
              </a:rPr>
              <a:t>Apply the ARR test - Autonomous, Recurring, Reviewable. If yes, go.</a:t>
            </a:r>
          </a:p>
        </p:txBody>
      </p:sp>
      <p:sp>
        <p:nvSpPr>
          <p:cNvPr id="15" name="Rectangle 14"/>
          <p:cNvSpPr/>
          <p:nvPr/>
        </p:nvSpPr>
        <p:spPr>
          <a:xfrm>
            <a:off x="457200" y="4672584"/>
            <a:ext cx="502920" cy="54864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5488" y="4690872"/>
            <a:ext cx="457200" cy="548640"/>
          </a:xfrm>
          <a:prstGeom prst="rect">
            <a:avLst/>
          </a:prstGeom>
          <a:noFill/>
        </p:spPr>
        <p:txBody>
          <a:bodyPr wrap="square">
            <a:spAutoFit/>
          </a:bodyPr>
          <a:lstStyle/>
          <a:p>
            <a:pPr algn="ctr"/>
            <a:r>
              <a:rPr sz="1800" b="1">
                <a:solidFill>
                  <a:srgbClr val="0D0D0D"/>
                </a:solidFill>
              </a:rPr>
              <a:t>4</a:t>
            </a:r>
          </a:p>
        </p:txBody>
      </p:sp>
      <p:sp>
        <p:nvSpPr>
          <p:cNvPr id="17" name="TextBox 16"/>
          <p:cNvSpPr txBox="1"/>
          <p:nvPr/>
        </p:nvSpPr>
        <p:spPr>
          <a:xfrm>
            <a:off x="1097280" y="4764024"/>
            <a:ext cx="10515600" cy="548640"/>
          </a:xfrm>
          <a:prstGeom prst="rect">
            <a:avLst/>
          </a:prstGeom>
          <a:noFill/>
        </p:spPr>
        <p:txBody>
          <a:bodyPr wrap="square">
            <a:spAutoFit/>
          </a:bodyPr>
          <a:lstStyle/>
          <a:p>
            <a:pPr algn="l"/>
            <a:r>
              <a:rPr sz="1700" b="0">
                <a:solidFill>
                  <a:srgbClr val="FFFFFF"/>
                </a:solidFill>
              </a:rPr>
              <a:t>Open Claude Code - /agents - Generate with Claude. Describe the job.</a:t>
            </a:r>
          </a:p>
        </p:txBody>
      </p:sp>
      <p:sp>
        <p:nvSpPr>
          <p:cNvPr id="18" name="Rectangle 17"/>
          <p:cNvSpPr/>
          <p:nvPr/>
        </p:nvSpPr>
        <p:spPr>
          <a:xfrm>
            <a:off x="457200" y="5422392"/>
            <a:ext cx="502920" cy="54864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5488" y="5440680"/>
            <a:ext cx="457200" cy="548640"/>
          </a:xfrm>
          <a:prstGeom prst="rect">
            <a:avLst/>
          </a:prstGeom>
          <a:noFill/>
        </p:spPr>
        <p:txBody>
          <a:bodyPr wrap="square">
            <a:spAutoFit/>
          </a:bodyPr>
          <a:lstStyle/>
          <a:p>
            <a:pPr algn="ctr"/>
            <a:r>
              <a:rPr sz="1800" b="1">
                <a:solidFill>
                  <a:srgbClr val="0D0D0D"/>
                </a:solidFill>
              </a:rPr>
              <a:t>5</a:t>
            </a:r>
          </a:p>
        </p:txBody>
      </p:sp>
      <p:sp>
        <p:nvSpPr>
          <p:cNvPr id="20" name="TextBox 19"/>
          <p:cNvSpPr txBox="1"/>
          <p:nvPr/>
        </p:nvSpPr>
        <p:spPr>
          <a:xfrm>
            <a:off x="1097280" y="5513832"/>
            <a:ext cx="10515600" cy="548640"/>
          </a:xfrm>
          <a:prstGeom prst="rect">
            <a:avLst/>
          </a:prstGeom>
          <a:noFill/>
        </p:spPr>
        <p:txBody>
          <a:bodyPr wrap="square">
            <a:spAutoFit/>
          </a:bodyPr>
          <a:lstStyle/>
          <a:p>
            <a:pPr algn="l"/>
            <a:r>
              <a:rPr sz="1700" b="0">
                <a:solidFill>
                  <a:srgbClr val="FFFFFF"/>
                </a:solidFill>
              </a:rPr>
              <a:t>Lock down tools. Add memory: project. Save. Run it tomorrow.</a:t>
            </a:r>
          </a:p>
        </p:txBody>
      </p:sp>
      <p:sp>
        <p:nvSpPr>
          <p:cNvPr id="21" name="TextBox 20"/>
          <p:cNvSpPr txBox="1"/>
          <p:nvPr/>
        </p:nvSpPr>
        <p:spPr>
          <a:xfrm>
            <a:off x="548640" y="6263640"/>
            <a:ext cx="11430000" cy="365760"/>
          </a:xfrm>
          <a:prstGeom prst="rect">
            <a:avLst/>
          </a:prstGeom>
          <a:noFill/>
        </p:spPr>
        <p:txBody>
          <a:bodyPr wrap="square">
            <a:spAutoFit/>
          </a:bodyPr>
          <a:lstStyle/>
          <a:p>
            <a:pPr algn="l"/>
            <a:r>
              <a:rPr sz="1500" b="1">
                <a:solidFill>
                  <a:srgbClr val="D47A21"/>
                </a:solidFill>
              </a:rPr>
              <a:t>The smallest agent that works beats the smartest one that doesn't.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6  -  YOUR MOVE</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800" b="1">
                <a:solidFill>
                  <a:srgbClr val="FFFFFF"/>
                </a:solidFill>
              </a:rPr>
              <a:t>The Five Things to Remember</a:t>
            </a:r>
          </a:p>
        </p:txBody>
      </p:sp>
      <p:sp>
        <p:nvSpPr>
          <p:cNvPr id="5" name="Rectangle 4"/>
          <p:cNvSpPr/>
          <p:nvPr/>
        </p:nvSpPr>
        <p:spPr>
          <a:xfrm>
            <a:off x="548640" y="210312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468880"/>
            <a:ext cx="10972800" cy="3657600"/>
          </a:xfrm>
          <a:prstGeom prst="rect">
            <a:avLst/>
          </a:prstGeom>
          <a:noFill/>
        </p:spPr>
        <p:txBody>
          <a:bodyPr wrap="square">
            <a:spAutoFit/>
          </a:bodyPr>
          <a:lstStyle/>
          <a:p>
            <a:pPr algn="l">
              <a:spcAft>
                <a:spcPts val="1000"/>
              </a:spcAft>
            </a:pPr>
            <a:r>
              <a:rPr sz="2100">
                <a:solidFill>
                  <a:srgbClr val="CCCCCC"/>
                </a:solidFill>
              </a:rPr>
              <a:t>  An agent is an LLM in a loop that uses tools to reach a goal.</a:t>
            </a:r>
          </a:p>
          <a:p>
            <a:pPr algn="l">
              <a:spcAft>
                <a:spcPts val="1000"/>
              </a:spcAft>
            </a:pPr>
            <a:r>
              <a:rPr sz="2100">
                <a:solidFill>
                  <a:srgbClr val="CCCCCC"/>
                </a:solidFill>
              </a:rPr>
              <a:t>  Four roles inside every agent: Analyst, Planner, Operator, Auditor.</a:t>
            </a:r>
          </a:p>
          <a:p>
            <a:pPr algn="l">
              <a:spcAft>
                <a:spcPts val="1000"/>
              </a:spcAft>
            </a:pPr>
            <a:r>
              <a:rPr sz="2100">
                <a:solidFill>
                  <a:srgbClr val="CCCCCC"/>
                </a:solidFill>
              </a:rPr>
              <a:t>  Use the ARR test to decide: Autonomous, Recurring, Reviewable.</a:t>
            </a:r>
          </a:p>
          <a:p>
            <a:pPr algn="l">
              <a:spcAft>
                <a:spcPts val="1000"/>
              </a:spcAft>
            </a:pPr>
            <a:r>
              <a:rPr sz="2100">
                <a:solidFill>
                  <a:srgbClr val="CCCCCC"/>
                </a:solidFill>
              </a:rPr>
              <a:t>  Run the GPS check before you build: Goal, Proof, Steps.</a:t>
            </a:r>
          </a:p>
          <a:p>
            <a:pPr algn="l">
              <a:spcAft>
                <a:spcPts val="1000"/>
              </a:spcAft>
            </a:pPr>
            <a:r>
              <a:rPr sz="2100">
                <a:solidFill>
                  <a:srgbClr val="CCCCCC"/>
                </a:solidFill>
              </a:rPr>
              <a:t>  In Claude Code, ship your first one as a subagent - a Markdown file.</a:t>
            </a:r>
          </a:p>
        </p:txBody>
      </p:sp>
      <p:sp>
        <p:nvSpPr>
          <p:cNvPr id="7" name="TextBox 6"/>
          <p:cNvSpPr txBox="1"/>
          <p:nvPr/>
        </p:nvSpPr>
        <p:spPr>
          <a:xfrm>
            <a:off x="548640" y="6126480"/>
            <a:ext cx="11430000" cy="457200"/>
          </a:xfrm>
          <a:prstGeom prst="rect">
            <a:avLst/>
          </a:prstGeom>
          <a:noFill/>
        </p:spPr>
        <p:txBody>
          <a:bodyPr wrap="square">
            <a:spAutoFit/>
          </a:bodyPr>
          <a:lstStyle/>
          <a:p>
            <a:pPr algn="l"/>
            <a:r>
              <a:rPr sz="1600" b="1">
                <a:solidFill>
                  <a:srgbClr val="D47A21"/>
                </a:solidFill>
              </a:rPr>
              <a:t>You're not behind. The field is two years old. The gap is about to get expensive - start tonight.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1430000" cy="685800"/>
          </a:xfrm>
          <a:prstGeom prst="rect">
            <a:avLst/>
          </a:prstGeom>
          <a:noFill/>
        </p:spPr>
        <p:txBody>
          <a:bodyPr wrap="square">
            <a:spAutoFit/>
          </a:bodyPr>
          <a:lstStyle/>
          <a:p>
            <a:pPr algn="l"/>
            <a:r>
              <a:rPr sz="3000" b="1">
                <a:solidFill>
                  <a:srgbClr val="FFFFFF"/>
                </a:solidFill>
              </a:rPr>
              <a:t>Glossary - Terms You'll Hear All Workshop</a:t>
            </a:r>
          </a:p>
        </p:txBody>
      </p:sp>
      <p:sp>
        <p:nvSpPr>
          <p:cNvPr id="4" name="Rectangle 3"/>
          <p:cNvSpPr/>
          <p:nvPr/>
        </p:nvSpPr>
        <p:spPr>
          <a:xfrm>
            <a:off x="548640" y="12801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44475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08760"/>
            <a:ext cx="2560320" cy="457200"/>
          </a:xfrm>
          <a:prstGeom prst="rect">
            <a:avLst/>
          </a:prstGeom>
          <a:noFill/>
        </p:spPr>
        <p:txBody>
          <a:bodyPr wrap="square">
            <a:spAutoFit/>
          </a:bodyPr>
          <a:lstStyle/>
          <a:p>
            <a:pPr algn="l"/>
            <a:r>
              <a:rPr sz="1300" b="1">
                <a:solidFill>
                  <a:srgbClr val="D47A21"/>
                </a:solidFill>
              </a:rPr>
              <a:t>Agent</a:t>
            </a:r>
          </a:p>
        </p:txBody>
      </p:sp>
      <p:sp>
        <p:nvSpPr>
          <p:cNvPr id="7" name="TextBox 6"/>
          <p:cNvSpPr txBox="1"/>
          <p:nvPr/>
        </p:nvSpPr>
        <p:spPr>
          <a:xfrm>
            <a:off x="3383280" y="1508760"/>
            <a:ext cx="8229600" cy="457200"/>
          </a:xfrm>
          <a:prstGeom prst="rect">
            <a:avLst/>
          </a:prstGeom>
          <a:noFill/>
        </p:spPr>
        <p:txBody>
          <a:bodyPr wrap="square">
            <a:spAutoFit/>
          </a:bodyPr>
          <a:lstStyle/>
          <a:p>
            <a:pPr algn="l"/>
            <a:r>
              <a:rPr sz="1300" b="0">
                <a:solidFill>
                  <a:srgbClr val="CCCCCC"/>
                </a:solidFill>
              </a:rPr>
              <a:t>A Claude instance that decides its own next step and uses tools to act.</a:t>
            </a:r>
          </a:p>
        </p:txBody>
      </p:sp>
      <p:sp>
        <p:nvSpPr>
          <p:cNvPr id="8" name="Rectangle 7"/>
          <p:cNvSpPr/>
          <p:nvPr/>
        </p:nvSpPr>
        <p:spPr>
          <a:xfrm>
            <a:off x="457200" y="203911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103120"/>
            <a:ext cx="2560320" cy="457200"/>
          </a:xfrm>
          <a:prstGeom prst="rect">
            <a:avLst/>
          </a:prstGeom>
          <a:noFill/>
        </p:spPr>
        <p:txBody>
          <a:bodyPr wrap="square">
            <a:spAutoFit/>
          </a:bodyPr>
          <a:lstStyle/>
          <a:p>
            <a:pPr algn="l"/>
            <a:r>
              <a:rPr sz="1300" b="1">
                <a:solidFill>
                  <a:srgbClr val="D47A21"/>
                </a:solidFill>
              </a:rPr>
              <a:t>Subagent</a:t>
            </a:r>
          </a:p>
        </p:txBody>
      </p:sp>
      <p:sp>
        <p:nvSpPr>
          <p:cNvPr id="10" name="TextBox 9"/>
          <p:cNvSpPr txBox="1"/>
          <p:nvPr/>
        </p:nvSpPr>
        <p:spPr>
          <a:xfrm>
            <a:off x="3383280" y="2103120"/>
            <a:ext cx="8229600" cy="457200"/>
          </a:xfrm>
          <a:prstGeom prst="rect">
            <a:avLst/>
          </a:prstGeom>
          <a:noFill/>
        </p:spPr>
        <p:txBody>
          <a:bodyPr wrap="square">
            <a:spAutoFit/>
          </a:bodyPr>
          <a:lstStyle/>
          <a:p>
            <a:pPr algn="l"/>
            <a:r>
              <a:rPr sz="1300" b="0">
                <a:solidFill>
                  <a:srgbClr val="CCCCCC"/>
                </a:solidFill>
              </a:rPr>
              <a:t>A separate Claude instance dispatched by a main agent, with its own context.</a:t>
            </a:r>
          </a:p>
        </p:txBody>
      </p:sp>
      <p:sp>
        <p:nvSpPr>
          <p:cNvPr id="11" name="Rectangle 10"/>
          <p:cNvSpPr/>
          <p:nvPr/>
        </p:nvSpPr>
        <p:spPr>
          <a:xfrm>
            <a:off x="457200" y="263347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697480"/>
            <a:ext cx="2560320" cy="457200"/>
          </a:xfrm>
          <a:prstGeom prst="rect">
            <a:avLst/>
          </a:prstGeom>
          <a:noFill/>
        </p:spPr>
        <p:txBody>
          <a:bodyPr wrap="square">
            <a:spAutoFit/>
          </a:bodyPr>
          <a:lstStyle/>
          <a:p>
            <a:pPr algn="l"/>
            <a:r>
              <a:rPr sz="1300" b="1">
                <a:solidFill>
                  <a:srgbClr val="D47A21"/>
                </a:solidFill>
              </a:rPr>
              <a:t>LLM</a:t>
            </a:r>
          </a:p>
        </p:txBody>
      </p:sp>
      <p:sp>
        <p:nvSpPr>
          <p:cNvPr id="13" name="TextBox 12"/>
          <p:cNvSpPr txBox="1"/>
          <p:nvPr/>
        </p:nvSpPr>
        <p:spPr>
          <a:xfrm>
            <a:off x="3383280" y="2697480"/>
            <a:ext cx="8229600" cy="457200"/>
          </a:xfrm>
          <a:prstGeom prst="rect">
            <a:avLst/>
          </a:prstGeom>
          <a:noFill/>
        </p:spPr>
        <p:txBody>
          <a:bodyPr wrap="square">
            <a:spAutoFit/>
          </a:bodyPr>
          <a:lstStyle/>
          <a:p>
            <a:pPr algn="l"/>
            <a:r>
              <a:rPr sz="1300" b="0">
                <a:solidFill>
                  <a:srgbClr val="CCCCCC"/>
                </a:solidFill>
              </a:rPr>
              <a:t>The language model underneath (Sonnet, Opus, Haiku) that does the reasoning.</a:t>
            </a:r>
          </a:p>
        </p:txBody>
      </p:sp>
      <p:sp>
        <p:nvSpPr>
          <p:cNvPr id="14" name="Rectangle 13"/>
          <p:cNvSpPr/>
          <p:nvPr/>
        </p:nvSpPr>
        <p:spPr>
          <a:xfrm>
            <a:off x="457200" y="322783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3291840"/>
            <a:ext cx="2560320" cy="457200"/>
          </a:xfrm>
          <a:prstGeom prst="rect">
            <a:avLst/>
          </a:prstGeom>
          <a:noFill/>
        </p:spPr>
        <p:txBody>
          <a:bodyPr wrap="square">
            <a:spAutoFit/>
          </a:bodyPr>
          <a:lstStyle/>
          <a:p>
            <a:pPr algn="l"/>
            <a:r>
              <a:rPr sz="1300" b="1">
                <a:solidFill>
                  <a:srgbClr val="D47A21"/>
                </a:solidFill>
              </a:rPr>
              <a:t>Tool use</a:t>
            </a:r>
          </a:p>
        </p:txBody>
      </p:sp>
      <p:sp>
        <p:nvSpPr>
          <p:cNvPr id="16" name="TextBox 15"/>
          <p:cNvSpPr txBox="1"/>
          <p:nvPr/>
        </p:nvSpPr>
        <p:spPr>
          <a:xfrm>
            <a:off x="3383280" y="3291840"/>
            <a:ext cx="8229600" cy="457200"/>
          </a:xfrm>
          <a:prstGeom prst="rect">
            <a:avLst/>
          </a:prstGeom>
          <a:noFill/>
        </p:spPr>
        <p:txBody>
          <a:bodyPr wrap="square">
            <a:spAutoFit/>
          </a:bodyPr>
          <a:lstStyle/>
          <a:p>
            <a:pPr algn="l"/>
            <a:r>
              <a:rPr sz="1300" b="0">
                <a:solidFill>
                  <a:srgbClr val="CCCCCC"/>
                </a:solidFill>
              </a:rPr>
              <a:t>An agent calling external functions (web search, file read, an API).</a:t>
            </a:r>
          </a:p>
        </p:txBody>
      </p:sp>
      <p:sp>
        <p:nvSpPr>
          <p:cNvPr id="17" name="Rectangle 16"/>
          <p:cNvSpPr/>
          <p:nvPr/>
        </p:nvSpPr>
        <p:spPr>
          <a:xfrm>
            <a:off x="457200" y="382219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886200"/>
            <a:ext cx="2560320" cy="457200"/>
          </a:xfrm>
          <a:prstGeom prst="rect">
            <a:avLst/>
          </a:prstGeom>
          <a:noFill/>
        </p:spPr>
        <p:txBody>
          <a:bodyPr wrap="square">
            <a:spAutoFit/>
          </a:bodyPr>
          <a:lstStyle/>
          <a:p>
            <a:pPr algn="l"/>
            <a:r>
              <a:rPr sz="1300" b="1">
                <a:solidFill>
                  <a:srgbClr val="D47A21"/>
                </a:solidFill>
              </a:rPr>
              <a:t>Orchestrator</a:t>
            </a:r>
          </a:p>
        </p:txBody>
      </p:sp>
      <p:sp>
        <p:nvSpPr>
          <p:cNvPr id="19" name="TextBox 18"/>
          <p:cNvSpPr txBox="1"/>
          <p:nvPr/>
        </p:nvSpPr>
        <p:spPr>
          <a:xfrm>
            <a:off x="3383280" y="3886200"/>
            <a:ext cx="8229600" cy="457200"/>
          </a:xfrm>
          <a:prstGeom prst="rect">
            <a:avLst/>
          </a:prstGeom>
          <a:noFill/>
        </p:spPr>
        <p:txBody>
          <a:bodyPr wrap="square">
            <a:spAutoFit/>
          </a:bodyPr>
          <a:lstStyle/>
          <a:p>
            <a:pPr algn="l"/>
            <a:r>
              <a:rPr sz="1300" b="0">
                <a:solidFill>
                  <a:srgbClr val="CCCCCC"/>
                </a:solidFill>
              </a:rPr>
              <a:t>An agent whose job is to delegate to other agents and combine results.</a:t>
            </a:r>
          </a:p>
        </p:txBody>
      </p:sp>
      <p:sp>
        <p:nvSpPr>
          <p:cNvPr id="20" name="Rectangle 19"/>
          <p:cNvSpPr/>
          <p:nvPr/>
        </p:nvSpPr>
        <p:spPr>
          <a:xfrm>
            <a:off x="457200" y="441655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4480560"/>
            <a:ext cx="2560320" cy="457200"/>
          </a:xfrm>
          <a:prstGeom prst="rect">
            <a:avLst/>
          </a:prstGeom>
          <a:noFill/>
        </p:spPr>
        <p:txBody>
          <a:bodyPr wrap="square">
            <a:spAutoFit/>
          </a:bodyPr>
          <a:lstStyle/>
          <a:p>
            <a:pPr algn="l"/>
            <a:r>
              <a:rPr sz="1300" b="1">
                <a:solidFill>
                  <a:srgbClr val="D47A21"/>
                </a:solidFill>
              </a:rPr>
              <a:t>Fan-out / fan-in</a:t>
            </a:r>
          </a:p>
        </p:txBody>
      </p:sp>
      <p:sp>
        <p:nvSpPr>
          <p:cNvPr id="22" name="TextBox 21"/>
          <p:cNvSpPr txBox="1"/>
          <p:nvPr/>
        </p:nvSpPr>
        <p:spPr>
          <a:xfrm>
            <a:off x="3383280" y="4480560"/>
            <a:ext cx="8229600" cy="457200"/>
          </a:xfrm>
          <a:prstGeom prst="rect">
            <a:avLst/>
          </a:prstGeom>
          <a:noFill/>
        </p:spPr>
        <p:txBody>
          <a:bodyPr wrap="square">
            <a:spAutoFit/>
          </a:bodyPr>
          <a:lstStyle/>
          <a:p>
            <a:pPr algn="l"/>
            <a:r>
              <a:rPr sz="1300" b="0">
                <a:solidFill>
                  <a:srgbClr val="CCCCCC"/>
                </a:solidFill>
              </a:rPr>
              <a:t>Dispatch many subagents in parallel, then merge what they return.</a:t>
            </a:r>
          </a:p>
        </p:txBody>
      </p:sp>
      <p:sp>
        <p:nvSpPr>
          <p:cNvPr id="23" name="Rectangle 22"/>
          <p:cNvSpPr/>
          <p:nvPr/>
        </p:nvSpPr>
        <p:spPr>
          <a:xfrm>
            <a:off x="457200" y="501091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074920"/>
            <a:ext cx="2560320" cy="457200"/>
          </a:xfrm>
          <a:prstGeom prst="rect">
            <a:avLst/>
          </a:prstGeom>
          <a:noFill/>
        </p:spPr>
        <p:txBody>
          <a:bodyPr wrap="square">
            <a:spAutoFit/>
          </a:bodyPr>
          <a:lstStyle/>
          <a:p>
            <a:pPr algn="l"/>
            <a:r>
              <a:rPr sz="1300" b="1">
                <a:solidFill>
                  <a:srgbClr val="D47A21"/>
                </a:solidFill>
              </a:rPr>
              <a:t>Context window</a:t>
            </a:r>
          </a:p>
        </p:txBody>
      </p:sp>
      <p:sp>
        <p:nvSpPr>
          <p:cNvPr id="25" name="TextBox 24"/>
          <p:cNvSpPr txBox="1"/>
          <p:nvPr/>
        </p:nvSpPr>
        <p:spPr>
          <a:xfrm>
            <a:off x="3383280" y="5074920"/>
            <a:ext cx="8229600" cy="457200"/>
          </a:xfrm>
          <a:prstGeom prst="rect">
            <a:avLst/>
          </a:prstGeom>
          <a:noFill/>
        </p:spPr>
        <p:txBody>
          <a:bodyPr wrap="square">
            <a:spAutoFit/>
          </a:bodyPr>
          <a:lstStyle/>
          <a:p>
            <a:pPr algn="l"/>
            <a:r>
              <a:rPr sz="1300" b="0">
                <a:solidFill>
                  <a:srgbClr val="CCCCCC"/>
                </a:solidFill>
              </a:rPr>
              <a:t>The limited memory budget each agent works with per turn.</a:t>
            </a:r>
          </a:p>
        </p:txBody>
      </p:sp>
      <p:sp>
        <p:nvSpPr>
          <p:cNvPr id="26" name="Rectangle 25"/>
          <p:cNvSpPr/>
          <p:nvPr/>
        </p:nvSpPr>
        <p:spPr>
          <a:xfrm>
            <a:off x="457200" y="560527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5669280"/>
            <a:ext cx="2560320" cy="457200"/>
          </a:xfrm>
          <a:prstGeom prst="rect">
            <a:avLst/>
          </a:prstGeom>
          <a:noFill/>
        </p:spPr>
        <p:txBody>
          <a:bodyPr wrap="square">
            <a:spAutoFit/>
          </a:bodyPr>
          <a:lstStyle/>
          <a:p>
            <a:pPr algn="l"/>
            <a:r>
              <a:rPr sz="1300" b="1">
                <a:solidFill>
                  <a:srgbClr val="D47A21"/>
                </a:solidFill>
              </a:rPr>
              <a:t>Hallucination</a:t>
            </a:r>
          </a:p>
        </p:txBody>
      </p:sp>
      <p:sp>
        <p:nvSpPr>
          <p:cNvPr id="28" name="TextBox 27"/>
          <p:cNvSpPr txBox="1"/>
          <p:nvPr/>
        </p:nvSpPr>
        <p:spPr>
          <a:xfrm>
            <a:off x="3383280" y="5669280"/>
            <a:ext cx="8229600" cy="457200"/>
          </a:xfrm>
          <a:prstGeom prst="rect">
            <a:avLst/>
          </a:prstGeom>
          <a:noFill/>
        </p:spPr>
        <p:txBody>
          <a:bodyPr wrap="square">
            <a:spAutoFit/>
          </a:bodyPr>
          <a:lstStyle/>
          <a:p>
            <a:pPr algn="l"/>
            <a:r>
              <a:rPr sz="1300" b="0">
                <a:solidFill>
                  <a:srgbClr val="CCCCCC"/>
                </a:solidFill>
              </a:rPr>
              <a:t>When an agent confidently outputs something that is not true.</a:t>
            </a:r>
          </a:p>
        </p:txBody>
      </p:sp>
      <p:sp>
        <p:nvSpPr>
          <p:cNvPr id="29" name="TextBox 28"/>
          <p:cNvSpPr txBox="1"/>
          <p:nvPr/>
        </p:nvSpPr>
        <p:spPr>
          <a:xfrm>
            <a:off x="548640" y="6263640"/>
            <a:ext cx="11430000" cy="411480"/>
          </a:xfrm>
          <a:prstGeom prst="rect">
            <a:avLst/>
          </a:prstGeom>
          <a:noFill/>
        </p:spPr>
        <p:txBody>
          <a:bodyPr wrap="square">
            <a:spAutoFit/>
          </a:bodyPr>
          <a:lstStyle/>
          <a:p>
            <a:pPr algn="l"/>
            <a:r>
              <a:rPr sz="1500" b="1">
                <a:solidFill>
                  <a:srgbClr val="D47A21"/>
                </a:solidFill>
              </a:rPr>
              <a:t>Knowing the names makes the agent traces readable.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1430000" cy="685800"/>
          </a:xfrm>
          <a:prstGeom prst="rect">
            <a:avLst/>
          </a:prstGeom>
          <a:noFill/>
        </p:spPr>
        <p:txBody>
          <a:bodyPr wrap="square">
            <a:spAutoFit/>
          </a:bodyPr>
          <a:lstStyle/>
          <a:p>
            <a:pPr algn="l"/>
            <a:r>
              <a:rPr sz="3000" b="1">
                <a:solidFill>
                  <a:srgbClr val="FFFFFF"/>
                </a:solidFill>
              </a:rPr>
              <a:t>Five Questions You'll Be Asked Back at Work</a:t>
            </a:r>
          </a:p>
        </p:txBody>
      </p:sp>
      <p:sp>
        <p:nvSpPr>
          <p:cNvPr id="4" name="Rectangle 3"/>
          <p:cNvSpPr/>
          <p:nvPr/>
        </p:nvSpPr>
        <p:spPr>
          <a:xfrm>
            <a:off x="548640" y="12801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444752"/>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554480"/>
            <a:ext cx="411480" cy="548640"/>
          </a:xfrm>
          <a:prstGeom prst="rect">
            <a:avLst/>
          </a:prstGeom>
          <a:noFill/>
        </p:spPr>
        <p:txBody>
          <a:bodyPr wrap="square">
            <a:spAutoFit/>
          </a:bodyPr>
          <a:lstStyle/>
          <a:p>
            <a:pPr algn="l"/>
            <a:r>
              <a:rPr sz="2200" b="1">
                <a:solidFill>
                  <a:srgbClr val="D47A21"/>
                </a:solidFill>
              </a:rPr>
              <a:t>1</a:t>
            </a:r>
          </a:p>
        </p:txBody>
      </p:sp>
      <p:sp>
        <p:nvSpPr>
          <p:cNvPr id="7" name="TextBox 6"/>
          <p:cNvSpPr txBox="1"/>
          <p:nvPr/>
        </p:nvSpPr>
        <p:spPr>
          <a:xfrm>
            <a:off x="1097280" y="1508760"/>
            <a:ext cx="10332720" cy="384048"/>
          </a:xfrm>
          <a:prstGeom prst="rect">
            <a:avLst/>
          </a:prstGeom>
          <a:noFill/>
        </p:spPr>
        <p:txBody>
          <a:bodyPr wrap="square">
            <a:spAutoFit/>
          </a:bodyPr>
          <a:lstStyle/>
          <a:p>
            <a:pPr algn="l"/>
            <a:r>
              <a:rPr sz="1300" b="1">
                <a:solidFill>
                  <a:srgbClr val="FFFFFF"/>
                </a:solidFill>
              </a:rPr>
              <a:t>Skill vs Subagent - what is the practical difference?</a:t>
            </a:r>
          </a:p>
        </p:txBody>
      </p:sp>
      <p:sp>
        <p:nvSpPr>
          <p:cNvPr id="8" name="TextBox 7"/>
          <p:cNvSpPr txBox="1"/>
          <p:nvPr/>
        </p:nvSpPr>
        <p:spPr>
          <a:xfrm>
            <a:off x="1097280" y="1874520"/>
            <a:ext cx="10332720" cy="402336"/>
          </a:xfrm>
          <a:prstGeom prst="rect">
            <a:avLst/>
          </a:prstGeom>
          <a:noFill/>
        </p:spPr>
        <p:txBody>
          <a:bodyPr wrap="square">
            <a:spAutoFit/>
          </a:bodyPr>
          <a:lstStyle/>
          <a:p>
            <a:pPr algn="l"/>
            <a:r>
              <a:rPr sz="1200" b="0">
                <a:solidFill>
                  <a:srgbClr val="CCCCCC"/>
                </a:solidFill>
              </a:rPr>
              <a:t>Per docs: a Skill is an instruction file. A Subagent is a specialized assistant that runs in its own context window with its own system prompt, tools, and permissions. Different mechanics.</a:t>
            </a:r>
          </a:p>
        </p:txBody>
      </p:sp>
      <p:sp>
        <p:nvSpPr>
          <p:cNvPr id="9" name="Rectangle 8"/>
          <p:cNvSpPr/>
          <p:nvPr/>
        </p:nvSpPr>
        <p:spPr>
          <a:xfrm>
            <a:off x="457200" y="2340864"/>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411480" cy="548640"/>
          </a:xfrm>
          <a:prstGeom prst="rect">
            <a:avLst/>
          </a:prstGeom>
          <a:noFill/>
        </p:spPr>
        <p:txBody>
          <a:bodyPr wrap="square">
            <a:spAutoFit/>
          </a:bodyPr>
          <a:lstStyle/>
          <a:p>
            <a:pPr algn="l"/>
            <a:r>
              <a:rPr sz="2200" b="1">
                <a:solidFill>
                  <a:srgbClr val="D47A21"/>
                </a:solidFill>
              </a:rPr>
              <a:t>2</a:t>
            </a:r>
          </a:p>
        </p:txBody>
      </p:sp>
      <p:sp>
        <p:nvSpPr>
          <p:cNvPr id="11" name="TextBox 10"/>
          <p:cNvSpPr txBox="1"/>
          <p:nvPr/>
        </p:nvSpPr>
        <p:spPr>
          <a:xfrm>
            <a:off x="1097280" y="2404872"/>
            <a:ext cx="10332720" cy="384048"/>
          </a:xfrm>
          <a:prstGeom prst="rect">
            <a:avLst/>
          </a:prstGeom>
          <a:noFill/>
        </p:spPr>
        <p:txBody>
          <a:bodyPr wrap="square">
            <a:spAutoFit/>
          </a:bodyPr>
          <a:lstStyle/>
          <a:p>
            <a:pPr algn="l"/>
            <a:r>
              <a:rPr sz="1300" b="1">
                <a:solidFill>
                  <a:srgbClr val="FFFFFF"/>
                </a:solidFill>
              </a:rPr>
              <a:t>Do agents still hallucinate?</a:t>
            </a:r>
          </a:p>
        </p:txBody>
      </p:sp>
      <p:sp>
        <p:nvSpPr>
          <p:cNvPr id="12" name="TextBox 11"/>
          <p:cNvSpPr txBox="1"/>
          <p:nvPr/>
        </p:nvSpPr>
        <p:spPr>
          <a:xfrm>
            <a:off x="1097280" y="2770632"/>
            <a:ext cx="10332720" cy="402336"/>
          </a:xfrm>
          <a:prstGeom prst="rect">
            <a:avLst/>
          </a:prstGeom>
          <a:noFill/>
        </p:spPr>
        <p:txBody>
          <a:bodyPr wrap="square">
            <a:spAutoFit/>
          </a:bodyPr>
          <a:lstStyle/>
          <a:p>
            <a:pPr algn="l"/>
            <a:r>
              <a:rPr sz="1200" b="0">
                <a:solidFill>
                  <a:srgbClr val="CCCCCC"/>
                </a:solidFill>
              </a:rPr>
              <a:t>Yes - any LLM-based agent can. Docs recommend isolating side work in Subagents (separate context) and reviewing diffs before accepting. Plan mode inspects the plan before any edit lands.</a:t>
            </a:r>
          </a:p>
        </p:txBody>
      </p:sp>
      <p:sp>
        <p:nvSpPr>
          <p:cNvPr id="13" name="Rectangle 12"/>
          <p:cNvSpPr/>
          <p:nvPr/>
        </p:nvSpPr>
        <p:spPr>
          <a:xfrm>
            <a:off x="457200" y="3236976"/>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3346704"/>
            <a:ext cx="411480" cy="548640"/>
          </a:xfrm>
          <a:prstGeom prst="rect">
            <a:avLst/>
          </a:prstGeom>
          <a:noFill/>
        </p:spPr>
        <p:txBody>
          <a:bodyPr wrap="square">
            <a:spAutoFit/>
          </a:bodyPr>
          <a:lstStyle/>
          <a:p>
            <a:pPr algn="l"/>
            <a:r>
              <a:rPr sz="2200" b="1">
                <a:solidFill>
                  <a:srgbClr val="D47A21"/>
                </a:solidFill>
              </a:rPr>
              <a:t>3</a:t>
            </a:r>
          </a:p>
        </p:txBody>
      </p:sp>
      <p:sp>
        <p:nvSpPr>
          <p:cNvPr id="15" name="TextBox 14"/>
          <p:cNvSpPr txBox="1"/>
          <p:nvPr/>
        </p:nvSpPr>
        <p:spPr>
          <a:xfrm>
            <a:off x="1097280" y="3300984"/>
            <a:ext cx="10332720" cy="384048"/>
          </a:xfrm>
          <a:prstGeom prst="rect">
            <a:avLst/>
          </a:prstGeom>
          <a:noFill/>
        </p:spPr>
        <p:txBody>
          <a:bodyPr wrap="square">
            <a:spAutoFit/>
          </a:bodyPr>
          <a:lstStyle/>
          <a:p>
            <a:pPr algn="l"/>
            <a:r>
              <a:rPr sz="1300" b="1">
                <a:solidFill>
                  <a:srgbClr val="FFFFFF"/>
                </a:solidFill>
              </a:rPr>
              <a:t>How do I keep agent costs from blowing up?</a:t>
            </a:r>
          </a:p>
        </p:txBody>
      </p:sp>
      <p:sp>
        <p:nvSpPr>
          <p:cNvPr id="16" name="TextBox 15"/>
          <p:cNvSpPr txBox="1"/>
          <p:nvPr/>
        </p:nvSpPr>
        <p:spPr>
          <a:xfrm>
            <a:off x="1097280" y="3666744"/>
            <a:ext cx="10332720" cy="402336"/>
          </a:xfrm>
          <a:prstGeom prst="rect">
            <a:avLst/>
          </a:prstGeom>
          <a:noFill/>
        </p:spPr>
        <p:txBody>
          <a:bodyPr wrap="square">
            <a:spAutoFit/>
          </a:bodyPr>
          <a:lstStyle/>
          <a:p>
            <a:pPr algn="l"/>
            <a:r>
              <a:rPr sz="1200" b="0">
                <a:solidFill>
                  <a:srgbClr val="CCCCCC"/>
                </a:solidFill>
              </a:rPr>
              <a:t>Docs: route routine tasks to faster, cheaper models like Haiku via Subagents. Reserve Opus for hard reasoning. Subagents preserve main context, avoiding repeat setup. Watch the token counter.</a:t>
            </a:r>
          </a:p>
        </p:txBody>
      </p:sp>
      <p:sp>
        <p:nvSpPr>
          <p:cNvPr id="17" name="Rectangle 16"/>
          <p:cNvSpPr/>
          <p:nvPr/>
        </p:nvSpPr>
        <p:spPr>
          <a:xfrm>
            <a:off x="457200" y="4133088"/>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4242816"/>
            <a:ext cx="411480" cy="548640"/>
          </a:xfrm>
          <a:prstGeom prst="rect">
            <a:avLst/>
          </a:prstGeom>
          <a:noFill/>
        </p:spPr>
        <p:txBody>
          <a:bodyPr wrap="square">
            <a:spAutoFit/>
          </a:bodyPr>
          <a:lstStyle/>
          <a:p>
            <a:pPr algn="l"/>
            <a:r>
              <a:rPr sz="2200" b="1">
                <a:solidFill>
                  <a:srgbClr val="D47A21"/>
                </a:solidFill>
              </a:rPr>
              <a:t>4</a:t>
            </a:r>
          </a:p>
        </p:txBody>
      </p:sp>
      <p:sp>
        <p:nvSpPr>
          <p:cNvPr id="19" name="TextBox 18"/>
          <p:cNvSpPr txBox="1"/>
          <p:nvPr/>
        </p:nvSpPr>
        <p:spPr>
          <a:xfrm>
            <a:off x="1097280" y="4197096"/>
            <a:ext cx="10332720" cy="384048"/>
          </a:xfrm>
          <a:prstGeom prst="rect">
            <a:avLst/>
          </a:prstGeom>
          <a:noFill/>
        </p:spPr>
        <p:txBody>
          <a:bodyPr wrap="square">
            <a:spAutoFit/>
          </a:bodyPr>
          <a:lstStyle/>
          <a:p>
            <a:pPr algn="l"/>
            <a:r>
              <a:rPr sz="1300" b="1">
                <a:solidFill>
                  <a:srgbClr val="FFFFFF"/>
                </a:solidFill>
              </a:rPr>
              <a:t>One big agent or many small subagents in parallel?</a:t>
            </a:r>
          </a:p>
        </p:txBody>
      </p:sp>
      <p:sp>
        <p:nvSpPr>
          <p:cNvPr id="20" name="TextBox 19"/>
          <p:cNvSpPr txBox="1"/>
          <p:nvPr/>
        </p:nvSpPr>
        <p:spPr>
          <a:xfrm>
            <a:off x="1097280" y="4562856"/>
            <a:ext cx="10332720" cy="402336"/>
          </a:xfrm>
          <a:prstGeom prst="rect">
            <a:avLst/>
          </a:prstGeom>
          <a:noFill/>
        </p:spPr>
        <p:txBody>
          <a:bodyPr wrap="square">
            <a:spAutoFit/>
          </a:bodyPr>
          <a:lstStyle/>
          <a:p>
            <a:pPr algn="l"/>
            <a:r>
              <a:rPr sz="1200" b="0">
                <a:solidFill>
                  <a:srgbClr val="CCCCCC"/>
                </a:solidFill>
              </a:rPr>
              <a:t>One main agent for sequential steps that depend on each other. Delegate side work to Subagents when it would otherwise flood the main context with file reads, logs, or search output.</a:t>
            </a:r>
          </a:p>
        </p:txBody>
      </p:sp>
      <p:sp>
        <p:nvSpPr>
          <p:cNvPr id="21" name="Rectangle 20"/>
          <p:cNvSpPr/>
          <p:nvPr/>
        </p:nvSpPr>
        <p:spPr>
          <a:xfrm>
            <a:off x="457200" y="5029200"/>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5138928"/>
            <a:ext cx="411480" cy="548640"/>
          </a:xfrm>
          <a:prstGeom prst="rect">
            <a:avLst/>
          </a:prstGeom>
          <a:noFill/>
        </p:spPr>
        <p:txBody>
          <a:bodyPr wrap="square">
            <a:spAutoFit/>
          </a:bodyPr>
          <a:lstStyle/>
          <a:p>
            <a:pPr algn="l"/>
            <a:r>
              <a:rPr sz="2200" b="1">
                <a:solidFill>
                  <a:srgbClr val="D47A21"/>
                </a:solidFill>
              </a:rPr>
              <a:t>5</a:t>
            </a:r>
          </a:p>
        </p:txBody>
      </p:sp>
      <p:sp>
        <p:nvSpPr>
          <p:cNvPr id="23" name="TextBox 22"/>
          <p:cNvSpPr txBox="1"/>
          <p:nvPr/>
        </p:nvSpPr>
        <p:spPr>
          <a:xfrm>
            <a:off x="1097280" y="5093208"/>
            <a:ext cx="10332720" cy="384048"/>
          </a:xfrm>
          <a:prstGeom prst="rect">
            <a:avLst/>
          </a:prstGeom>
          <a:noFill/>
        </p:spPr>
        <p:txBody>
          <a:bodyPr wrap="square">
            <a:spAutoFit/>
          </a:bodyPr>
          <a:lstStyle/>
          <a:p>
            <a:pPr algn="l"/>
            <a:r>
              <a:rPr sz="1300" b="1">
                <a:solidFill>
                  <a:srgbClr val="FFFFFF"/>
                </a:solidFill>
              </a:rPr>
              <a:t>Can a Claude-built agent run in production?</a:t>
            </a:r>
          </a:p>
        </p:txBody>
      </p:sp>
      <p:sp>
        <p:nvSpPr>
          <p:cNvPr id="24" name="TextBox 23"/>
          <p:cNvSpPr txBox="1"/>
          <p:nvPr/>
        </p:nvSpPr>
        <p:spPr>
          <a:xfrm>
            <a:off x="1097280" y="5458968"/>
            <a:ext cx="10332720" cy="402336"/>
          </a:xfrm>
          <a:prstGeom prst="rect">
            <a:avLst/>
          </a:prstGeom>
          <a:noFill/>
        </p:spPr>
        <p:txBody>
          <a:bodyPr wrap="square">
            <a:spAutoFit/>
          </a:bodyPr>
          <a:lstStyle/>
          <a:p>
            <a:pPr algn="l"/>
            <a:r>
              <a:rPr sz="1200" b="0">
                <a:solidFill>
                  <a:srgbClr val="CCCCCC"/>
                </a:solidFill>
              </a:rPr>
              <a:t>Production use needs monitoring, retries, rate-limit handling, and a budget cap. For internal tools and overnight batch jobs, agents are stable today. Plan and review diffs first.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0"/>
            <a:ext cx="10972800" cy="2011680"/>
          </a:xfrm>
          <a:prstGeom prst="rect">
            <a:avLst/>
          </a:prstGeom>
          <a:noFill/>
        </p:spPr>
        <p:txBody>
          <a:bodyPr wrap="square">
            <a:spAutoFit/>
          </a:bodyPr>
          <a:lstStyle/>
          <a:p>
            <a:pPr algn="l"/>
            <a:r>
              <a:rPr sz="8000" b="1">
                <a:solidFill>
                  <a:srgbClr val="FFFFFF"/>
                </a:solidFill>
              </a:rPr>
              <a:t>Questions?</a:t>
            </a:r>
          </a:p>
        </p:txBody>
      </p:sp>
      <p:sp>
        <p:nvSpPr>
          <p:cNvPr id="4" name="Rectangle 3"/>
          <p:cNvSpPr/>
          <p:nvPr/>
        </p:nvSpPr>
        <p:spPr>
          <a:xfrm>
            <a:off x="548640" y="35661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3840480"/>
            <a:ext cx="10972800" cy="594360"/>
          </a:xfrm>
          <a:prstGeom prst="rect">
            <a:avLst/>
          </a:prstGeom>
          <a:noFill/>
        </p:spPr>
        <p:txBody>
          <a:bodyPr wrap="square">
            <a:spAutoFit/>
          </a:bodyPr>
          <a:lstStyle/>
          <a:p>
            <a:pPr algn="l"/>
            <a:r>
              <a:rPr sz="2200" b="0">
                <a:solidFill>
                  <a:srgbClr val="D47A21"/>
                </a:solidFill>
              </a:rPr>
              <a:t>Aman Parmar  -  Senior Product Manager</a:t>
            </a:r>
          </a:p>
        </p:txBody>
      </p:sp>
      <p:sp>
        <p:nvSpPr>
          <p:cNvPr id="6" name="TextBox 5"/>
          <p:cNvSpPr txBox="1"/>
          <p:nvPr/>
        </p:nvSpPr>
        <p:spPr>
          <a:xfrm>
            <a:off x="548640" y="4572000"/>
            <a:ext cx="10972800" cy="1097280"/>
          </a:xfrm>
          <a:prstGeom prst="rect">
            <a:avLst/>
          </a:prstGeom>
          <a:noFill/>
        </p:spPr>
        <p:txBody>
          <a:bodyPr wrap="square">
            <a:spAutoFit/>
          </a:bodyPr>
          <a:lstStyle/>
          <a:p>
            <a:pPr algn="l"/>
            <a:r>
              <a:rPr sz="1500" b="0">
                <a:solidFill>
                  <a:srgbClr val="CCCCCC"/>
                </a:solidFill>
              </a:rPr>
              <a:t>Substack:  https://amanparmar3.substack.com/
LinkedIn:  https://www.linkedin.com/in/amanmparmar
GitHub:    https://github.com/qa-aman</a:t>
            </a:r>
          </a:p>
        </p:txBody>
      </p:sp>
      <p:sp>
        <p:nvSpPr>
          <p:cNvPr id="7" name="TextBox 6"/>
          <p:cNvSpPr txBox="1"/>
          <p:nvPr/>
        </p:nvSpPr>
        <p:spPr>
          <a:xfrm>
            <a:off x="548640" y="5806440"/>
            <a:ext cx="11430000" cy="411480"/>
          </a:xfrm>
          <a:prstGeom prst="rect">
            <a:avLst/>
          </a:prstGeom>
          <a:noFill/>
        </p:spPr>
        <p:txBody>
          <a:bodyPr wrap="square">
            <a:spAutoFit/>
          </a:bodyPr>
          <a:lstStyle/>
          <a:p>
            <a:pPr algn="l"/>
            <a:r>
              <a:rPr sz="1200" b="0">
                <a:solidFill>
                  <a:srgbClr val="888888"/>
                </a:solidFill>
              </a:rPr>
              <a:t>Workshop repo:  github.com/qa-aman/next-leap-claude-code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3811</Words>
  <Application>Microsoft Macintosh PowerPoint</Application>
  <PresentationFormat>Custom</PresentationFormat>
  <Paragraphs>442</Paragraphs>
  <Slides>23</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Aman Parmar</cp:lastModifiedBy>
  <cp:revision>2</cp:revision>
  <dcterms:created xsi:type="dcterms:W3CDTF">2013-01-27T09:14:16Z</dcterms:created>
  <dcterms:modified xsi:type="dcterms:W3CDTF">2026-05-17T04:02:58Z</dcterms:modified>
  <cp:category/>
</cp:coreProperties>
</file>