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88888"/>
                </a:solidFill>
              </a:rPr>
              <a:t>SERVICE DESK  ·  MONTHLY CATEGORY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</a:rPr>
              <a:t>Service desk ticket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429000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CCCCC"/>
                </a:solidFill>
              </a:rPr>
              <a:t>April to June 2026   ·   522 tickets   ·   6 categories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D47A21"/>
                </a:solidFill>
              </a:rPr>
              <a:t>For decision: automate Password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The month in five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Apr 2026 to Jun 2026. Every figure computed from the ticket export.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TICKETS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522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165 → 172 → 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61488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JUN 2026 VS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+7.6%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+13 tickets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SLA MET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87.0%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66 breached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87184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6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AGENT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1,420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1776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per month, resolution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0032" y="1920240"/>
            <a:ext cx="2093976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64624" y="2084831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REOPENED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4624" y="2450592"/>
            <a:ext cx="1764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</a:rPr>
              <a:t>6.3%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3054096"/>
            <a:ext cx="1764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came back after 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7639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WHAT MOVED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79392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CCCCC"/>
                </a:solidFill>
              </a:rPr>
              <a:t>Access &amp; Identity rose 20 tickets from Apr 2026 to Jun 2026, and is now 33.0% of everything the desk receives.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CCCCC"/>
                </a:solidFill>
              </a:rPr>
              <a:t>The rest of the desk is flat or down, so this is not a general increase in volume. It is concentrated in one place.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3 months gives 2 comparisons. Read the direction, not a trend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Where the tickets came from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Sorted by volume. The last column is first month to last month.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Apr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40452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0424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Jun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0396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0368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0340" y="1874519"/>
            <a:ext cx="12999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67127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0370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Access &amp; Identity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0452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0424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0396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0368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33.0%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40340" y="220370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+39%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58775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Software &amp; Applications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0452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0424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0396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0368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17.4%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40340" y="258775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+32%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35223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1799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0452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0424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0396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40368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16.7%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40340" y="2971799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355847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Email &amp; Collaboration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0452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0424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40396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0368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14.6%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40340" y="3355847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-11%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19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739895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Network &amp; Connectivity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40452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0424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40396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0368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11.9%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40340" y="3739895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-35%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123943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Security &amp; Compliance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40452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0424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40396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40368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6.5%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0340" y="4123943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+43%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71415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50799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0480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165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40452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172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0424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185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40396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522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40368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40340" y="4507991"/>
            <a:ext cx="12999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</a:rPr>
              <a:t>+12%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The decision: what to automate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A subcategory reaches the shortlist only by clearing all three checks: at least 12 tickets in Jun 2026, resolution spread under 3.0h, and under 25.0% P1 or P2.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Subcategory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7528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Spread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P1+P2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4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Hrs/month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2148840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41448"/>
            <a:ext cx="11265408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7802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0.5h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0256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10.0%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2984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0.72h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27.2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247802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44BB44"/>
                </a:solidFill>
              </a:rPr>
              <a:t>+75%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NEAR MISS  ·  TWO OF THREE CHECKS, so these are next cycle's candidates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9242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2984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392424"/>
            <a:ext cx="1252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85032"/>
            <a:ext cx="11265408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2160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</a:rPr>
              <a:t>Peripherals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19.37h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4.2%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72984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7.04h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78.5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78440" y="372160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fails spread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10565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</a:rPr>
              <a:t>Account Provisioning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67528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8.82h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0256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17.9%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72984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6.62h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69.1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4105656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fails spread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453128"/>
            <a:ext cx="11265408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48970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</a:rPr>
              <a:t>Office Productivity Suite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67528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9.06h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0256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18.2%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72984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2.65h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46.2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4489704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CCCCC"/>
                </a:solidFill>
              </a:rPr>
              <a:t>fails spread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Why Password is the one to act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Access &amp; Identity · handled by IAM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110 tickets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21.1% of everything the desk received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TREND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296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28 → 33 → 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+75% from Apr 2026 to Jun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SPREAD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0.5h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P90 minus P10. The fix is the same nearly every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2832" y="1920240"/>
            <a:ext cx="2660904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2066543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ALREADY SELF-SERVE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23957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</a:rPr>
              <a:t>43.6%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7424" y="2962656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arrive through the portal, so the front door exists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WHY THE SPREAD IS THE 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18795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A spread of 0.5 hours means almost every one of these tickets is resolved the same way, in about the same time.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That is what makes a process scriptable. A subcategory with the same volume but a 40 hour spread needs a different judgement each time and would not automate.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49240"/>
            <a:ext cx="11091672" cy="86868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Gives back at least 27.2 agent-hours a month. That is measured resolution time only, so it excludes triage, queue waiting and context switching.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Treat it as the floor. The cost to build it has to come from engineering before anyone decides.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Volume and effort are different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The busiest category is rarely the most expensive one. This is 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8541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37 resolved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011680"/>
            <a:ext cx="5852160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93808" y="19659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264.2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ERP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5234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23 resolved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2578608"/>
            <a:ext cx="3765583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7231" y="25328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170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Licensing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92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13 resolved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0" y="3145536"/>
            <a:ext cx="3659261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0909" y="30998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165.2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48456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Peripherals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23 resolved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3712464"/>
            <a:ext cx="1738813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80461" y="36667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78.5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15384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CCCCCC"/>
                </a:solidFill>
              </a:rPr>
              <a:t>WiFi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5312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19 resolved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4279392"/>
            <a:ext cx="1672362" cy="201168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4010" y="42336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75.5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82312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88888"/>
                </a:solidFill>
              </a:rPr>
              <a:t>Audit and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00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88888"/>
                </a:solidFill>
              </a:rPr>
              <a:t>6 resolved · small sample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846320"/>
            <a:ext cx="1628061" cy="201168"/>
          </a:xfrm>
          <a:prstGeom prst="rect">
            <a:avLst/>
          </a:prstGeom>
          <a:solidFill>
            <a:srgbClr val="7A4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709" y="48006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88888"/>
                </a:solidFill>
              </a:rPr>
              <a:t>73.5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Faded rows rest on fewer than 10 resolved tickets. One slow ticket moves those medians a long way, so they are shown but should not carry a staffing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Where service levels are slipping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Subcategories with at least 10 resolved tickets, worst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Subcategory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7451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8745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SLA 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745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Breached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87451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7451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# Reopened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1874519"/>
            <a:ext cx="1764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Handled 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67127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0370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Laptop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0370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Failing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20370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48.6%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0370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19 of 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20370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18.61h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0370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10.8%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203703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Desktop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58775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Licensing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58775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Failing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58775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53.8%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58775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 of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258775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34.35h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58775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587751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Application 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35223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179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WiFi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2971799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Failing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297179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68.4%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97179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 of 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97179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8.6h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2971799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5.3%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2971799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Network Operations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35584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ERP 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355847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5555"/>
                </a:solidFill>
              </a:rPr>
              <a:t>Failing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3355847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69.6%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3355847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 of 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3355847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8.07h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355847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3355847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Application Support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19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739895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Peripherals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3739895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Slipping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373989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87.0%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3739895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3 of 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739895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7.04h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739895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0.0%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739895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Desktop Support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12394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Browser and Plugins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412394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Slipping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412394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90.0%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412394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 of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20" y="4123943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2.91h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4123943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0.0%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4123943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Application Support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4471415"/>
            <a:ext cx="11274552" cy="384048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45079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</a:rPr>
              <a:t>Document Collaboration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91840" y="4507991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Slipping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450799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92.3%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0" y="450799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1 of 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450799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9.25h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4507991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0.0%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75520" y="4507991"/>
            <a:ext cx="1764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CCCCC"/>
                </a:solidFill>
              </a:rPr>
              <a:t>Messaging Support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A long median is not automatically a performance problem. Where the work waits on a supplier or an approval, the SLA target may be measuring the wrong thing, and the team that owns that process will know.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How the categories were assigned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35024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88888"/>
                </a:solidFill>
              </a:rPr>
              <a:t>Every number in this deck depends on this step, so it is measured rather than assumed.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37943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Tickets arrive as free text with no category. 522 of them this cycle.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32887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6311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Descriptions are normalised and deduplicated first, which collapsed them to 126 unique cases and cut the classification work by 75.9%.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91255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7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Claude reads the description and assigns all three levels, with a confidence and a one-line reason a manager can agree or disagree with.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9623"/>
            <a:ext cx="310896" cy="310896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D0D0D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13047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CCCCC"/>
                </a:solidFill>
              </a:rPr>
              <a:t>Nothing is forced. 0 tickets matched no bucket, and 122 are flagged for a human to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53711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D47A21"/>
                </a:solidFill>
              </a:rPr>
              <a:t>MEASURED AGAINST A HELD-BACK ANSWER KEY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73751"/>
            <a:ext cx="2377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496519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99.4%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4041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40" y="4873751"/>
            <a:ext cx="2377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27832" y="496519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99.4%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27832" y="54041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Subcategory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873751"/>
            <a:ext cx="2377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2432" y="4965191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</a:rPr>
              <a:t>98.1%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42432" y="5404103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88888"/>
                </a:solidFill>
              </a:rPr>
              <a:t>Issue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73751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88888"/>
                </a:solidFill>
              </a:rPr>
              <a:t>This is a measurement on these tickets, not a forecast. If the answer key came from the same taxonomy the classifier was scored against, the number runs high. The number to trust on live data comes from hand-labelling a few hundred real tickets and rerunning the same check.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4864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</a:rPr>
              <a:t>What we are asking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47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099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8424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Approve a change request to automate 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13432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110 tickets, 0.5h spread, gives back at least 27.2 agent-hours a month. Engineering to size the build.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07208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9169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191256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Laptop is meeting SLA on 48.6% of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20440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Median 18.61h against the target. A process question for Desktop Support, not a capacity question.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14216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1239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398264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Why did Access &amp; Identity rise 20 tickets?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727448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A policy change, a migration or a joiner batch would each explain it, and the answer changes what we do next.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21224"/>
            <a:ext cx="11091672" cy="1078992"/>
          </a:xfrm>
          <a:prstGeom prst="rect">
            <a:avLst/>
          </a:prstGeom>
          <a:solidFill>
            <a:srgbClr val="1E1E1E"/>
          </a:solidFill>
          <a:ln w="12700">
            <a:solidFill>
              <a:srgbClr val="D47A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53309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D47A21"/>
                </a:solidFill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605272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Extend the history and confirm the categoriser on real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934456"/>
            <a:ext cx="10607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88888"/>
                </a:solidFill>
              </a:rPr>
              <a:t>3 months gives 2 comparisons. Six months makes the trend real, and a hand-labelled sample turns the accuracy figure into a fact.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88888"/>
                </a:solidFill>
              </a:rPr>
              <a:t>Source: categorized ticket export. Full detail in the interactive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